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90" r:id="rId4"/>
    <p:sldId id="299" r:id="rId5"/>
    <p:sldId id="300" r:id="rId6"/>
    <p:sldId id="310" r:id="rId7"/>
    <p:sldId id="318" r:id="rId8"/>
    <p:sldId id="319" r:id="rId9"/>
    <p:sldId id="316" r:id="rId10"/>
    <p:sldId id="308" r:id="rId11"/>
    <p:sldId id="301" r:id="rId12"/>
    <p:sldId id="302" r:id="rId13"/>
    <p:sldId id="303" r:id="rId14"/>
    <p:sldId id="309" r:id="rId15"/>
    <p:sldId id="306" r:id="rId16"/>
    <p:sldId id="304" r:id="rId17"/>
    <p:sldId id="305" r:id="rId18"/>
    <p:sldId id="31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100" d="100"/>
          <a:sy n="100" d="100"/>
        </p:scale>
        <p:origin x="90"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E6DC09-33C1-5333-C693-07AB1C362EB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057E5106-E7CE-A275-616A-8B9C6EAEB9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C230D62C-EC5C-96F7-6035-485CF5EDB30A}"/>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5" name="Espace réservé du pied de page 4">
            <a:extLst>
              <a:ext uri="{FF2B5EF4-FFF2-40B4-BE49-F238E27FC236}">
                <a16:creationId xmlns:a16="http://schemas.microsoft.com/office/drawing/2014/main" id="{4887BE05-8622-7C8B-7D87-03397107A8F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5DCA19B5-8511-996B-153B-B39F5A1910A0}"/>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3609411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8953B5-D01B-91BD-8DCA-51F6C5A870EA}"/>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42F46CE2-66E1-90FC-D503-B75D89D78E4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220F4F41-915E-A723-9DAF-2DA6A289BA1A}"/>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5" name="Espace réservé du pied de page 4">
            <a:extLst>
              <a:ext uri="{FF2B5EF4-FFF2-40B4-BE49-F238E27FC236}">
                <a16:creationId xmlns:a16="http://schemas.microsoft.com/office/drawing/2014/main" id="{A9854875-85B5-6C7C-8C8B-86430A08AF8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55A5497C-6E31-0CDA-1426-E17939DCF71C}"/>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304100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356719-CD7D-D2A6-1316-101CA234C98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B4AE8E9C-016E-D486-BD50-570F5BE695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D0594CC-1534-6805-7991-E5E9FF6BE70A}"/>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5" name="Espace réservé du pied de page 4">
            <a:extLst>
              <a:ext uri="{FF2B5EF4-FFF2-40B4-BE49-F238E27FC236}">
                <a16:creationId xmlns:a16="http://schemas.microsoft.com/office/drawing/2014/main" id="{227AF697-FA3B-AC4E-1706-D80CDA4D016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4F29AF39-8017-0287-A3B1-F440E85051F7}"/>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408036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7F932C-4152-A4D9-613E-B04B5078D434}"/>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A199C48-BC38-5817-7AF7-36EB683C49A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074B4E3E-8F57-751C-8257-30BB7A85692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FD1E2181-8137-0D97-59AA-96B277A78114}"/>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6" name="Espace réservé du pied de page 5">
            <a:extLst>
              <a:ext uri="{FF2B5EF4-FFF2-40B4-BE49-F238E27FC236}">
                <a16:creationId xmlns:a16="http://schemas.microsoft.com/office/drawing/2014/main" id="{41E44F4A-F048-292B-70C6-4C3C8CEE943C}"/>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205EEAF3-D959-DF7A-246E-5902F31F5C54}"/>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369249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C917F-7A4F-E387-99DC-E86CAC8C9294}"/>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883161B-1E08-207F-3FB4-DDAE416B91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F97774B-917E-38E3-7001-DAA1AAACB22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09C03A33-1BA2-C023-AD99-A4F82AAA07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8B14BF5-1CC7-A32D-113D-0A6F17C300C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3B19A7D6-E5B6-3D83-C75C-C23F2E0F29EB}"/>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8" name="Espace réservé du pied de page 7">
            <a:extLst>
              <a:ext uri="{FF2B5EF4-FFF2-40B4-BE49-F238E27FC236}">
                <a16:creationId xmlns:a16="http://schemas.microsoft.com/office/drawing/2014/main" id="{AEBBCE9B-C1AA-32C0-4638-9ADF414B47A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5B4A7C35-3052-9022-ADB5-19D34D639ACC}"/>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1943722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34E42C-844E-57E4-40FF-5F2B61AE46FB}"/>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F1B26E55-9173-0F45-BEDF-B347583DA927}"/>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4" name="Espace réservé du pied de page 3">
            <a:extLst>
              <a:ext uri="{FF2B5EF4-FFF2-40B4-BE49-F238E27FC236}">
                <a16:creationId xmlns:a16="http://schemas.microsoft.com/office/drawing/2014/main" id="{E1CA652F-A3EF-A746-244C-56905BAE9DE2}"/>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6C6FA159-56F4-BD32-6750-A85E6FE6E9A7}"/>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868416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8861541-657E-7670-B15D-99F14E150CC7}"/>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3" name="Espace réservé du pied de page 2">
            <a:extLst>
              <a:ext uri="{FF2B5EF4-FFF2-40B4-BE49-F238E27FC236}">
                <a16:creationId xmlns:a16="http://schemas.microsoft.com/office/drawing/2014/main" id="{A030A0AE-2C28-4106-C104-3354B14D1A1E}"/>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9DDD6C96-5C8D-DF8F-9422-A46876BBFE59}"/>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354299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211932-939E-6EEB-1DCE-1BF0AF19748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7827296-567A-D056-EE6A-55B5AA0055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D4EB06E0-DD30-39E5-1FDF-7AD7FCC79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0B0B259-B0C3-35E6-F232-6F25E10E43E3}"/>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6" name="Espace réservé du pied de page 5">
            <a:extLst>
              <a:ext uri="{FF2B5EF4-FFF2-40B4-BE49-F238E27FC236}">
                <a16:creationId xmlns:a16="http://schemas.microsoft.com/office/drawing/2014/main" id="{22523865-6F71-E710-0CBA-6F5EA3212022}"/>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D7811BF2-A25B-C154-619B-409BEE3A8731}"/>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534563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A83AC4-3C5F-10EB-442A-80F85724109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61F9A89E-8E3A-7110-FA13-9FFD9780C2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2056EC25-71F9-87B6-E3DB-206CC43661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6BD58E5-F680-7940-483B-268AFA984CA6}"/>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6" name="Espace réservé du pied de page 5">
            <a:extLst>
              <a:ext uri="{FF2B5EF4-FFF2-40B4-BE49-F238E27FC236}">
                <a16:creationId xmlns:a16="http://schemas.microsoft.com/office/drawing/2014/main" id="{3F17E04D-F8AD-51A4-E4AF-E99FB61AE06E}"/>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05F701E4-F0A7-A140-5231-891C6612B5DF}"/>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895744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BD703C-1B42-0BA9-CA62-27E22D949363}"/>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4A9B0179-2148-614F-BF8F-E5F86C2E0E7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8586628-282A-82E9-0CA3-2FB091D7AABA}"/>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5" name="Espace réservé du pied de page 4">
            <a:extLst>
              <a:ext uri="{FF2B5EF4-FFF2-40B4-BE49-F238E27FC236}">
                <a16:creationId xmlns:a16="http://schemas.microsoft.com/office/drawing/2014/main" id="{1F3BB916-5D56-AB07-3AEF-BCEE7B4395C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9C6144E-8259-7E4D-B68F-7C33DF1B881E}"/>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344032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D94B6BA-E50A-D249-AD4C-9BAAE03F7776}"/>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296F3C63-5C45-BF2E-1572-9184454F4EF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CB973B5-2FAB-2642-C356-877E85CB1359}"/>
              </a:ext>
            </a:extLst>
          </p:cNvPr>
          <p:cNvSpPr>
            <a:spLocks noGrp="1"/>
          </p:cNvSpPr>
          <p:nvPr>
            <p:ph type="dt" sz="half" idx="10"/>
          </p:nvPr>
        </p:nvSpPr>
        <p:spPr/>
        <p:txBody>
          <a:bodyPr/>
          <a:lstStyle/>
          <a:p>
            <a:fld id="{BFC5A747-05FF-416F-8FE2-30F3026950BD}" type="datetimeFigureOut">
              <a:rPr lang="en-US" smtClean="0"/>
              <a:t>13-Jan-26</a:t>
            </a:fld>
            <a:endParaRPr lang="en-US"/>
          </a:p>
        </p:txBody>
      </p:sp>
      <p:sp>
        <p:nvSpPr>
          <p:cNvPr id="5" name="Espace réservé du pied de page 4">
            <a:extLst>
              <a:ext uri="{FF2B5EF4-FFF2-40B4-BE49-F238E27FC236}">
                <a16:creationId xmlns:a16="http://schemas.microsoft.com/office/drawing/2014/main" id="{6082FEA4-F53F-6C0D-9BA4-FE08F842314B}"/>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DD302539-5A4C-3ABA-7B59-D3DFF836B5F8}"/>
              </a:ext>
            </a:extLst>
          </p:cNvPr>
          <p:cNvSpPr>
            <a:spLocks noGrp="1"/>
          </p:cNvSpPr>
          <p:nvPr>
            <p:ph type="sldNum" sz="quarter" idx="12"/>
          </p:nvPr>
        </p:nvSpPr>
        <p:spPr/>
        <p:txBody>
          <a:bodyPr/>
          <a:lstStyle/>
          <a:p>
            <a:fld id="{C75AF5A8-F9AC-4E94-902D-52C0FC993E4A}" type="slidenum">
              <a:rPr lang="en-US" smtClean="0"/>
              <a:t>‹N°›</a:t>
            </a:fld>
            <a:endParaRPr lang="en-US"/>
          </a:p>
        </p:txBody>
      </p:sp>
    </p:spTree>
    <p:extLst>
      <p:ext uri="{BB962C8B-B14F-4D97-AF65-F5344CB8AC3E}">
        <p14:creationId xmlns:p14="http://schemas.microsoft.com/office/powerpoint/2010/main" val="2888134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ECDA4BD-91B1-3D9D-9E18-4B4C8844E8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62AFEF02-6580-79AF-E1E1-ECEBFEE971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EDF3AC6-EFCB-1FC4-BB76-AC92DFB433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C5A747-05FF-416F-8FE2-30F3026950BD}" type="datetimeFigureOut">
              <a:rPr lang="en-US" smtClean="0"/>
              <a:t>13-Jan-26</a:t>
            </a:fld>
            <a:endParaRPr lang="en-US"/>
          </a:p>
        </p:txBody>
      </p:sp>
      <p:sp>
        <p:nvSpPr>
          <p:cNvPr id="5" name="Espace réservé du pied de page 4">
            <a:extLst>
              <a:ext uri="{FF2B5EF4-FFF2-40B4-BE49-F238E27FC236}">
                <a16:creationId xmlns:a16="http://schemas.microsoft.com/office/drawing/2014/main" id="{30012FC2-4EC9-37DF-3941-734A0A760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E46B4488-A971-472E-31A3-66D2C9AB8B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5AF5A8-F9AC-4E94-902D-52C0FC993E4A}" type="slidenum">
              <a:rPr lang="en-US" smtClean="0"/>
              <a:t>‹N°›</a:t>
            </a:fld>
            <a:endParaRPr lang="en-US"/>
          </a:p>
        </p:txBody>
      </p:sp>
    </p:spTree>
    <p:extLst>
      <p:ext uri="{BB962C8B-B14F-4D97-AF65-F5344CB8AC3E}">
        <p14:creationId xmlns:p14="http://schemas.microsoft.com/office/powerpoint/2010/main" val="391093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i.com/lit/an/scba007a/scba007a.pdf?ts=1755839806265#:~:text=A%20bypass%20capacitor%20stores%20an,switching%20outputs%20of%20the%20device" TargetMode="External"/><Relationship Id="rId2" Type="http://schemas.openxmlformats.org/officeDocument/2006/relationships/hyperlink" Target="https://www.youtube.com/watch?v=d-j0onzzuN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en.wikipedia.org/wiki/Phase_(wav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mbeddedartistry.com/fieldmanual-terms/load-memory-address/" TargetMode="External"/><Relationship Id="rId2" Type="http://schemas.openxmlformats.org/officeDocument/2006/relationships/hyperlink" Target="https://orbcode.org/orbuculum/single-wire-output/"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Preemption_(comput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ogle.com/search?q=MISO&amp;sca_esv=b51b2d73c9f7d5a8&amp;sxsrf=AE3TifMvVRs5oa6EhM_9RldGn_cyTWwucQ%3A1762951153266&amp;ei=8X8Uabv8D564vr0Pz_v78AI&amp;ved=2ahUKEwjSyoDt0OyQAxXVdPUHHU4FOOAQgK4QegQIAxAF&amp;uact=5&amp;oq=SPI+embedded&amp;gs_lp=Egxnd3Mtd2l6LXNlcnAiDFNQSSBlbWJlZGRlZDILEAAYgAQYkQIYigUyBRAAGIAEMgYQABgWGB4yBhAAGBYYHjIGEAAYFhgeMgYQABgWGB4yBhAAGBYYHjIGEAAYFhgeMgYQABgWGB4yBhAAGBYYHkjyHVAXWLUccAJ4AZABAJgBgwKgAZ8QqgEFMC42LjS4AQPIAQD4AQGYAgugAr8QwgIKEAAYgAQYQxiKBcICCxAuGIAEGMcBGK8BwgIQEC4YgAQY0QMYQxjHARiKBcICDBAAGIAEGEMYigUYCsICDBAuGIAEGLEDGAoYC5gDAIgGAZIHBTEuNi40oAe1RbIHBTAuNi40uAe8EMIHBjAuMTAuMcgHFw&amp;sclient=gws-wiz-serp&amp;mstk=AUtExfAciyqpG_ApFLz6_rjFseU2snIYMBG9tCVm6p1tj9orb3YfsGC0SJf_FUUK95u3XAoaraC4ehU9fr1VH7rKXfRA9_9XzU1GOuzeJQpkaujFwtoSDaGtiJO_aEtsO_Qjzv7-1nPWTcin1_v0XPkxptGt9ehkISkbrTXIUyh95FUP4NIeW9YrjKDLTV-RUy67QHoKqJtsH8Nktm0t6u0VI65fBA4gQplGftKsOZ4WIthGxXInT9P_0hkATAThgC4ocJHzrR83Yf8aVOCkm68cLjfGbgOAhl09bGWsA0SRrvupsqHsVO64FmGKV0Q7LLnACw&amp;csui=3" TargetMode="External"/><Relationship Id="rId2" Type="http://schemas.openxmlformats.org/officeDocument/2006/relationships/hyperlink" Target="https://www.google.com/search?q=MOSI&amp;sca_esv=b51b2d73c9f7d5a8&amp;sxsrf=AE3TifMvVRs5oa6EhM_9RldGn_cyTWwucQ%3A1762951153266&amp;ei=8X8Uabv8D564vr0Pz_v78AI&amp;ved=2ahUKEwjSyoDt0OyQAxXVdPUHHU4FOOAQgK4QegQIAxAD&amp;uact=5&amp;oq=SPI+embedded&amp;gs_lp=Egxnd3Mtd2l6LXNlcnAiDFNQSSBlbWJlZGRlZDILEAAYgAQYkQIYigUyBRAAGIAEMgYQABgWGB4yBhAAGBYYHjIGEAAYFhgeMgYQABgWGB4yBhAAGBYYHjIGEAAYFhgeMgYQABgWGB4yBhAAGBYYHkjyHVAXWLUccAJ4AZABAJgBgwKgAZ8QqgEFMC42LjS4AQPIAQD4AQGYAgugAr8QwgIKEAAYgAQYQxiKBcICCxAuGIAEGMcBGK8BwgIQEC4YgAQY0QMYQxjHARiKBcICDBAAGIAEGEMYigUYCsICDBAuGIAEGLEDGAoYC5gDAIgGAZIHBTEuNi40oAe1RbIHBTAuNi40uAe8EMIHBjAuMTAuMcgHFw&amp;sclient=gws-wiz-serp&amp;mstk=AUtExfAciyqpG_ApFLz6_rjFseU2snIYMBG9tCVm6p1tj9orb3YfsGC0SJf_FUUK95u3XAoaraC4ehU9fr1VH7rKXfRA9_9XzU1GOuzeJQpkaujFwtoSDaGtiJO_aEtsO_Qjzv7-1nPWTcin1_v0XPkxptGt9ehkISkbrTXIUyh95FUP4NIeW9YrjKDLTV-RUy67QHoKqJtsH8Nktm0t6u0VI65fBA4gQplGftKsOZ4WIthGxXInT9P_0hkATAThgC4ocJHzrR83Yf8aVOCkm68cLjfGbgOAhl09bGWsA0SRrvupsqHsVO64FmGKV0Q7LLnACw&amp;csui=3" TargetMode="External"/><Relationship Id="rId1" Type="http://schemas.openxmlformats.org/officeDocument/2006/relationships/slideLayout" Target="../slideLayouts/slideLayout2.xml"/><Relationship Id="rId5" Type="http://schemas.openxmlformats.org/officeDocument/2006/relationships/hyperlink" Target="https://www.google.com/search?q=CS&amp;sca_esv=b51b2d73c9f7d5a8&amp;sxsrf=AE3TifMvVRs5oa6EhM_9RldGn_cyTWwucQ%3A1762951153266&amp;ei=8X8Uabv8D564vr0Pz_v78AI&amp;ved=2ahUKEwjSyoDt0OyQAxXVdPUHHU4FOOAQgK4QegQIAxAJ&amp;uact=5&amp;oq=SPI+embedded&amp;gs_lp=Egxnd3Mtd2l6LXNlcnAiDFNQSSBlbWJlZGRlZDILEAAYgAQYkQIYigUyBRAAGIAEMgYQABgWGB4yBhAAGBYYHjIGEAAYFhgeMgYQABgWGB4yBhAAGBYYHjIGEAAYFhgeMgYQABgWGB4yBhAAGBYYHkjyHVAXWLUccAJ4AZABAJgBgwKgAZ8QqgEFMC42LjS4AQPIAQD4AQGYAgugAr8QwgIKEAAYgAQYQxiKBcICCxAuGIAEGMcBGK8BwgIQEC4YgAQY0QMYQxjHARiKBcICDBAAGIAEGEMYigUYCsICDBAuGIAEGLEDGAoYC5gDAIgGAZIHBTEuNi40oAe1RbIHBTAuNi40uAe8EMIHBjAuMTAuMcgHFw&amp;sclient=gws-wiz-serp&amp;mstk=AUtExfAciyqpG_ApFLz6_rjFseU2snIYMBG9tCVm6p1tj9orb3YfsGC0SJf_FUUK95u3XAoaraC4ehU9fr1VH7rKXfRA9_9XzU1GOuzeJQpkaujFwtoSDaGtiJO_aEtsO_Qjzv7-1nPWTcin1_v0XPkxptGt9ehkISkbrTXIUyh95FUP4NIeW9YrjKDLTV-RUy67QHoKqJtsH8Nktm0t6u0VI65fBA4gQplGftKsOZ4WIthGxXInT9P_0hkATAThgC4ocJHzrR83Yf8aVOCkm68cLjfGbgOAhl09bGWsA0SRrvupsqHsVO64FmGKV0Q7LLnACw&amp;csui=3" TargetMode="External"/><Relationship Id="rId4" Type="http://schemas.openxmlformats.org/officeDocument/2006/relationships/hyperlink" Target="https://www.google.com/search?q=SCLK&amp;sca_esv=b51b2d73c9f7d5a8&amp;sxsrf=AE3TifMvVRs5oa6EhM_9RldGn_cyTWwucQ%3A1762951153266&amp;ei=8X8Uabv8D564vr0Pz_v78AI&amp;ved=2ahUKEwjSyoDt0OyQAxXVdPUHHU4FOOAQgK4QegQIAxAH&amp;uact=5&amp;oq=SPI+embedded&amp;gs_lp=Egxnd3Mtd2l6LXNlcnAiDFNQSSBlbWJlZGRlZDILEAAYgAQYkQIYigUyBRAAGIAEMgYQABgWGB4yBhAAGBYYHjIGEAAYFhgeMgYQABgWGB4yBhAAGBYYHjIGEAAYFhgeMgYQABgWGB4yBhAAGBYYHkjyHVAXWLUccAJ4AZABAJgBgwKgAZ8QqgEFMC42LjS4AQPIAQD4AQGYAgugAr8QwgIKEAAYgAQYQxiKBcICCxAuGIAEGMcBGK8BwgIQEC4YgAQY0QMYQxjHARiKBcICDBAAGIAEGEMYigUYCsICDBAuGIAEGLEDGAoYC5gDAIgGAZIHBTEuNi40oAe1RbIHBTAuNi40uAe8EMIHBjAuMTAuMcgHFw&amp;sclient=gws-wiz-serp&amp;mstk=AUtExfAciyqpG_ApFLz6_rjFseU2snIYMBG9tCVm6p1tj9orb3YfsGC0SJf_FUUK95u3XAoaraC4ehU9fr1VH7rKXfRA9_9XzU1GOuzeJQpkaujFwtoSDaGtiJO_aEtsO_Qjzv7-1nPWTcin1_v0XPkxptGt9ehkISkbrTXIUyh95FUP4NIeW9YrjKDLTV-RUy67QHoKqJtsH8Nktm0t6u0VI65fBA4gQplGftKsOZ4WIthGxXInT9P_0hkATAThgC4ocJHzrR83Yf8aVOCkm68cLjfGbgOAhl09bGWsA0SRrvupsqHsVO64FmGKV0Q7LLnACw&amp;csui=3"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s://nuttx.apache.org/docs/latest/quickstart/organization.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E3BF17-0800-ECD3-FC0E-3ADF00EA4BD1}"/>
              </a:ext>
            </a:extLst>
          </p:cNvPr>
          <p:cNvSpPr>
            <a:spLocks noGrp="1"/>
          </p:cNvSpPr>
          <p:nvPr>
            <p:ph type="ctrTitle"/>
          </p:nvPr>
        </p:nvSpPr>
        <p:spPr/>
        <p:txBody>
          <a:bodyPr/>
          <a:lstStyle/>
          <a:p>
            <a:r>
              <a:rPr lang="fr-FR" dirty="0"/>
              <a:t>Abreviations.md</a:t>
            </a:r>
            <a:endParaRPr lang="en-US" dirty="0"/>
          </a:p>
        </p:txBody>
      </p:sp>
    </p:spTree>
    <p:extLst>
      <p:ext uri="{BB962C8B-B14F-4D97-AF65-F5344CB8AC3E}">
        <p14:creationId xmlns:p14="http://schemas.microsoft.com/office/powerpoint/2010/main" val="246778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3634F3-9DF1-F31A-9A16-2383387F87FF}"/>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3" name="Espace réservé du contenu 2">
            <a:extLst>
              <a:ext uri="{FF2B5EF4-FFF2-40B4-BE49-F238E27FC236}">
                <a16:creationId xmlns:a16="http://schemas.microsoft.com/office/drawing/2014/main" id="{AC7F6CCA-5F5D-5EF9-128A-D42005E6E53F}"/>
              </a:ext>
            </a:extLst>
          </p:cNvPr>
          <p:cNvSpPr>
            <a:spLocks noGrp="1"/>
          </p:cNvSpPr>
          <p:nvPr>
            <p:ph idx="1"/>
          </p:nvPr>
        </p:nvSpPr>
        <p:spPr>
          <a:xfrm>
            <a:off x="157715" y="705663"/>
            <a:ext cx="11899605" cy="6014114"/>
          </a:xfrm>
        </p:spPr>
        <p:txBody>
          <a:bodyPr>
            <a:normAutofit/>
          </a:bodyPr>
          <a:lstStyle/>
          <a:p>
            <a:pPr>
              <a:spcBef>
                <a:spcPts val="100"/>
              </a:spcBef>
            </a:pPr>
            <a:r>
              <a:rPr lang="fr-FR" sz="1300" b="1" dirty="0"/>
              <a:t>DSP</a:t>
            </a:r>
            <a:r>
              <a:rPr lang="fr-FR" sz="1300" dirty="0"/>
              <a:t> (Digital Signal </a:t>
            </a:r>
            <a:r>
              <a:rPr lang="fr-FR" sz="1300" dirty="0" err="1"/>
              <a:t>Processing</a:t>
            </a:r>
            <a:r>
              <a:rPr lang="fr-FR" sz="1300" dirty="0"/>
              <a:t>): extra </a:t>
            </a:r>
            <a:r>
              <a:rPr lang="fr-FR" sz="1300" dirty="0" err="1"/>
              <a:t>maching</a:t>
            </a:r>
            <a:r>
              <a:rPr lang="fr-FR" sz="1300" dirty="0"/>
              <a:t> instructions for the CPU to do </a:t>
            </a:r>
            <a:r>
              <a:rPr lang="fr-FR" sz="1300" dirty="0" err="1"/>
              <a:t>heavy</a:t>
            </a:r>
            <a:r>
              <a:rPr lang="fr-FR" sz="1300" dirty="0"/>
              <a:t> math </a:t>
            </a:r>
            <a:r>
              <a:rPr lang="fr-FR" sz="1300" dirty="0" err="1"/>
              <a:t>tasks</a:t>
            </a:r>
            <a:endParaRPr lang="fr-FR" sz="1300" dirty="0"/>
          </a:p>
          <a:p>
            <a:pPr>
              <a:spcBef>
                <a:spcPts val="100"/>
              </a:spcBef>
            </a:pPr>
            <a:r>
              <a:rPr lang="fr-FR" sz="1300" b="1" dirty="0"/>
              <a:t>FPU</a:t>
            </a:r>
            <a:r>
              <a:rPr lang="fr-FR" sz="1300" dirty="0"/>
              <a:t> (</a:t>
            </a:r>
            <a:r>
              <a:rPr lang="fr-FR" sz="1300" dirty="0" err="1"/>
              <a:t>Floating</a:t>
            </a:r>
            <a:r>
              <a:rPr lang="fr-FR" sz="1300" dirty="0"/>
              <a:t> Point Unit): </a:t>
            </a:r>
            <a:r>
              <a:rPr lang="en-US" sz="1300" dirty="0" err="1">
                <a:latin typeface="Arial" panose="020B0604020202020204" pitchFamily="34" charset="0"/>
              </a:rPr>
              <a:t>hw</a:t>
            </a:r>
            <a:r>
              <a:rPr lang="en-US" sz="1300" dirty="0">
                <a:latin typeface="Arial" panose="020B0604020202020204" pitchFamily="34" charset="0"/>
              </a:rPr>
              <a:t> block to do floating point operation directly =&gt; 1 </a:t>
            </a:r>
            <a:r>
              <a:rPr lang="en-US" sz="1300" dirty="0" err="1">
                <a:latin typeface="Arial" panose="020B0604020202020204" pitchFamily="34" charset="0"/>
              </a:rPr>
              <a:t>cicle</a:t>
            </a:r>
            <a:r>
              <a:rPr lang="en-US" sz="1300" dirty="0">
                <a:latin typeface="Arial" panose="020B0604020202020204" pitchFamily="34" charset="0"/>
              </a:rPr>
              <a:t> for add/</a:t>
            </a:r>
            <a:r>
              <a:rPr lang="en-US" sz="1300" dirty="0" err="1">
                <a:latin typeface="Arial" panose="020B0604020202020204" pitchFamily="34" charset="0"/>
              </a:rPr>
              <a:t>mul</a:t>
            </a:r>
            <a:endParaRPr lang="en-US" altLang="en-US" sz="1300" dirty="0">
              <a:latin typeface="Arial" panose="020B0604020202020204" pitchFamily="34" charset="0"/>
            </a:endParaRPr>
          </a:p>
          <a:p>
            <a:pPr>
              <a:spcBef>
                <a:spcPts val="100"/>
              </a:spcBef>
            </a:pPr>
            <a:r>
              <a:rPr lang="en-US" sz="1300" b="1" dirty="0"/>
              <a:t>Cortex-M4: </a:t>
            </a:r>
            <a:r>
              <a:rPr lang="en-US" sz="1300" dirty="0"/>
              <a:t>32-bit RISC core optimized for real-time control.</a:t>
            </a:r>
          </a:p>
          <a:p>
            <a:pPr>
              <a:spcBef>
                <a:spcPts val="100"/>
              </a:spcBef>
            </a:pPr>
            <a:r>
              <a:rPr lang="en-US" sz="1300" b="1" dirty="0"/>
              <a:t>ADC </a:t>
            </a:r>
            <a:r>
              <a:rPr lang="en-US" sz="1300" dirty="0"/>
              <a:t>(Analog to Digital Converter)</a:t>
            </a:r>
            <a:endParaRPr lang="en-US" sz="1300" b="1" dirty="0"/>
          </a:p>
          <a:p>
            <a:pPr>
              <a:spcBef>
                <a:spcPts val="100"/>
              </a:spcBef>
            </a:pPr>
            <a:r>
              <a:rPr lang="en-US" sz="1300" b="1" dirty="0"/>
              <a:t>FOC </a:t>
            </a:r>
            <a:r>
              <a:rPr lang="en-US" sz="1300" dirty="0"/>
              <a:t>(Field-Oriented Control): technique to control a BLDC motor to behave like a perfectly linear DC motor (smooth torque, high efficiency, precise speed and pos control). The key idea is to transform the messy 3 phase driving (ESC, …) to 2 DC like currents to control</a:t>
            </a:r>
          </a:p>
          <a:p>
            <a:pPr marL="971550" lvl="1" indent="-514350">
              <a:spcBef>
                <a:spcPts val="100"/>
              </a:spcBef>
              <a:buFont typeface="+mj-lt"/>
              <a:buAutoNum type="arabicPeriod"/>
            </a:pPr>
            <a:r>
              <a:rPr lang="en-US" sz="1300" dirty="0"/>
              <a:t>Measure motor current</a:t>
            </a:r>
            <a:r>
              <a:rPr lang="en-US" sz="1300" b="1" dirty="0"/>
              <a:t>s</a:t>
            </a:r>
          </a:p>
          <a:p>
            <a:pPr marL="971550" lvl="1" indent="-514350">
              <a:spcBef>
                <a:spcPts val="100"/>
              </a:spcBef>
              <a:buFont typeface="+mj-lt"/>
              <a:buAutoNum type="arabicPeriod"/>
            </a:pPr>
            <a:r>
              <a:rPr lang="en-US" sz="1300" dirty="0"/>
              <a:t>Transform them mathematically to separate </a:t>
            </a:r>
            <a:r>
              <a:rPr lang="en-US" sz="1300" i="1" dirty="0"/>
              <a:t>Id</a:t>
            </a:r>
            <a:r>
              <a:rPr lang="en-US" sz="1300" dirty="0"/>
              <a:t> (current aligned with 	     the motor magnetic field -&gt; control flux) and </a:t>
            </a:r>
            <a:r>
              <a:rPr lang="en-US" sz="1300" i="1" dirty="0" err="1"/>
              <a:t>Iq</a:t>
            </a:r>
            <a:r>
              <a:rPr lang="en-US" sz="1300" i="1" dirty="0"/>
              <a:t> </a:t>
            </a:r>
            <a:r>
              <a:rPr lang="en-US" sz="1300" dirty="0"/>
              <a:t>(current perpendicular to the rotor -&gt; control torque)</a:t>
            </a:r>
          </a:p>
          <a:p>
            <a:pPr marL="971550" lvl="1" indent="-514350">
              <a:spcBef>
                <a:spcPts val="100"/>
              </a:spcBef>
              <a:buFont typeface="+mj-lt"/>
              <a:buAutoNum type="arabicPeriod"/>
            </a:pPr>
            <a:r>
              <a:rPr lang="en-US" sz="1300" dirty="0"/>
              <a:t>Control </a:t>
            </a:r>
            <a:r>
              <a:rPr lang="en-US" sz="1300" i="1" dirty="0"/>
              <a:t>Id </a:t>
            </a:r>
            <a:r>
              <a:rPr lang="en-US" sz="1300" dirty="0"/>
              <a:t>and </a:t>
            </a:r>
            <a:r>
              <a:rPr lang="en-US" sz="1300" i="1" dirty="0" err="1"/>
              <a:t>Iq</a:t>
            </a:r>
            <a:r>
              <a:rPr lang="en-US" sz="1300" dirty="0"/>
              <a:t> separately using PI controllers </a:t>
            </a:r>
          </a:p>
          <a:p>
            <a:pPr marL="971550" lvl="1" indent="-514350">
              <a:spcBef>
                <a:spcPts val="100"/>
              </a:spcBef>
              <a:buFont typeface="+mj-lt"/>
              <a:buAutoNum type="arabicPeriod"/>
            </a:pPr>
            <a:r>
              <a:rPr lang="en-US" sz="1300" dirty="0"/>
              <a:t>Reconstruct the 3-phases voltage using an inverse transform</a:t>
            </a:r>
          </a:p>
          <a:p>
            <a:pPr>
              <a:spcBef>
                <a:spcPts val="100"/>
              </a:spcBef>
            </a:pPr>
            <a:r>
              <a:rPr lang="en-US" sz="1300" b="1" dirty="0"/>
              <a:t>BOM</a:t>
            </a:r>
            <a:r>
              <a:rPr lang="en-US" sz="1300" dirty="0"/>
              <a:t>: Bill of Materials</a:t>
            </a:r>
          </a:p>
          <a:p>
            <a:pPr>
              <a:spcBef>
                <a:spcPts val="100"/>
              </a:spcBef>
            </a:pPr>
            <a:r>
              <a:rPr lang="en-US" sz="1300" b="1" dirty="0"/>
              <a:t>IC</a:t>
            </a:r>
            <a:r>
              <a:rPr lang="en-US" sz="1300" dirty="0"/>
              <a:t>: Integrated circuit</a:t>
            </a:r>
          </a:p>
          <a:p>
            <a:pPr>
              <a:spcBef>
                <a:spcPts val="100"/>
              </a:spcBef>
            </a:pPr>
            <a:r>
              <a:rPr lang="en-US" sz="1300" b="1" dirty="0"/>
              <a:t>OP-amp</a:t>
            </a:r>
            <a:r>
              <a:rPr lang="en-US" sz="1300" dirty="0"/>
              <a:t> (AOP in French): Operational </a:t>
            </a:r>
            <a:r>
              <a:rPr lang="en-US" sz="1300" dirty="0" err="1"/>
              <a:t>Amplificator</a:t>
            </a:r>
            <a:endParaRPr lang="en-US" sz="1300" dirty="0"/>
          </a:p>
          <a:p>
            <a:pPr>
              <a:spcBef>
                <a:spcPts val="100"/>
              </a:spcBef>
            </a:pPr>
            <a:r>
              <a:rPr lang="en-US" sz="1300" b="1" dirty="0"/>
              <a:t>LDO</a:t>
            </a:r>
            <a:r>
              <a:rPr lang="en-US" sz="1300" dirty="0"/>
              <a:t> (Low Dropout Regulator): take a higher voltage to convert it in a lower voltage. Low dropout =&gt; works even if the difference is small</a:t>
            </a:r>
          </a:p>
          <a:p>
            <a:pPr>
              <a:spcBef>
                <a:spcPts val="100"/>
              </a:spcBef>
            </a:pPr>
            <a:r>
              <a:rPr lang="en-US" sz="1300" b="1" dirty="0"/>
              <a:t>OCP</a:t>
            </a:r>
            <a:r>
              <a:rPr lang="en-US" sz="1300" dirty="0"/>
              <a:t> (Over-Current Protection)</a:t>
            </a:r>
          </a:p>
          <a:p>
            <a:pPr>
              <a:spcBef>
                <a:spcPts val="100"/>
              </a:spcBef>
            </a:pPr>
            <a:r>
              <a:rPr lang="en-US" sz="1300" b="1" dirty="0"/>
              <a:t>UVLO </a:t>
            </a:r>
            <a:r>
              <a:rPr lang="en-US" sz="1300" dirty="0"/>
              <a:t>(Under Voltage Lockout): For a </a:t>
            </a:r>
            <a:r>
              <a:rPr lang="en-US" sz="1300" dirty="0" err="1"/>
              <a:t>mosfet</a:t>
            </a:r>
            <a:r>
              <a:rPr lang="en-US" sz="1300" dirty="0"/>
              <a:t> driver =&gt; if gate tension drop under specified voltage, gate is shut =&gt; this ensure that the MOSFET do not stay in an half open state, where a lot of heat is produced</a:t>
            </a:r>
          </a:p>
          <a:p>
            <a:pPr>
              <a:spcBef>
                <a:spcPts val="100"/>
              </a:spcBef>
            </a:pPr>
            <a:r>
              <a:rPr lang="en-US" sz="1300" b="1" dirty="0"/>
              <a:t>NTC</a:t>
            </a:r>
            <a:r>
              <a:rPr lang="en-US" sz="1300" dirty="0"/>
              <a:t>-Thermistor (Negative Temperature Coefficient Thermistor): Thermal sensor using a resistance that decreases with temperature</a:t>
            </a:r>
          </a:p>
          <a:p>
            <a:pPr>
              <a:spcBef>
                <a:spcPts val="100"/>
              </a:spcBef>
            </a:pPr>
            <a:r>
              <a:rPr lang="en-US" sz="1300" b="1" dirty="0"/>
              <a:t>Planes</a:t>
            </a:r>
            <a:r>
              <a:rPr lang="en-US" sz="1300" dirty="0"/>
              <a:t> (= power lines)</a:t>
            </a:r>
          </a:p>
          <a:p>
            <a:pPr>
              <a:spcBef>
                <a:spcPts val="100"/>
              </a:spcBef>
            </a:pPr>
            <a:r>
              <a:rPr lang="en-US" sz="1300" b="1" dirty="0"/>
              <a:t>Bypass capacitor</a:t>
            </a:r>
            <a:r>
              <a:rPr lang="en-US" sz="1300" dirty="0"/>
              <a:t>: Used to smooth </a:t>
            </a:r>
            <a:r>
              <a:rPr lang="en-US" sz="1300" dirty="0" err="1"/>
              <a:t>Vcc</a:t>
            </a:r>
            <a:r>
              <a:rPr lang="en-US" sz="1300" dirty="0"/>
              <a:t> : </a:t>
            </a:r>
            <a:r>
              <a:rPr lang="en-US" sz="1300" dirty="0">
                <a:hlinkClick r:id="rId2"/>
              </a:rPr>
              <a:t>https://www.youtube.com/watch?v=d-j0onzzuNQ</a:t>
            </a:r>
            <a:r>
              <a:rPr lang="en-US" sz="1300" dirty="0"/>
              <a:t>    and     (</a:t>
            </a:r>
            <a:r>
              <a:rPr lang="en-US" sz="1300" dirty="0">
                <a:hlinkClick r:id="rId3"/>
              </a:rPr>
              <a:t>https://www.ti.com/lit/an/scba007a/scba007a.pdf?ts=1755839806265#:~:text=A%20bypass%20capacitor%20stores%20an,switching%20outputs%20of%20the%20device</a:t>
            </a:r>
            <a:r>
              <a:rPr lang="en-US" sz="1300" dirty="0"/>
              <a:t>.)</a:t>
            </a:r>
          </a:p>
          <a:p>
            <a:pPr>
              <a:spcBef>
                <a:spcPts val="100"/>
              </a:spcBef>
            </a:pPr>
            <a:r>
              <a:rPr lang="en-US" sz="1300" dirty="0"/>
              <a:t>https://www.youtube.com/watch?v=d-j0onzzuNQ</a:t>
            </a:r>
          </a:p>
          <a:p>
            <a:pPr>
              <a:spcBef>
                <a:spcPts val="100"/>
              </a:spcBef>
            </a:pPr>
            <a:r>
              <a:rPr lang="en-US" sz="1300" b="1" dirty="0"/>
              <a:t>Back-EMF</a:t>
            </a:r>
            <a:r>
              <a:rPr lang="en-US" sz="1300" dirty="0"/>
              <a:t> (Electro Magnetic Force): Tension generated by an inductance/coil when charging. For a BLDC, it become null when stator and rotor are aligned.</a:t>
            </a:r>
          </a:p>
          <a:p>
            <a:pPr>
              <a:spcBef>
                <a:spcPts val="100"/>
              </a:spcBef>
            </a:pPr>
            <a:r>
              <a:rPr lang="en-US" sz="1300" b="1" dirty="0"/>
              <a:t>Schottky diode + simple Altium designer </a:t>
            </a:r>
            <a:r>
              <a:rPr lang="en-US" sz="1300" b="1" dirty="0" err="1"/>
              <a:t>tuto</a:t>
            </a:r>
            <a:r>
              <a:rPr lang="en-US" sz="1300" dirty="0"/>
              <a:t>: diode with minimal voltage drop (less resistance)</a:t>
            </a:r>
          </a:p>
          <a:p>
            <a:pPr>
              <a:spcBef>
                <a:spcPts val="100"/>
              </a:spcBef>
            </a:pPr>
            <a:r>
              <a:rPr lang="en-US" sz="1300" b="1" dirty="0"/>
              <a:t>KCF: </a:t>
            </a:r>
            <a:r>
              <a:rPr lang="en-US" sz="1300" dirty="0"/>
              <a:t>Kirchhoff </a:t>
            </a:r>
            <a:r>
              <a:rPr lang="en-US" sz="1300" dirty="0" err="1"/>
              <a:t>Curent</a:t>
            </a:r>
            <a:r>
              <a:rPr lang="en-US" sz="1300" dirty="0"/>
              <a:t> Law</a:t>
            </a:r>
          </a:p>
          <a:p>
            <a:pPr>
              <a:spcBef>
                <a:spcPts val="100"/>
              </a:spcBef>
            </a:pPr>
            <a:r>
              <a:rPr lang="en-US" sz="1300" b="1" dirty="0"/>
              <a:t>HSE / LSE: </a:t>
            </a:r>
            <a:r>
              <a:rPr lang="en-US" sz="1300" dirty="0"/>
              <a:t>High-Speed External Oscillator / Low-Speed</a:t>
            </a:r>
          </a:p>
          <a:p>
            <a:pPr>
              <a:spcBef>
                <a:spcPts val="100"/>
              </a:spcBef>
            </a:pPr>
            <a:r>
              <a:rPr lang="en-US" sz="1300" b="1" dirty="0"/>
              <a:t>BSP </a:t>
            </a:r>
            <a:r>
              <a:rPr lang="en-US" sz="1300" dirty="0"/>
              <a:t>(Board Support Packages)</a:t>
            </a:r>
          </a:p>
          <a:p>
            <a:pPr>
              <a:spcBef>
                <a:spcPts val="100"/>
              </a:spcBef>
            </a:pPr>
            <a:r>
              <a:rPr lang="en-US" sz="1300" b="1" dirty="0"/>
              <a:t>HPB: </a:t>
            </a:r>
            <a:r>
              <a:rPr lang="en-US" sz="1300" dirty="0"/>
              <a:t>Handle to Push Button</a:t>
            </a:r>
          </a:p>
          <a:p>
            <a:pPr>
              <a:spcBef>
                <a:spcPts val="100"/>
              </a:spcBef>
            </a:pPr>
            <a:r>
              <a:rPr lang="en-US" sz="1300" b="1" dirty="0"/>
              <a:t>HAL: </a:t>
            </a:r>
            <a:r>
              <a:rPr lang="en-US" sz="1300" dirty="0"/>
              <a:t>Hardware Abstraction Layer</a:t>
            </a:r>
            <a:endParaRPr lang="en-US" sz="1300" b="1" dirty="0"/>
          </a:p>
          <a:p>
            <a:pPr>
              <a:spcBef>
                <a:spcPts val="100"/>
              </a:spcBef>
            </a:pPr>
            <a:endParaRPr lang="en-US" sz="1300" dirty="0"/>
          </a:p>
        </p:txBody>
      </p:sp>
    </p:spTree>
    <p:extLst>
      <p:ext uri="{BB962C8B-B14F-4D97-AF65-F5344CB8AC3E}">
        <p14:creationId xmlns:p14="http://schemas.microsoft.com/office/powerpoint/2010/main" val="3161587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06A45-D9B9-01F5-5B21-27FE30EFAC8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91063D-4B45-3E9E-E29B-B3420A192612}"/>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E6120DE4-C0C1-2AC5-2F73-A4F96EA9E1DF}"/>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err="1"/>
              <a:t>IRQn</a:t>
            </a:r>
            <a:r>
              <a:rPr lang="en-US" sz="1300" b="1" dirty="0"/>
              <a:t>: </a:t>
            </a:r>
            <a:r>
              <a:rPr lang="en-US" sz="1300" dirty="0"/>
              <a:t>Interrupt </a:t>
            </a:r>
            <a:r>
              <a:rPr lang="en-US" sz="1300" dirty="0" err="1"/>
              <a:t>ReQuest</a:t>
            </a:r>
            <a:r>
              <a:rPr lang="en-US" sz="1300" dirty="0"/>
              <a:t> Number</a:t>
            </a:r>
          </a:p>
          <a:p>
            <a:pPr>
              <a:spcBef>
                <a:spcPts val="100"/>
              </a:spcBef>
            </a:pPr>
            <a:r>
              <a:rPr lang="en-US" sz="1300" b="1" dirty="0" err="1"/>
              <a:t>Boostrap</a:t>
            </a:r>
            <a:r>
              <a:rPr lang="en-US" sz="1300" b="1" dirty="0"/>
              <a:t> capacitor : </a:t>
            </a:r>
            <a:r>
              <a:rPr lang="en-US" sz="1300" dirty="0"/>
              <a:t>used to ensure self-starting of the High Side </a:t>
            </a:r>
            <a:r>
              <a:rPr lang="en-US" sz="1300" dirty="0" err="1"/>
              <a:t>mosfet</a:t>
            </a:r>
            <a:r>
              <a:rPr lang="en-US" sz="1300" dirty="0"/>
              <a:t> on a GD. It is important as the HS </a:t>
            </a:r>
            <a:r>
              <a:rPr lang="en-US" sz="1300" dirty="0" err="1"/>
              <a:t>mosfet</a:t>
            </a:r>
            <a:r>
              <a:rPr lang="en-US" sz="1300" dirty="0"/>
              <a:t> does not have a grounded drain but a floating one.</a:t>
            </a:r>
          </a:p>
          <a:p>
            <a:pPr>
              <a:spcBef>
                <a:spcPts val="100"/>
              </a:spcBef>
            </a:pPr>
            <a:r>
              <a:rPr lang="en-US" sz="1300" b="1" dirty="0"/>
              <a:t>RMS (Root Mean Square): </a:t>
            </a:r>
            <a:r>
              <a:rPr lang="en-US" sz="1300" dirty="0"/>
              <a:t>compute the effective value of a varying signal</a:t>
            </a:r>
          </a:p>
          <a:p>
            <a:pPr>
              <a:spcBef>
                <a:spcPts val="100"/>
              </a:spcBef>
            </a:pPr>
            <a:r>
              <a:rPr lang="en-US" sz="1300" b="1" dirty="0"/>
              <a:t>RTC</a:t>
            </a:r>
            <a:r>
              <a:rPr lang="en-US" sz="1300" dirty="0"/>
              <a:t>: Real-Time Clock</a:t>
            </a:r>
          </a:p>
          <a:p>
            <a:pPr>
              <a:spcBef>
                <a:spcPts val="100"/>
              </a:spcBef>
            </a:pPr>
            <a:r>
              <a:rPr lang="en-US" sz="1300" b="1" dirty="0"/>
              <a:t>SDK</a:t>
            </a:r>
            <a:r>
              <a:rPr lang="en-US" sz="1300" dirty="0"/>
              <a:t>: Software Development </a:t>
            </a:r>
            <a:r>
              <a:rPr lang="en-US" sz="1300" dirty="0" err="1"/>
              <a:t>Kit</a:t>
            </a:r>
            <a:r>
              <a:rPr lang="en-US" sz="1300" b="1" dirty="0" err="1"/>
              <a:t>CMRR</a:t>
            </a:r>
            <a:r>
              <a:rPr lang="en-US" sz="1300" b="1" dirty="0"/>
              <a:t>: </a:t>
            </a:r>
            <a:r>
              <a:rPr lang="en-US" sz="1300" dirty="0"/>
              <a:t>Common-Mode Rejection Ratio, is used for a differential amplifier to quantify the ability to reject common-mode signals, i.e. those that appear simultaneously and </a:t>
            </a:r>
            <a:r>
              <a:rPr lang="en-US" sz="1300" dirty="0">
                <a:hlinkClick r:id="rId2" tooltip="Phase (waves)">
                  <a:extLst>
                    <a:ext uri="{A12FA001-AC4F-418D-AE19-62706E023703}">
                      <ahyp:hlinkClr xmlns:ahyp="http://schemas.microsoft.com/office/drawing/2018/hyperlinkcolor" val="tx"/>
                    </a:ext>
                  </a:extLst>
                </a:hlinkClick>
              </a:rPr>
              <a:t>in-phase</a:t>
            </a:r>
            <a:r>
              <a:rPr lang="en-US" sz="1300" dirty="0"/>
              <a:t> on both inputs. Higher means better. Needed when high EMI.</a:t>
            </a:r>
          </a:p>
          <a:p>
            <a:pPr>
              <a:spcBef>
                <a:spcPts val="100"/>
              </a:spcBef>
            </a:pPr>
            <a:r>
              <a:rPr lang="en-US" sz="1300" b="1" dirty="0"/>
              <a:t>CSA</a:t>
            </a:r>
            <a:r>
              <a:rPr lang="en-US" sz="1300" dirty="0"/>
              <a:t>: Current-Sense Amplifier</a:t>
            </a:r>
            <a:endParaRPr lang="fr-FR" sz="1300" dirty="0"/>
          </a:p>
          <a:p>
            <a:pPr>
              <a:spcBef>
                <a:spcPts val="100"/>
              </a:spcBef>
            </a:pPr>
            <a:r>
              <a:rPr lang="fr-FR" sz="1300" b="1" dirty="0"/>
              <a:t>SWD</a:t>
            </a:r>
            <a:r>
              <a:rPr lang="fr-FR" sz="1300" dirty="0"/>
              <a:t>:</a:t>
            </a:r>
            <a:r>
              <a:rPr lang="fr-FR" sz="1300" b="1" dirty="0"/>
              <a:t> </a:t>
            </a:r>
            <a:r>
              <a:rPr lang="fr-FR" sz="1300" dirty="0"/>
              <a:t>Serial Wire </a:t>
            </a:r>
            <a:r>
              <a:rPr lang="fr-FR" sz="1300" dirty="0" err="1"/>
              <a:t>Debug</a:t>
            </a:r>
            <a:r>
              <a:rPr lang="fr-FR" sz="1300" dirty="0"/>
              <a:t>, standard compact </a:t>
            </a:r>
            <a:r>
              <a:rPr lang="fr-FR" sz="1300" dirty="0" err="1"/>
              <a:t>debuging</a:t>
            </a:r>
            <a:r>
              <a:rPr lang="fr-FR" sz="1300" dirty="0"/>
              <a:t> interface </a:t>
            </a:r>
            <a:r>
              <a:rPr lang="fr-FR" sz="1300" dirty="0" err="1"/>
              <a:t>with</a:t>
            </a:r>
            <a:r>
              <a:rPr lang="fr-FR" sz="1300" dirty="0"/>
              <a:t> 2 </a:t>
            </a:r>
            <a:r>
              <a:rPr lang="fr-FR" sz="1300" dirty="0" err="1"/>
              <a:t>wires</a:t>
            </a:r>
            <a:r>
              <a:rPr lang="fr-FR" sz="1300" dirty="0"/>
              <a:t> – STM </a:t>
            </a:r>
            <a:r>
              <a:rPr lang="fr-FR" sz="1300" dirty="0" err="1"/>
              <a:t>proprietary</a:t>
            </a:r>
            <a:endParaRPr lang="fr-FR" sz="1300" dirty="0"/>
          </a:p>
          <a:p>
            <a:pPr>
              <a:spcBef>
                <a:spcPts val="100"/>
              </a:spcBef>
            </a:pPr>
            <a:r>
              <a:rPr lang="fr-FR" sz="1300" b="1" dirty="0"/>
              <a:t>JTAG:</a:t>
            </a:r>
            <a:r>
              <a:rPr lang="fr-FR" sz="1300" dirty="0"/>
              <a:t> Joint Test Action Group (4 </a:t>
            </a:r>
            <a:r>
              <a:rPr lang="fr-FR" sz="1300" dirty="0" err="1"/>
              <a:t>wires</a:t>
            </a:r>
            <a:r>
              <a:rPr lang="fr-FR" sz="1300" dirty="0"/>
              <a:t>), </a:t>
            </a:r>
            <a:r>
              <a:rPr lang="fr-FR" sz="1300" dirty="0" err="1"/>
              <a:t>worse</a:t>
            </a:r>
            <a:r>
              <a:rPr lang="fr-FR" sz="1300" dirty="0"/>
              <a:t> </a:t>
            </a:r>
            <a:r>
              <a:rPr lang="fr-FR" sz="1300" dirty="0" err="1"/>
              <a:t>than</a:t>
            </a:r>
            <a:r>
              <a:rPr lang="fr-FR" sz="1300" dirty="0"/>
              <a:t> SWD</a:t>
            </a:r>
          </a:p>
          <a:p>
            <a:pPr>
              <a:spcBef>
                <a:spcPts val="100"/>
              </a:spcBef>
            </a:pPr>
            <a:r>
              <a:rPr lang="fr-FR" sz="1300" b="1" dirty="0"/>
              <a:t>THD: </a:t>
            </a:r>
            <a:r>
              <a:rPr lang="fr-FR" sz="1300" dirty="0"/>
              <a:t>Total </a:t>
            </a:r>
            <a:r>
              <a:rPr lang="fr-FR" sz="1300" dirty="0" err="1"/>
              <a:t>Harmonic</a:t>
            </a:r>
            <a:r>
              <a:rPr lang="fr-FR" sz="1300" dirty="0"/>
              <a:t> Distorsion</a:t>
            </a:r>
            <a:endParaRPr lang="en-US" sz="1300" b="1" dirty="0"/>
          </a:p>
          <a:p>
            <a:pPr>
              <a:spcBef>
                <a:spcPts val="100"/>
              </a:spcBef>
            </a:pPr>
            <a:r>
              <a:rPr lang="en-US" sz="1300" b="1" dirty="0"/>
              <a:t>ZC: </a:t>
            </a:r>
            <a:r>
              <a:rPr lang="en-US" sz="1300" dirty="0"/>
              <a:t>Zero Crossing</a:t>
            </a:r>
          </a:p>
          <a:p>
            <a:pPr>
              <a:spcBef>
                <a:spcPts val="100"/>
              </a:spcBef>
            </a:pPr>
            <a:r>
              <a:rPr lang="en-US" sz="1300" b="1" dirty="0"/>
              <a:t>DMA</a:t>
            </a:r>
            <a:r>
              <a:rPr lang="en-US" sz="1300" dirty="0"/>
              <a:t>: Direct Memory Access</a:t>
            </a:r>
          </a:p>
          <a:p>
            <a:pPr>
              <a:spcBef>
                <a:spcPts val="100"/>
              </a:spcBef>
            </a:pPr>
            <a:r>
              <a:rPr lang="en-US" sz="1300" b="1" dirty="0"/>
              <a:t>ISR</a:t>
            </a:r>
            <a:r>
              <a:rPr lang="en-US" sz="1300" dirty="0"/>
              <a:t>: Interrupt Service Routine</a:t>
            </a:r>
          </a:p>
          <a:p>
            <a:pPr>
              <a:spcBef>
                <a:spcPts val="100"/>
              </a:spcBef>
            </a:pPr>
            <a:r>
              <a:rPr lang="en-US" sz="1300" b="1" dirty="0"/>
              <a:t>SMC</a:t>
            </a:r>
            <a:r>
              <a:rPr lang="en-US" sz="1300" dirty="0"/>
              <a:t>: Sliding Mode Control</a:t>
            </a:r>
          </a:p>
          <a:p>
            <a:pPr>
              <a:spcBef>
                <a:spcPts val="100"/>
              </a:spcBef>
            </a:pPr>
            <a:r>
              <a:rPr lang="en-US" sz="1300" b="1" dirty="0"/>
              <a:t>NVIC</a:t>
            </a:r>
            <a:r>
              <a:rPr lang="en-US" sz="1300" dirty="0"/>
              <a:t>: </a:t>
            </a:r>
            <a:r>
              <a:rPr lang="en-US" sz="1400" dirty="0"/>
              <a:t>nested vectored interrupt controller</a:t>
            </a:r>
          </a:p>
          <a:p>
            <a:pPr>
              <a:spcBef>
                <a:spcPts val="100"/>
              </a:spcBef>
            </a:pPr>
            <a:r>
              <a:rPr lang="en-US" sz="1400" b="1" dirty="0"/>
              <a:t>SCB</a:t>
            </a:r>
            <a:r>
              <a:rPr lang="en-US" sz="1400" dirty="0"/>
              <a:t>: system control block</a:t>
            </a:r>
          </a:p>
          <a:p>
            <a:pPr>
              <a:spcBef>
                <a:spcPts val="100"/>
              </a:spcBef>
            </a:pPr>
            <a:r>
              <a:rPr lang="en-US" sz="1400" b="1" dirty="0" err="1"/>
              <a:t>SysTick</a:t>
            </a:r>
            <a:r>
              <a:rPr lang="en-US" sz="1400" dirty="0"/>
              <a:t>: System Timer</a:t>
            </a:r>
          </a:p>
          <a:p>
            <a:pPr>
              <a:spcBef>
                <a:spcPts val="100"/>
              </a:spcBef>
            </a:pPr>
            <a:r>
              <a:rPr lang="en-US" sz="1400" b="1" dirty="0"/>
              <a:t>MPU</a:t>
            </a:r>
            <a:r>
              <a:rPr lang="en-US" sz="1400" dirty="0"/>
              <a:t>: Memory Protection Unit</a:t>
            </a:r>
          </a:p>
          <a:p>
            <a:pPr>
              <a:spcBef>
                <a:spcPts val="100"/>
              </a:spcBef>
            </a:pPr>
            <a:r>
              <a:rPr lang="en-US" sz="1400" b="1" dirty="0"/>
              <a:t>FPU</a:t>
            </a:r>
            <a:r>
              <a:rPr lang="en-US" sz="1400" dirty="0"/>
              <a:t>: Floating Point Unit</a:t>
            </a:r>
          </a:p>
          <a:p>
            <a:pPr>
              <a:spcBef>
                <a:spcPts val="100"/>
              </a:spcBef>
            </a:pPr>
            <a:r>
              <a:rPr lang="en-US" sz="1400" b="1" dirty="0"/>
              <a:t>EOC</a:t>
            </a:r>
            <a:r>
              <a:rPr lang="en-US" sz="1400" dirty="0"/>
              <a:t>: End Of Conversion / </a:t>
            </a:r>
            <a:r>
              <a:rPr lang="en-US" sz="1400" b="1" dirty="0"/>
              <a:t>JEOC</a:t>
            </a:r>
            <a:r>
              <a:rPr lang="en-US" sz="1400" dirty="0"/>
              <a:t>: Injected End Of Conversion</a:t>
            </a:r>
          </a:p>
          <a:p>
            <a:pPr>
              <a:spcBef>
                <a:spcPts val="100"/>
              </a:spcBef>
            </a:pPr>
            <a:r>
              <a:rPr lang="en-US" sz="1400" b="1" dirty="0"/>
              <a:t>EOS</a:t>
            </a:r>
            <a:r>
              <a:rPr lang="en-US" sz="1400" dirty="0"/>
              <a:t>: End Of Sequence / </a:t>
            </a:r>
            <a:r>
              <a:rPr lang="en-US" sz="1400" b="1" dirty="0"/>
              <a:t>JEOS</a:t>
            </a:r>
            <a:r>
              <a:rPr lang="en-US" sz="1400" dirty="0"/>
              <a:t>: Injected End Of Sequence</a:t>
            </a:r>
          </a:p>
          <a:p>
            <a:pPr>
              <a:spcBef>
                <a:spcPts val="100"/>
              </a:spcBef>
            </a:pPr>
            <a:r>
              <a:rPr lang="en-US" sz="1400" b="1" dirty="0"/>
              <a:t>CMSIS: </a:t>
            </a:r>
            <a:r>
              <a:rPr lang="it-IT" sz="1400" dirty="0"/>
              <a:t>Cortex Microcontroller Software Interface Standard</a:t>
            </a:r>
          </a:p>
          <a:p>
            <a:pPr>
              <a:spcBef>
                <a:spcPts val="100"/>
              </a:spcBef>
            </a:pPr>
            <a:r>
              <a:rPr lang="it-IT" sz="1400" b="1" dirty="0"/>
              <a:t>GPIO: </a:t>
            </a:r>
            <a:r>
              <a:rPr lang="it-IT" sz="1400" dirty="0"/>
              <a:t>Generql Purpose Input Output</a:t>
            </a:r>
            <a:endParaRPr lang="en-US" sz="1400" dirty="0"/>
          </a:p>
          <a:p>
            <a:pPr>
              <a:spcBef>
                <a:spcPts val="100"/>
              </a:spcBef>
            </a:pPr>
            <a:endParaRPr lang="en-US" sz="1300" dirty="0"/>
          </a:p>
          <a:p>
            <a:endParaRPr lang="en-US" sz="1300" dirty="0"/>
          </a:p>
          <a:p>
            <a:pPr>
              <a:spcBef>
                <a:spcPts val="100"/>
              </a:spcBef>
            </a:pPr>
            <a:endParaRPr lang="en-US" sz="1300" dirty="0"/>
          </a:p>
        </p:txBody>
      </p:sp>
      <p:pic>
        <p:nvPicPr>
          <p:cNvPr id="9" name="Image 8">
            <a:extLst>
              <a:ext uri="{FF2B5EF4-FFF2-40B4-BE49-F238E27FC236}">
                <a16:creationId xmlns:a16="http://schemas.microsoft.com/office/drawing/2014/main" id="{E57F1223-9918-0F1A-1B1F-50635B653798}"/>
              </a:ext>
            </a:extLst>
          </p:cNvPr>
          <p:cNvPicPr>
            <a:picLocks noChangeAspect="1"/>
          </p:cNvPicPr>
          <p:nvPr/>
        </p:nvPicPr>
        <p:blipFill>
          <a:blip r:embed="rId3"/>
          <a:stretch>
            <a:fillRect/>
          </a:stretch>
        </p:blipFill>
        <p:spPr>
          <a:xfrm>
            <a:off x="10226933" y="61281"/>
            <a:ext cx="1771553" cy="699873"/>
          </a:xfrm>
          <a:prstGeom prst="rect">
            <a:avLst/>
          </a:prstGeom>
        </p:spPr>
      </p:pic>
    </p:spTree>
    <p:extLst>
      <p:ext uri="{BB962C8B-B14F-4D97-AF65-F5344CB8AC3E}">
        <p14:creationId xmlns:p14="http://schemas.microsoft.com/office/powerpoint/2010/main" val="3287228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34949-777E-3359-7886-5A39C4A8DB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71A4D4-C097-F61A-3C22-90753C458B67}"/>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00E0B8AA-E45F-00AB-9711-3A9BC3C65279}"/>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t>EABI: </a:t>
            </a:r>
            <a:r>
              <a:rPr lang="en-US" sz="1300" dirty="0"/>
              <a:t>Embedded Application Binary Interface</a:t>
            </a:r>
          </a:p>
          <a:p>
            <a:pPr algn="just">
              <a:spcBef>
                <a:spcPts val="0"/>
              </a:spcBef>
            </a:pPr>
            <a:r>
              <a:rPr lang="fr-FR" sz="1300" b="1" dirty="0"/>
              <a:t>EEPROM: </a:t>
            </a:r>
            <a:r>
              <a:rPr lang="fr-FR" sz="1300" dirty="0" err="1"/>
              <a:t>Electrically</a:t>
            </a:r>
            <a:r>
              <a:rPr lang="fr-FR" sz="1300" dirty="0"/>
              <a:t> </a:t>
            </a:r>
            <a:r>
              <a:rPr lang="fr-FR" sz="1300" dirty="0" err="1"/>
              <a:t>Erasable</a:t>
            </a:r>
            <a:r>
              <a:rPr lang="fr-FR" sz="1300" dirty="0"/>
              <a:t> Programmable Read-</a:t>
            </a:r>
            <a:r>
              <a:rPr lang="fr-FR" sz="1300" dirty="0" err="1"/>
              <a:t>Only</a:t>
            </a:r>
            <a:r>
              <a:rPr lang="fr-FR" sz="1300" dirty="0"/>
              <a:t> Memory</a:t>
            </a:r>
          </a:p>
          <a:p>
            <a:pPr algn="just">
              <a:spcBef>
                <a:spcPts val="0"/>
              </a:spcBef>
            </a:pPr>
            <a:r>
              <a:rPr lang="fr-FR" sz="1300" b="1" dirty="0"/>
              <a:t>EPROM: </a:t>
            </a:r>
            <a:r>
              <a:rPr lang="fr-FR" sz="1300" dirty="0" err="1"/>
              <a:t>Erasable</a:t>
            </a:r>
            <a:r>
              <a:rPr lang="fr-FR" sz="1300" dirty="0"/>
              <a:t> Programmable Read-</a:t>
            </a:r>
            <a:r>
              <a:rPr lang="fr-FR" sz="1300" dirty="0" err="1"/>
              <a:t>Only</a:t>
            </a:r>
            <a:r>
              <a:rPr lang="fr-FR" sz="1300" dirty="0"/>
              <a:t> Memory (</a:t>
            </a:r>
            <a:r>
              <a:rPr lang="fr-FR" sz="1300" dirty="0" err="1"/>
              <a:t>erase</a:t>
            </a:r>
            <a:r>
              <a:rPr lang="fr-FR" sz="1300" dirty="0"/>
              <a:t> </a:t>
            </a:r>
            <a:r>
              <a:rPr lang="fr-FR" sz="1300" dirty="0" err="1"/>
              <a:t>using</a:t>
            </a:r>
            <a:r>
              <a:rPr lang="fr-FR" sz="1300" dirty="0"/>
              <a:t> </a:t>
            </a:r>
            <a:r>
              <a:rPr lang="fr-FR" sz="1300" dirty="0" err="1"/>
              <a:t>uv</a:t>
            </a:r>
            <a:r>
              <a:rPr lang="fr-FR" sz="1300" dirty="0"/>
              <a:t> rays)</a:t>
            </a:r>
          </a:p>
          <a:p>
            <a:pPr algn="just">
              <a:spcBef>
                <a:spcPts val="0"/>
              </a:spcBef>
            </a:pPr>
            <a:r>
              <a:rPr lang="fr-FR" sz="1300" b="1" dirty="0"/>
              <a:t>PROM: </a:t>
            </a:r>
            <a:r>
              <a:rPr lang="fr-FR" sz="1300" dirty="0"/>
              <a:t>Programmable Read-</a:t>
            </a:r>
            <a:r>
              <a:rPr lang="fr-FR" sz="1300" dirty="0" err="1"/>
              <a:t>Only</a:t>
            </a:r>
            <a:r>
              <a:rPr lang="fr-FR" sz="1300" dirty="0"/>
              <a:t> Memory (one time </a:t>
            </a:r>
            <a:r>
              <a:rPr lang="fr-FR" sz="1300" dirty="0" err="1"/>
              <a:t>programming</a:t>
            </a:r>
            <a:r>
              <a:rPr lang="fr-FR" sz="1300" dirty="0"/>
              <a:t>)</a:t>
            </a:r>
          </a:p>
          <a:p>
            <a:pPr algn="just">
              <a:spcBef>
                <a:spcPts val="0"/>
              </a:spcBef>
            </a:pPr>
            <a:r>
              <a:rPr lang="fr-FR" sz="1300" b="1" dirty="0"/>
              <a:t>ROM: </a:t>
            </a:r>
            <a:r>
              <a:rPr lang="fr-FR" sz="1300" dirty="0"/>
              <a:t>Read-</a:t>
            </a:r>
            <a:r>
              <a:rPr lang="fr-FR" sz="1300" dirty="0" err="1"/>
              <a:t>Only</a:t>
            </a:r>
            <a:r>
              <a:rPr lang="fr-FR" sz="1300" dirty="0"/>
              <a:t> Memory (</a:t>
            </a:r>
            <a:r>
              <a:rPr lang="fr-FR" sz="1300" dirty="0" err="1"/>
              <a:t>only</a:t>
            </a:r>
            <a:r>
              <a:rPr lang="fr-FR" sz="1300" dirty="0"/>
              <a:t> </a:t>
            </a:r>
            <a:r>
              <a:rPr lang="fr-FR" sz="1300" dirty="0" err="1"/>
              <a:t>programmed</a:t>
            </a:r>
            <a:r>
              <a:rPr lang="fr-FR" sz="1300" dirty="0"/>
              <a:t> in </a:t>
            </a:r>
            <a:r>
              <a:rPr lang="fr-FR" sz="1300" dirty="0" err="1"/>
              <a:t>factory</a:t>
            </a:r>
            <a:r>
              <a:rPr lang="fr-FR" sz="1300" dirty="0"/>
              <a:t>)</a:t>
            </a:r>
          </a:p>
          <a:p>
            <a:pPr algn="just">
              <a:spcBef>
                <a:spcPts val="0"/>
              </a:spcBef>
            </a:pPr>
            <a:r>
              <a:rPr lang="fr-FR" sz="1300" b="1" dirty="0"/>
              <a:t>FGMOS: </a:t>
            </a:r>
            <a:r>
              <a:rPr lang="fr-FR" sz="1300" dirty="0" err="1"/>
              <a:t>Floating</a:t>
            </a:r>
            <a:r>
              <a:rPr lang="fr-FR" sz="1300" dirty="0"/>
              <a:t> </a:t>
            </a:r>
            <a:r>
              <a:rPr lang="fr-FR" sz="1300" dirty="0" err="1"/>
              <a:t>Gate</a:t>
            </a:r>
            <a:r>
              <a:rPr lang="fr-FR" sz="1300" dirty="0"/>
              <a:t> </a:t>
            </a:r>
            <a:r>
              <a:rPr lang="fr-FR" sz="1300" dirty="0" err="1"/>
              <a:t>Mostfet</a:t>
            </a:r>
            <a:endParaRPr lang="fr-FR" sz="1300" dirty="0"/>
          </a:p>
          <a:p>
            <a:pPr algn="just">
              <a:spcBef>
                <a:spcPts val="0"/>
              </a:spcBef>
            </a:pPr>
            <a:r>
              <a:rPr lang="fr-FR" sz="1300" b="1" dirty="0"/>
              <a:t>ITM: </a:t>
            </a:r>
            <a:r>
              <a:rPr lang="fr-FR" sz="1300" dirty="0"/>
              <a:t>Instrumentation Trace </a:t>
            </a:r>
            <a:r>
              <a:rPr lang="fr-FR" sz="1300" dirty="0" err="1"/>
              <a:t>Macrocell</a:t>
            </a:r>
            <a:r>
              <a:rPr lang="fr-FR" sz="1300" dirty="0"/>
              <a:t>  </a:t>
            </a:r>
            <a:r>
              <a:rPr lang="fr-FR" sz="1300" dirty="0">
                <a:hlinkClick r:id="rId2"/>
              </a:rPr>
              <a:t>https://orbcode.org/orbuculum/single-wire-output/</a:t>
            </a:r>
            <a:r>
              <a:rPr lang="fr-FR" sz="1300" dirty="0"/>
              <a:t> </a:t>
            </a:r>
          </a:p>
          <a:p>
            <a:pPr algn="just">
              <a:spcBef>
                <a:spcPts val="0"/>
              </a:spcBef>
            </a:pPr>
            <a:r>
              <a:rPr lang="fr-FR" sz="1300" b="1" dirty="0"/>
              <a:t>ETM: </a:t>
            </a:r>
            <a:r>
              <a:rPr lang="fr-FR" sz="1300" dirty="0"/>
              <a:t>Embedded Trace </a:t>
            </a:r>
            <a:r>
              <a:rPr lang="fr-FR" sz="1300" dirty="0" err="1"/>
              <a:t>Macrocell</a:t>
            </a:r>
            <a:r>
              <a:rPr lang="fr-FR" sz="1300" dirty="0"/>
              <a:t> (</a:t>
            </a:r>
            <a:r>
              <a:rPr lang="en-US" sz="1400" dirty="0"/>
              <a:t>full instruction-level trace recorder) </a:t>
            </a:r>
            <a:r>
              <a:rPr lang="en-US" sz="1400" dirty="0">
                <a:hlinkClick r:id="rId2"/>
              </a:rPr>
              <a:t>https://orbcode.org/orbuculum/single-wire-output/</a:t>
            </a:r>
            <a:r>
              <a:rPr lang="en-US" sz="1400" dirty="0"/>
              <a:t> </a:t>
            </a:r>
            <a:endParaRPr lang="en-US" sz="1300" b="1" dirty="0"/>
          </a:p>
          <a:p>
            <a:pPr>
              <a:spcBef>
                <a:spcPts val="100"/>
              </a:spcBef>
            </a:pPr>
            <a:r>
              <a:rPr lang="en-US" sz="1300" b="1" dirty="0"/>
              <a:t>SWO: </a:t>
            </a:r>
            <a:r>
              <a:rPr lang="en-US" sz="1300" dirty="0"/>
              <a:t>Single Wire Output (</a:t>
            </a:r>
            <a:r>
              <a:rPr lang="en-US" sz="1400" dirty="0"/>
              <a:t>one-pin debug channel that sends trace data) part of SWD and relies on ITM</a:t>
            </a:r>
          </a:p>
          <a:p>
            <a:pPr>
              <a:spcBef>
                <a:spcPts val="100"/>
              </a:spcBef>
            </a:pPr>
            <a:r>
              <a:rPr lang="en-US" sz="1400" b="1" dirty="0"/>
              <a:t>SWD: </a:t>
            </a:r>
            <a:r>
              <a:rPr lang="en-US" sz="1400" dirty="0"/>
              <a:t>Serial Wire Viewer </a:t>
            </a:r>
          </a:p>
          <a:p>
            <a:pPr>
              <a:spcBef>
                <a:spcPts val="100"/>
              </a:spcBef>
            </a:pPr>
            <a:r>
              <a:rPr lang="en-US" sz="1400" b="1" dirty="0" err="1"/>
              <a:t>OpenOCD</a:t>
            </a:r>
            <a:r>
              <a:rPr lang="en-US" sz="1400" b="1" dirty="0"/>
              <a:t>: </a:t>
            </a:r>
            <a:r>
              <a:rPr lang="en-US" sz="1400" dirty="0"/>
              <a:t>Open On-Chip Debugger</a:t>
            </a:r>
          </a:p>
          <a:p>
            <a:pPr>
              <a:spcBef>
                <a:spcPts val="100"/>
              </a:spcBef>
            </a:pPr>
            <a:r>
              <a:rPr lang="en-US" sz="1400" b="1" dirty="0"/>
              <a:t>GDB: </a:t>
            </a:r>
            <a:r>
              <a:rPr lang="en-US" sz="1400" dirty="0"/>
              <a:t>Gnu </a:t>
            </a:r>
            <a:r>
              <a:rPr lang="en-US" sz="1400" dirty="0" err="1"/>
              <a:t>DeBuger</a:t>
            </a:r>
            <a:r>
              <a:rPr lang="en-US" sz="1400" dirty="0"/>
              <a:t> (connect to the MCU </a:t>
            </a:r>
            <a:r>
              <a:rPr lang="en-US" sz="1400" dirty="0" err="1"/>
              <a:t>throught</a:t>
            </a:r>
            <a:r>
              <a:rPr lang="en-US" sz="1400" dirty="0"/>
              <a:t> GDB server - e.g., ST-Link GDB server, J-Link GDB server, </a:t>
            </a:r>
            <a:br>
              <a:rPr lang="en-US" sz="1400" dirty="0"/>
            </a:br>
            <a:r>
              <a:rPr lang="en-US" sz="1400" dirty="0"/>
              <a:t>or </a:t>
            </a:r>
            <a:r>
              <a:rPr lang="en-US" sz="1400" dirty="0" err="1"/>
              <a:t>OpenOCD</a:t>
            </a:r>
            <a:r>
              <a:rPr lang="en-US" sz="1400" dirty="0"/>
              <a:t>)</a:t>
            </a:r>
          </a:p>
          <a:p>
            <a:pPr>
              <a:spcBef>
                <a:spcPts val="100"/>
              </a:spcBef>
            </a:pPr>
            <a:r>
              <a:rPr lang="en-US" sz="1400" b="1" dirty="0"/>
              <a:t>DWT: </a:t>
            </a:r>
            <a:r>
              <a:rPr lang="en-US" sz="1400" dirty="0"/>
              <a:t>Data Watchpoint &amp; Trace</a:t>
            </a:r>
          </a:p>
          <a:p>
            <a:pPr>
              <a:spcBef>
                <a:spcPts val="100"/>
              </a:spcBef>
            </a:pPr>
            <a:r>
              <a:rPr lang="en-US" sz="1400" b="1" dirty="0"/>
              <a:t>TPIU: </a:t>
            </a:r>
            <a:r>
              <a:rPr lang="en-US" sz="1400" dirty="0"/>
              <a:t>Trace Port Interface Unit </a:t>
            </a:r>
            <a:r>
              <a:rPr lang="en-US" sz="1400" dirty="0">
                <a:hlinkClick r:id="rId2"/>
              </a:rPr>
              <a:t>https://orbcode.org/orbuculum/single-wire-output/</a:t>
            </a:r>
            <a:r>
              <a:rPr lang="en-US" sz="1400" dirty="0"/>
              <a:t> </a:t>
            </a:r>
          </a:p>
          <a:p>
            <a:pPr>
              <a:spcBef>
                <a:spcPts val="100"/>
              </a:spcBef>
            </a:pPr>
            <a:r>
              <a:rPr lang="en-US" sz="1400" b="1" dirty="0"/>
              <a:t>APB: </a:t>
            </a:r>
            <a:r>
              <a:rPr lang="en-US" sz="1400" dirty="0"/>
              <a:t>ARM Peripheral Bus</a:t>
            </a:r>
            <a:endParaRPr lang="en-US" sz="1300" b="1" dirty="0"/>
          </a:p>
          <a:p>
            <a:pPr>
              <a:spcBef>
                <a:spcPts val="100"/>
              </a:spcBef>
            </a:pPr>
            <a:r>
              <a:rPr lang="en-US" sz="1300" b="1" dirty="0"/>
              <a:t>TLA: </a:t>
            </a:r>
            <a:r>
              <a:rPr lang="en-US" sz="1300" dirty="0"/>
              <a:t>Three Layer Acronyms</a:t>
            </a:r>
          </a:p>
          <a:p>
            <a:pPr>
              <a:spcBef>
                <a:spcPts val="100"/>
              </a:spcBef>
            </a:pPr>
            <a:r>
              <a:rPr lang="en-US" sz="1300" b="1" dirty="0"/>
              <a:t>NRZ: </a:t>
            </a:r>
            <a:r>
              <a:rPr lang="en-US" sz="1300" dirty="0"/>
              <a:t>Non-Return to Zero</a:t>
            </a:r>
          </a:p>
          <a:p>
            <a:pPr>
              <a:spcBef>
                <a:spcPts val="100"/>
              </a:spcBef>
            </a:pPr>
            <a:r>
              <a:rPr lang="en-US" sz="1300" b="1" dirty="0"/>
              <a:t>RZ</a:t>
            </a:r>
            <a:r>
              <a:rPr lang="en-US" sz="1300" dirty="0"/>
              <a:t>: Return to Zero</a:t>
            </a:r>
          </a:p>
          <a:p>
            <a:pPr>
              <a:spcBef>
                <a:spcPts val="100"/>
              </a:spcBef>
            </a:pPr>
            <a:r>
              <a:rPr lang="en-US" sz="1300" b="1" dirty="0"/>
              <a:t>ELF: </a:t>
            </a:r>
            <a:r>
              <a:rPr lang="en-US" sz="1300" dirty="0"/>
              <a:t>Executable and Linkable Format (.out, .o, .elf)</a:t>
            </a:r>
          </a:p>
          <a:p>
            <a:pPr>
              <a:spcBef>
                <a:spcPts val="100"/>
              </a:spcBef>
            </a:pPr>
            <a:r>
              <a:rPr lang="en-US" sz="1300" b="1" dirty="0"/>
              <a:t>LMA: </a:t>
            </a:r>
            <a:r>
              <a:rPr lang="en-US" sz="1300" dirty="0"/>
              <a:t>Load Memory Adress </a:t>
            </a:r>
            <a:r>
              <a:rPr lang="en-US" sz="1300" dirty="0">
                <a:hlinkClick r:id="rId3"/>
              </a:rPr>
              <a:t>https://embeddedartistry.com/fieldmanual-terms/load-memory-address/</a:t>
            </a:r>
            <a:r>
              <a:rPr lang="en-US" sz="1300" dirty="0"/>
              <a:t> </a:t>
            </a:r>
          </a:p>
          <a:p>
            <a:pPr>
              <a:spcBef>
                <a:spcPts val="100"/>
              </a:spcBef>
            </a:pPr>
            <a:r>
              <a:rPr lang="en-US" sz="1300" b="1" dirty="0"/>
              <a:t>VMA: </a:t>
            </a:r>
            <a:r>
              <a:rPr lang="en-US" sz="1300" dirty="0"/>
              <a:t>Virtual Memory Adress </a:t>
            </a:r>
            <a:r>
              <a:rPr lang="en-US" sz="1300" dirty="0">
                <a:hlinkClick r:id="rId3"/>
              </a:rPr>
              <a:t>https://embeddedartistry.com/fieldmanual-terms/load-memory-address/</a:t>
            </a:r>
            <a:r>
              <a:rPr lang="en-US" sz="1300" dirty="0"/>
              <a:t> </a:t>
            </a:r>
          </a:p>
          <a:p>
            <a:pPr>
              <a:spcBef>
                <a:spcPts val="100"/>
              </a:spcBef>
            </a:pPr>
            <a:r>
              <a:rPr lang="en-US" sz="1300" b="1" dirty="0" err="1"/>
              <a:t>ld</a:t>
            </a:r>
            <a:r>
              <a:rPr lang="en-US" sz="1300" b="1" dirty="0"/>
              <a:t>: </a:t>
            </a:r>
            <a:r>
              <a:rPr lang="en-US" sz="1300" dirty="0"/>
              <a:t>loader -&gt;</a:t>
            </a:r>
            <a:r>
              <a:rPr lang="en-US" sz="1300" b="1" dirty="0"/>
              <a:t> </a:t>
            </a:r>
            <a:r>
              <a:rPr lang="en-US" sz="1300" dirty="0"/>
              <a:t>Linker script for GNU (.</a:t>
            </a:r>
            <a:r>
              <a:rPr lang="en-US" sz="1300" dirty="0" err="1"/>
              <a:t>ld</a:t>
            </a:r>
            <a:r>
              <a:rPr lang="en-US" sz="1300" dirty="0"/>
              <a:t>)</a:t>
            </a:r>
          </a:p>
          <a:p>
            <a:pPr>
              <a:spcBef>
                <a:spcPts val="100"/>
              </a:spcBef>
            </a:pPr>
            <a:r>
              <a:rPr lang="en-US" sz="1300" b="1" dirty="0"/>
              <a:t>POSIX: </a:t>
            </a:r>
            <a:r>
              <a:rPr lang="en-US" sz="1300" dirty="0"/>
              <a:t>Portable Operating System Interface</a:t>
            </a:r>
          </a:p>
          <a:p>
            <a:pPr>
              <a:spcBef>
                <a:spcPts val="100"/>
              </a:spcBef>
            </a:pPr>
            <a:r>
              <a:rPr lang="en-US" sz="1300" b="1" dirty="0"/>
              <a:t>LLVM: </a:t>
            </a:r>
            <a:r>
              <a:rPr lang="en-US" sz="1300" dirty="0"/>
              <a:t>Not an acronym but the full name</a:t>
            </a:r>
          </a:p>
          <a:p>
            <a:pPr>
              <a:spcBef>
                <a:spcPts val="100"/>
              </a:spcBef>
            </a:pPr>
            <a:r>
              <a:rPr lang="en-US" sz="1300" b="1" dirty="0"/>
              <a:t>cc: </a:t>
            </a:r>
            <a:r>
              <a:rPr lang="en-US" sz="1300" dirty="0"/>
              <a:t>C Compiler</a:t>
            </a:r>
          </a:p>
          <a:p>
            <a:pPr>
              <a:spcBef>
                <a:spcPts val="100"/>
              </a:spcBef>
            </a:pPr>
            <a:r>
              <a:rPr lang="en-US" sz="1300" b="1" dirty="0"/>
              <a:t>as: </a:t>
            </a:r>
            <a:r>
              <a:rPr lang="en-US" sz="1300" dirty="0" err="1"/>
              <a:t>ASsembler</a:t>
            </a:r>
            <a:endParaRPr lang="en-US" sz="1300" dirty="0"/>
          </a:p>
          <a:p>
            <a:pPr>
              <a:spcBef>
                <a:spcPts val="100"/>
              </a:spcBef>
            </a:pPr>
            <a:r>
              <a:rPr lang="en-US" sz="1300" b="1" dirty="0"/>
              <a:t>nm</a:t>
            </a:r>
            <a:r>
              <a:rPr lang="en-US" sz="1300" dirty="0"/>
              <a:t>: </a:t>
            </a:r>
            <a:r>
              <a:rPr lang="en-US" sz="1300" dirty="0" err="1"/>
              <a:t>NaMes</a:t>
            </a:r>
            <a:r>
              <a:rPr lang="en-US" sz="1300" dirty="0"/>
              <a:t> </a:t>
            </a:r>
          </a:p>
          <a:p>
            <a:pPr>
              <a:spcBef>
                <a:spcPts val="100"/>
              </a:spcBef>
            </a:pPr>
            <a:r>
              <a:rPr lang="en-US" sz="1300" b="1" dirty="0" err="1"/>
              <a:t>ar</a:t>
            </a:r>
            <a:r>
              <a:rPr lang="en-US" sz="1300" b="1" dirty="0"/>
              <a:t>: </a:t>
            </a:r>
            <a:r>
              <a:rPr lang="en-US" sz="1300" dirty="0"/>
              <a:t>Archiver</a:t>
            </a:r>
          </a:p>
          <a:p>
            <a:pPr>
              <a:spcBef>
                <a:spcPts val="100"/>
              </a:spcBef>
            </a:pPr>
            <a:r>
              <a:rPr lang="en-US" sz="1300" b="1" dirty="0"/>
              <a:t>.s: </a:t>
            </a:r>
            <a:r>
              <a:rPr lang="en-US" sz="1300" dirty="0"/>
              <a:t>assembly file</a:t>
            </a:r>
          </a:p>
          <a:p>
            <a:pPr>
              <a:spcBef>
                <a:spcPts val="100"/>
              </a:spcBef>
            </a:pPr>
            <a:endParaRPr lang="en-US" sz="1300" b="1" dirty="0"/>
          </a:p>
          <a:p>
            <a:pPr>
              <a:spcBef>
                <a:spcPts val="100"/>
              </a:spcBef>
            </a:pPr>
            <a:endParaRPr lang="en-US" sz="1300" dirty="0"/>
          </a:p>
        </p:txBody>
      </p:sp>
      <p:pic>
        <p:nvPicPr>
          <p:cNvPr id="5" name="Image 4">
            <a:extLst>
              <a:ext uri="{FF2B5EF4-FFF2-40B4-BE49-F238E27FC236}">
                <a16:creationId xmlns:a16="http://schemas.microsoft.com/office/drawing/2014/main" id="{B0DDB025-F73B-0F37-92A1-5CD1EB50F70F}"/>
              </a:ext>
            </a:extLst>
          </p:cNvPr>
          <p:cNvPicPr>
            <a:picLocks noChangeAspect="1"/>
          </p:cNvPicPr>
          <p:nvPr/>
        </p:nvPicPr>
        <p:blipFill>
          <a:blip r:embed="rId4"/>
          <a:stretch>
            <a:fillRect/>
          </a:stretch>
        </p:blipFill>
        <p:spPr>
          <a:xfrm>
            <a:off x="8152687" y="98242"/>
            <a:ext cx="3845799" cy="1696327"/>
          </a:xfrm>
          <a:prstGeom prst="rect">
            <a:avLst/>
          </a:prstGeom>
        </p:spPr>
      </p:pic>
      <p:pic>
        <p:nvPicPr>
          <p:cNvPr id="7" name="Image 6">
            <a:extLst>
              <a:ext uri="{FF2B5EF4-FFF2-40B4-BE49-F238E27FC236}">
                <a16:creationId xmlns:a16="http://schemas.microsoft.com/office/drawing/2014/main" id="{4F8A7FCC-6C05-A23B-9631-1EAFE16CE961}"/>
              </a:ext>
            </a:extLst>
          </p:cNvPr>
          <p:cNvPicPr>
            <a:picLocks noChangeAspect="1"/>
          </p:cNvPicPr>
          <p:nvPr/>
        </p:nvPicPr>
        <p:blipFill>
          <a:blip r:embed="rId5"/>
          <a:stretch>
            <a:fillRect/>
          </a:stretch>
        </p:blipFill>
        <p:spPr>
          <a:xfrm>
            <a:off x="8758426" y="1816003"/>
            <a:ext cx="3240060" cy="1883420"/>
          </a:xfrm>
          <a:prstGeom prst="rect">
            <a:avLst/>
          </a:prstGeom>
        </p:spPr>
      </p:pic>
    </p:spTree>
    <p:extLst>
      <p:ext uri="{BB962C8B-B14F-4D97-AF65-F5344CB8AC3E}">
        <p14:creationId xmlns:p14="http://schemas.microsoft.com/office/powerpoint/2010/main" val="2734594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1BFE-E084-4B20-8858-F8D7A95ECE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7BB0A9-5D26-4668-F37B-9C26024FEEEB}"/>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B237B503-522E-64F6-8DE6-3FCF527F57CE}"/>
              </a:ext>
            </a:extLst>
          </p:cNvPr>
          <p:cNvSpPr txBox="1">
            <a:spLocks/>
          </p:cNvSpPr>
          <p:nvPr/>
        </p:nvSpPr>
        <p:spPr>
          <a:xfrm>
            <a:off x="193514" y="692366"/>
            <a:ext cx="11899605" cy="601411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fr-FR" sz="1300" b="1" dirty="0"/>
              <a:t>.o: </a:t>
            </a:r>
            <a:r>
              <a:rPr lang="fr-FR" sz="1300" dirty="0"/>
              <a:t>Object file (</a:t>
            </a:r>
            <a:r>
              <a:rPr lang="fr-FR" sz="1300" dirty="0" err="1"/>
              <a:t>etymology</a:t>
            </a:r>
            <a:r>
              <a:rPr lang="fr-FR" sz="1300" dirty="0"/>
              <a:t> </a:t>
            </a:r>
            <a:r>
              <a:rPr lang="fr-FR" sz="1300" dirty="0" err="1"/>
              <a:t>is</a:t>
            </a:r>
            <a:r>
              <a:rPr lang="fr-FR" sz="1300" dirty="0"/>
              <a:t> </a:t>
            </a:r>
            <a:r>
              <a:rPr lang="fr-FR" sz="1300" dirty="0" err="1"/>
              <a:t>lost</a:t>
            </a:r>
            <a:r>
              <a:rPr lang="fr-FR" sz="1300" dirty="0"/>
              <a:t> to time), </a:t>
            </a:r>
            <a:r>
              <a:rPr lang="fr-FR" sz="1300" dirty="0" err="1"/>
              <a:t>is</a:t>
            </a:r>
            <a:r>
              <a:rPr lang="fr-FR" sz="1300" dirty="0"/>
              <a:t> </a:t>
            </a:r>
            <a:r>
              <a:rPr lang="fr-FR" sz="1300" dirty="0" err="1"/>
              <a:t>assembled</a:t>
            </a:r>
            <a:r>
              <a:rPr lang="fr-FR" sz="1300" dirty="0"/>
              <a:t> </a:t>
            </a:r>
            <a:r>
              <a:rPr lang="fr-FR" sz="1300" dirty="0" err="1"/>
              <a:t>from</a:t>
            </a:r>
            <a:r>
              <a:rPr lang="fr-FR" sz="1300" dirty="0"/>
              <a:t> .s </a:t>
            </a:r>
            <a:r>
              <a:rPr lang="fr-FR" sz="1300" dirty="0" err="1"/>
              <a:t>assembly</a:t>
            </a:r>
            <a:r>
              <a:rPr lang="fr-FR" sz="1300" dirty="0"/>
              <a:t> files by the assembler</a:t>
            </a:r>
          </a:p>
          <a:p>
            <a:pPr>
              <a:spcBef>
                <a:spcPts val="100"/>
              </a:spcBef>
            </a:pPr>
            <a:r>
              <a:rPr lang="fr-FR" sz="1300" b="1" dirty="0"/>
              <a:t>IR (e.g., GCC IR, LLVM IR): </a:t>
            </a:r>
            <a:r>
              <a:rPr lang="fr-FR" sz="1300" dirty="0"/>
              <a:t> </a:t>
            </a:r>
            <a:r>
              <a:rPr lang="fr-FR" sz="1300" dirty="0" err="1"/>
              <a:t>Intermediate</a:t>
            </a:r>
            <a:r>
              <a:rPr lang="fr-FR" sz="1300" dirty="0"/>
              <a:t> </a:t>
            </a:r>
            <a:r>
              <a:rPr lang="fr-FR" sz="1300" dirty="0" err="1"/>
              <a:t>Representation</a:t>
            </a:r>
            <a:r>
              <a:rPr lang="fr-FR" sz="1300" dirty="0"/>
              <a:t>, </a:t>
            </a:r>
            <a:r>
              <a:rPr lang="fr-FR" sz="1300" dirty="0" err="1"/>
              <a:t>between</a:t>
            </a:r>
            <a:r>
              <a:rPr lang="fr-FR" sz="1300" dirty="0"/>
              <a:t> .c and </a:t>
            </a:r>
            <a:r>
              <a:rPr lang="fr-FR" sz="1300" dirty="0" err="1"/>
              <a:t>assembly</a:t>
            </a:r>
            <a:endParaRPr lang="fr-FR" sz="1300" dirty="0"/>
          </a:p>
          <a:p>
            <a:pPr>
              <a:spcBef>
                <a:spcPts val="100"/>
              </a:spcBef>
            </a:pPr>
            <a:r>
              <a:rPr lang="en-US" sz="1300" b="1" dirty="0"/>
              <a:t>CTR: </a:t>
            </a:r>
            <a:r>
              <a:rPr lang="en-US" sz="1300" dirty="0"/>
              <a:t>C </a:t>
            </a:r>
            <a:r>
              <a:rPr lang="en-US" sz="1300" dirty="0" err="1"/>
              <a:t>RunTime</a:t>
            </a:r>
            <a:r>
              <a:rPr lang="en-US" sz="1300" dirty="0"/>
              <a:t> objects</a:t>
            </a:r>
          </a:p>
          <a:p>
            <a:pPr>
              <a:spcBef>
                <a:spcPts val="100"/>
              </a:spcBef>
            </a:pPr>
            <a:r>
              <a:rPr lang="en-US" sz="1300" b="1" dirty="0"/>
              <a:t>PHDR: </a:t>
            </a:r>
            <a:r>
              <a:rPr lang="en-US" sz="1300" dirty="0"/>
              <a:t>Program </a:t>
            </a:r>
            <a:r>
              <a:rPr lang="en-US" sz="1300" dirty="0" err="1"/>
              <a:t>HeaDeR</a:t>
            </a:r>
            <a:endParaRPr lang="en-US" sz="1300" dirty="0"/>
          </a:p>
          <a:p>
            <a:pPr>
              <a:spcBef>
                <a:spcPts val="100"/>
              </a:spcBef>
            </a:pPr>
            <a:r>
              <a:rPr lang="en-US" sz="1300" b="1" dirty="0"/>
              <a:t>Export/import of symbols</a:t>
            </a:r>
            <a:r>
              <a:rPr lang="en-US" sz="1300" dirty="0"/>
              <a:t>: dynamic linking of shared libraries (.</a:t>
            </a:r>
            <a:r>
              <a:rPr lang="en-US" sz="1300" dirty="0" err="1"/>
              <a:t>dll</a:t>
            </a:r>
            <a:r>
              <a:rPr lang="en-US" sz="1300" dirty="0"/>
              <a:t> on windows, .so on </a:t>
            </a:r>
            <a:r>
              <a:rPr lang="en-US" sz="1300" dirty="0" err="1"/>
              <a:t>linux</a:t>
            </a:r>
            <a:r>
              <a:rPr lang="en-US" sz="1300" dirty="0"/>
              <a:t>) to find and use each other variables at </a:t>
            </a:r>
            <a:r>
              <a:rPr lang="en-US" sz="1300" dirty="0" err="1"/>
              <a:t>loadtime</a:t>
            </a:r>
            <a:r>
              <a:rPr lang="en-US" sz="1300" dirty="0"/>
              <a:t> or runtime. It include a specific section (.</a:t>
            </a:r>
            <a:r>
              <a:rPr lang="en-US" sz="1300" dirty="0" err="1"/>
              <a:t>dynsym</a:t>
            </a:r>
            <a:r>
              <a:rPr lang="en-US" sz="1300" dirty="0"/>
              <a:t> in ELF) that serves as a public </a:t>
            </a:r>
            <a:r>
              <a:rPr lang="en-US" sz="1300" dirty="0" err="1"/>
              <a:t>registery</a:t>
            </a:r>
            <a:r>
              <a:rPr lang="en-US" sz="1300" dirty="0"/>
              <a:t> of available symbols. Offer an API which removes the need to recompile the calling program. The import is asked by the importing program to the dynamic linker (run by the OS) on start. Static libraries cannot do it, no resolution at runtime. On MCU, it is rarely implemented as it requires a lot of </a:t>
            </a:r>
            <a:r>
              <a:rPr lang="en-US" sz="1300" dirty="0" err="1"/>
              <a:t>ressources</a:t>
            </a:r>
            <a:endParaRPr lang="en-US" sz="1300" dirty="0"/>
          </a:p>
          <a:p>
            <a:pPr>
              <a:spcBef>
                <a:spcPts val="100"/>
              </a:spcBef>
            </a:pPr>
            <a:r>
              <a:rPr lang="en-US" sz="1300" b="1" dirty="0"/>
              <a:t>CAN</a:t>
            </a:r>
            <a:r>
              <a:rPr lang="en-US" sz="1300" dirty="0"/>
              <a:t>: Controller Area Network, a message-based communication protocol</a:t>
            </a:r>
          </a:p>
          <a:p>
            <a:pPr>
              <a:spcBef>
                <a:spcPts val="100"/>
              </a:spcBef>
            </a:pPr>
            <a:r>
              <a:rPr lang="en-US" sz="1300" b="1" dirty="0"/>
              <a:t>VCS</a:t>
            </a:r>
            <a:r>
              <a:rPr lang="en-US" sz="1300" dirty="0"/>
              <a:t>: Version control system</a:t>
            </a:r>
          </a:p>
          <a:p>
            <a:pPr>
              <a:spcBef>
                <a:spcPts val="100"/>
              </a:spcBef>
            </a:pPr>
            <a:r>
              <a:rPr lang="en-US" sz="1300" b="1" dirty="0"/>
              <a:t>LTO</a:t>
            </a:r>
            <a:r>
              <a:rPr lang="en-US" sz="1300" dirty="0"/>
              <a:t>: Link Time Optimization</a:t>
            </a:r>
          </a:p>
          <a:p>
            <a:pPr>
              <a:spcBef>
                <a:spcPts val="100"/>
              </a:spcBef>
            </a:pPr>
            <a:r>
              <a:rPr lang="en-US" sz="1300" b="1" dirty="0"/>
              <a:t>Soft Float ABI</a:t>
            </a:r>
            <a:r>
              <a:rPr lang="en-US" sz="1300" dirty="0"/>
              <a:t>: floating point operation are handled by software using library calls rather than by using HW such as with a FPU, used for compatibility issues</a:t>
            </a:r>
          </a:p>
          <a:p>
            <a:pPr>
              <a:spcBef>
                <a:spcPts val="100"/>
              </a:spcBef>
            </a:pPr>
            <a:r>
              <a:rPr lang="en-US" sz="1300" b="1" dirty="0"/>
              <a:t>ABI</a:t>
            </a:r>
            <a:r>
              <a:rPr lang="en-US" sz="1300" dirty="0"/>
              <a:t>: Application Binary Interface</a:t>
            </a:r>
          </a:p>
          <a:p>
            <a:pPr>
              <a:spcBef>
                <a:spcPts val="100"/>
              </a:spcBef>
            </a:pPr>
            <a:r>
              <a:rPr lang="en-US" sz="1300" b="1" dirty="0"/>
              <a:t>MPU</a:t>
            </a:r>
            <a:r>
              <a:rPr lang="en-US" sz="1300" dirty="0"/>
              <a:t>: Memory Protection Unit</a:t>
            </a:r>
          </a:p>
          <a:p>
            <a:pPr>
              <a:spcBef>
                <a:spcPts val="100"/>
              </a:spcBef>
            </a:pPr>
            <a:r>
              <a:rPr lang="en-US" sz="1300" b="1" dirty="0" err="1"/>
              <a:t>Semihosting</a:t>
            </a:r>
            <a:r>
              <a:rPr lang="en-US" sz="1300" dirty="0"/>
              <a:t>: mechanism that allows code running on a embedded system to use the graphic facilities of a host computer via the debugger</a:t>
            </a:r>
          </a:p>
          <a:p>
            <a:pPr>
              <a:spcBef>
                <a:spcPts val="100"/>
              </a:spcBef>
            </a:pPr>
            <a:r>
              <a:rPr lang="en-US" sz="1300" dirty="0"/>
              <a:t>Stack overflow</a:t>
            </a:r>
          </a:p>
          <a:p>
            <a:pPr>
              <a:spcBef>
                <a:spcPts val="100"/>
              </a:spcBef>
            </a:pPr>
            <a:r>
              <a:rPr lang="en-US" sz="1300" b="1" dirty="0"/>
              <a:t>ITM</a:t>
            </a:r>
            <a:r>
              <a:rPr lang="en-US" sz="1300" dirty="0"/>
              <a:t>: IBM Tivoli Monitoring</a:t>
            </a:r>
          </a:p>
          <a:p>
            <a:pPr>
              <a:spcBef>
                <a:spcPts val="100"/>
              </a:spcBef>
            </a:pPr>
            <a:r>
              <a:rPr lang="en-US" sz="1300" b="1" dirty="0"/>
              <a:t>DFU</a:t>
            </a:r>
            <a:r>
              <a:rPr lang="en-US" sz="1300" dirty="0"/>
              <a:t>: Device Firmware Update</a:t>
            </a:r>
          </a:p>
          <a:p>
            <a:pPr>
              <a:spcBef>
                <a:spcPts val="100"/>
              </a:spcBef>
            </a:pPr>
            <a:r>
              <a:rPr lang="en-US" sz="1300" b="1" dirty="0"/>
              <a:t>NVIC</a:t>
            </a:r>
            <a:r>
              <a:rPr lang="en-US" sz="1300" dirty="0"/>
              <a:t>: Nested Vector Interrupt Controller</a:t>
            </a:r>
          </a:p>
          <a:p>
            <a:pPr>
              <a:spcBef>
                <a:spcPts val="100"/>
              </a:spcBef>
            </a:pPr>
            <a:r>
              <a:rPr lang="en-US" sz="1300" b="1" dirty="0"/>
              <a:t>WFI</a:t>
            </a:r>
            <a:r>
              <a:rPr lang="en-US" sz="1300" dirty="0"/>
              <a:t>: Wait For Interrupt, low power mode </a:t>
            </a:r>
            <a:r>
              <a:rPr lang="en-US" sz="1300" dirty="0" err="1"/>
              <a:t>waker</a:t>
            </a:r>
            <a:endParaRPr lang="en-US" sz="1300" dirty="0"/>
          </a:p>
          <a:p>
            <a:pPr>
              <a:spcBef>
                <a:spcPts val="100"/>
              </a:spcBef>
            </a:pPr>
            <a:r>
              <a:rPr lang="en-US" sz="1300" b="1" dirty="0"/>
              <a:t>CCM</a:t>
            </a:r>
            <a:r>
              <a:rPr lang="en-US" sz="1300" dirty="0"/>
              <a:t>: Core Coupled Memory</a:t>
            </a:r>
          </a:p>
          <a:p>
            <a:pPr>
              <a:spcBef>
                <a:spcPts val="100"/>
              </a:spcBef>
            </a:pPr>
            <a:r>
              <a:rPr lang="en-US" sz="1300" b="1" dirty="0"/>
              <a:t>SRAM</a:t>
            </a:r>
            <a:r>
              <a:rPr lang="en-US" sz="1300" dirty="0"/>
              <a:t>: Static Random </a:t>
            </a:r>
            <a:r>
              <a:rPr lang="en-US" sz="1300" dirty="0" err="1"/>
              <a:t>Acces</a:t>
            </a:r>
            <a:r>
              <a:rPr lang="en-US" sz="1300" dirty="0"/>
              <a:t> Memory</a:t>
            </a:r>
          </a:p>
          <a:p>
            <a:pPr>
              <a:spcBef>
                <a:spcPts val="100"/>
              </a:spcBef>
            </a:pPr>
            <a:r>
              <a:rPr lang="en-US" sz="1300" b="1" dirty="0"/>
              <a:t>MTE</a:t>
            </a:r>
            <a:r>
              <a:rPr lang="en-US" sz="1300" dirty="0"/>
              <a:t>: Memory Tagging Extension</a:t>
            </a:r>
          </a:p>
          <a:p>
            <a:pPr>
              <a:spcBef>
                <a:spcPts val="100"/>
              </a:spcBef>
            </a:pPr>
            <a:r>
              <a:rPr lang="en-US" sz="1300" b="1" dirty="0"/>
              <a:t>PMU</a:t>
            </a:r>
            <a:r>
              <a:rPr lang="en-US" sz="1300" dirty="0"/>
              <a:t>: Performance Monitoring Unit</a:t>
            </a:r>
          </a:p>
          <a:p>
            <a:pPr>
              <a:spcBef>
                <a:spcPts val="100"/>
              </a:spcBef>
            </a:pPr>
            <a:r>
              <a:rPr lang="en-US" sz="1300" b="1" dirty="0"/>
              <a:t>Dump Stack</a:t>
            </a:r>
            <a:r>
              <a:rPr lang="en-US" sz="1300" dirty="0"/>
              <a:t>: stack traceback which is printed on crashes</a:t>
            </a:r>
          </a:p>
          <a:p>
            <a:pPr>
              <a:spcBef>
                <a:spcPts val="100"/>
              </a:spcBef>
            </a:pPr>
            <a:r>
              <a:rPr lang="en-US" sz="1300" dirty="0"/>
              <a:t>SMP: </a:t>
            </a:r>
            <a:r>
              <a:rPr lang="en-US" sz="1300" dirty="0" err="1"/>
              <a:t>Symetric</a:t>
            </a:r>
            <a:r>
              <a:rPr lang="en-US" sz="1300" dirty="0"/>
              <a:t> </a:t>
            </a:r>
            <a:r>
              <a:rPr lang="en-US" sz="1300" dirty="0" err="1"/>
              <a:t>MultiProcessing</a:t>
            </a:r>
            <a:r>
              <a:rPr lang="en-US" sz="1300" dirty="0"/>
              <a:t>, </a:t>
            </a:r>
          </a:p>
          <a:p>
            <a:pPr>
              <a:spcBef>
                <a:spcPts val="100"/>
              </a:spcBef>
            </a:pPr>
            <a:r>
              <a:rPr lang="en-US" sz="1300" dirty="0"/>
              <a:t>NTP: Network Time Protocol server synch the clock on a device with a network clock</a:t>
            </a:r>
          </a:p>
          <a:p>
            <a:pPr>
              <a:spcBef>
                <a:spcPts val="100"/>
              </a:spcBef>
            </a:pPr>
            <a:r>
              <a:rPr lang="en-US" sz="1300" dirty="0"/>
              <a:t>IRQ chain: IRQ linked to numerous devices ask these device is they produce the interrupt so we know which is responsile7</a:t>
            </a:r>
          </a:p>
          <a:p>
            <a:pPr>
              <a:spcBef>
                <a:spcPts val="100"/>
              </a:spcBef>
            </a:pPr>
            <a:r>
              <a:rPr lang="en-US" sz="1300" dirty="0"/>
              <a:t>IRQ </a:t>
            </a:r>
            <a:r>
              <a:rPr lang="en-US" sz="1300" dirty="0" err="1"/>
              <a:t>wqueue</a:t>
            </a:r>
            <a:r>
              <a:rPr lang="en-US" sz="1300" dirty="0"/>
              <a:t>: Working queue</a:t>
            </a:r>
          </a:p>
          <a:p>
            <a:pPr>
              <a:spcBef>
                <a:spcPts val="100"/>
              </a:spcBef>
            </a:pPr>
            <a:r>
              <a:rPr lang="en-US" sz="1300" dirty="0"/>
              <a:t>ISR: Interrupt Service Routine</a:t>
            </a:r>
          </a:p>
        </p:txBody>
      </p:sp>
    </p:spTree>
    <p:extLst>
      <p:ext uri="{BB962C8B-B14F-4D97-AF65-F5344CB8AC3E}">
        <p14:creationId xmlns:p14="http://schemas.microsoft.com/office/powerpoint/2010/main" val="2739723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2BC2-CBC9-CBFC-D07E-198276E927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4D5DE68-1868-397E-30A2-78288961BFEF}"/>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F113D702-15F7-0414-7A53-582DA81A68ED}"/>
              </a:ext>
            </a:extLst>
          </p:cNvPr>
          <p:cNvSpPr txBox="1">
            <a:spLocks/>
          </p:cNvSpPr>
          <p:nvPr/>
        </p:nvSpPr>
        <p:spPr>
          <a:xfrm>
            <a:off x="193514" y="692366"/>
            <a:ext cx="11899605" cy="601411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fr-FR" sz="1300" b="1" dirty="0"/>
              <a:t>IRQ stack: </a:t>
            </a:r>
            <a:r>
              <a:rPr lang="fr-FR" sz="1300" dirty="0" err="1"/>
              <a:t>dedicated</a:t>
            </a:r>
            <a:r>
              <a:rPr lang="fr-FR" sz="1300" dirty="0"/>
              <a:t> memory </a:t>
            </a:r>
            <a:r>
              <a:rPr lang="fr-FR" sz="1300" dirty="0" err="1"/>
              <a:t>region</a:t>
            </a:r>
            <a:r>
              <a:rPr lang="fr-FR" sz="1300" dirty="0"/>
              <a:t> to </a:t>
            </a:r>
            <a:r>
              <a:rPr lang="fr-FR" sz="1300" dirty="0" err="1"/>
              <a:t>handle</a:t>
            </a:r>
            <a:r>
              <a:rPr lang="fr-FR" sz="1300" dirty="0"/>
              <a:t> </a:t>
            </a:r>
            <a:r>
              <a:rPr lang="fr-FR" sz="1300" dirty="0" err="1"/>
              <a:t>interrupts</a:t>
            </a:r>
            <a:r>
              <a:rPr lang="fr-FR" sz="1300" dirty="0"/>
              <a:t> and exceptions</a:t>
            </a:r>
          </a:p>
          <a:p>
            <a:pPr>
              <a:spcBef>
                <a:spcPts val="100"/>
              </a:spcBef>
            </a:pPr>
            <a:r>
              <a:rPr lang="fr-FR" sz="1300" b="1" dirty="0"/>
              <a:t>Main thread stack size</a:t>
            </a:r>
            <a:r>
              <a:rPr lang="fr-FR" sz="1300" dirty="0"/>
              <a:t>: size of the memory </a:t>
            </a:r>
            <a:r>
              <a:rPr lang="fr-FR" sz="1300" dirty="0" err="1"/>
              <a:t>allocated</a:t>
            </a:r>
            <a:r>
              <a:rPr lang="fr-FR" sz="1300" dirty="0"/>
              <a:t> to the first thread/ process </a:t>
            </a:r>
            <a:r>
              <a:rPr lang="fr-FR" sz="1300" dirty="0" err="1"/>
              <a:t>that</a:t>
            </a:r>
            <a:r>
              <a:rPr lang="fr-FR" sz="1300" dirty="0"/>
              <a:t> start </a:t>
            </a:r>
            <a:r>
              <a:rPr lang="fr-FR" sz="1300" dirty="0" err="1"/>
              <a:t>afet</a:t>
            </a:r>
            <a:r>
              <a:rPr lang="fr-FR" sz="1300" dirty="0"/>
              <a:t> </a:t>
            </a:r>
            <a:r>
              <a:rPr lang="fr-FR" sz="1300" dirty="0" err="1"/>
              <a:t>board</a:t>
            </a:r>
            <a:r>
              <a:rPr lang="fr-FR" sz="1300" dirty="0"/>
              <a:t> init</a:t>
            </a:r>
          </a:p>
          <a:p>
            <a:pPr>
              <a:spcBef>
                <a:spcPts val="100"/>
              </a:spcBef>
            </a:pPr>
            <a:r>
              <a:rPr lang="fr-FR" sz="1300" b="1" dirty="0" err="1"/>
              <a:t>Sporadic</a:t>
            </a:r>
            <a:r>
              <a:rPr lang="fr-FR" sz="1300" b="1" dirty="0"/>
              <a:t> </a:t>
            </a:r>
            <a:r>
              <a:rPr lang="fr-FR" sz="1300" b="1" dirty="0" err="1"/>
              <a:t>scheduling</a:t>
            </a:r>
            <a:r>
              <a:rPr lang="en-US" sz="1300" dirty="0"/>
              <a:t>: scheduling algo that handle </a:t>
            </a:r>
            <a:r>
              <a:rPr lang="en-US" sz="1300" dirty="0" err="1"/>
              <a:t>aperidic</a:t>
            </a:r>
            <a:r>
              <a:rPr lang="en-US" sz="1300" dirty="0"/>
              <a:t> task in a system that mostly rely on periodic scheduling</a:t>
            </a:r>
          </a:p>
          <a:p>
            <a:pPr>
              <a:spcBef>
                <a:spcPts val="100"/>
              </a:spcBef>
            </a:pPr>
            <a:r>
              <a:rPr lang="en-US" sz="1300" b="1" dirty="0"/>
              <a:t>PC</a:t>
            </a:r>
            <a:r>
              <a:rPr lang="en-US" sz="1300" dirty="0"/>
              <a:t>: Program Counter</a:t>
            </a:r>
          </a:p>
          <a:p>
            <a:pPr>
              <a:spcBef>
                <a:spcPts val="100"/>
              </a:spcBef>
            </a:pPr>
            <a:r>
              <a:rPr lang="en-US" sz="1300" b="1" dirty="0"/>
              <a:t>Literal pool</a:t>
            </a:r>
            <a:r>
              <a:rPr lang="en-US" sz="1300" dirty="0"/>
              <a:t>: region of memory (often places immediately after the function/code that use it) that store constant data (literals) that CPU instruction cannot encode directly. In ARM, it is used to load large constant as immediate values are limited to 8 or 12bits (and instruction to 16 or 32bits)</a:t>
            </a:r>
          </a:p>
          <a:p>
            <a:pPr>
              <a:spcBef>
                <a:spcPts val="100"/>
              </a:spcBef>
            </a:pPr>
            <a:r>
              <a:rPr lang="en-US" sz="1300" b="1" dirty="0"/>
              <a:t>Immediate value</a:t>
            </a:r>
            <a:r>
              <a:rPr lang="en-US" sz="1300" dirty="0"/>
              <a:t>: constant number that is encoded directly in the instruction</a:t>
            </a:r>
          </a:p>
          <a:p>
            <a:pPr>
              <a:spcBef>
                <a:spcPts val="100"/>
              </a:spcBef>
            </a:pPr>
            <a:r>
              <a:rPr lang="en-US" sz="1300" b="1" dirty="0" err="1"/>
              <a:t>rx</a:t>
            </a:r>
            <a:r>
              <a:rPr lang="en-US" sz="1300" dirty="0"/>
              <a:t>: Read-only and </a:t>
            </a:r>
            <a:r>
              <a:rPr lang="en-US" sz="1300" dirty="0" err="1"/>
              <a:t>eXecutable</a:t>
            </a:r>
            <a:endParaRPr lang="en-US" sz="1300" dirty="0"/>
          </a:p>
          <a:p>
            <a:pPr>
              <a:spcBef>
                <a:spcPts val="100"/>
              </a:spcBef>
            </a:pPr>
            <a:r>
              <a:rPr lang="en-US" sz="1300" b="1" dirty="0"/>
              <a:t>LMA</a:t>
            </a:r>
            <a:r>
              <a:rPr lang="en-US" sz="1300" dirty="0"/>
              <a:t>: Load Memory Adress</a:t>
            </a:r>
          </a:p>
          <a:p>
            <a:pPr>
              <a:spcBef>
                <a:spcPts val="100"/>
              </a:spcBef>
            </a:pPr>
            <a:r>
              <a:rPr lang="en-US" sz="1300" b="1" dirty="0"/>
              <a:t>NMI</a:t>
            </a:r>
            <a:r>
              <a:rPr lang="en-US" sz="1300" dirty="0"/>
              <a:t>: Non-Maskable Interrupt</a:t>
            </a:r>
          </a:p>
          <a:p>
            <a:pPr>
              <a:spcBef>
                <a:spcPts val="100"/>
              </a:spcBef>
            </a:pPr>
            <a:r>
              <a:rPr lang="en-US" sz="1300" b="1" dirty="0"/>
              <a:t>RTC</a:t>
            </a:r>
            <a:r>
              <a:rPr lang="en-US" sz="1300" dirty="0"/>
              <a:t>: Real Time Clock</a:t>
            </a:r>
          </a:p>
          <a:p>
            <a:pPr>
              <a:spcBef>
                <a:spcPts val="100"/>
              </a:spcBef>
            </a:pPr>
            <a:r>
              <a:rPr lang="en-US" sz="1300" b="1" dirty="0"/>
              <a:t>MCO</a:t>
            </a:r>
            <a:r>
              <a:rPr lang="en-US" sz="1300" dirty="0"/>
              <a:t>: Microcontroller Clock Output</a:t>
            </a:r>
          </a:p>
          <a:p>
            <a:pPr>
              <a:spcBef>
                <a:spcPts val="100"/>
              </a:spcBef>
            </a:pPr>
            <a:r>
              <a:rPr lang="en-US" sz="1300" b="1" dirty="0"/>
              <a:t>UB</a:t>
            </a:r>
            <a:r>
              <a:rPr lang="en-US" sz="1300" dirty="0"/>
              <a:t>: Undefined Behavior</a:t>
            </a:r>
          </a:p>
          <a:p>
            <a:pPr>
              <a:spcBef>
                <a:spcPts val="100"/>
              </a:spcBef>
            </a:pPr>
            <a:r>
              <a:rPr lang="en-US" sz="1300" b="1" dirty="0"/>
              <a:t>EPI</a:t>
            </a:r>
            <a:r>
              <a:rPr lang="en-US" sz="1300" dirty="0"/>
              <a:t>: External Peripheral Interface</a:t>
            </a:r>
          </a:p>
          <a:p>
            <a:pPr>
              <a:spcBef>
                <a:spcPts val="100"/>
              </a:spcBef>
            </a:pPr>
            <a:r>
              <a:rPr lang="en-US" sz="1300" b="1" dirty="0"/>
              <a:t>Dynamic Polymorphism</a:t>
            </a:r>
            <a:r>
              <a:rPr lang="en-US" sz="1300" dirty="0"/>
              <a:t>:</a:t>
            </a:r>
          </a:p>
          <a:p>
            <a:pPr lvl="1">
              <a:spcBef>
                <a:spcPts val="100"/>
              </a:spcBef>
            </a:pPr>
            <a:r>
              <a:rPr lang="en-US" sz="900" dirty="0"/>
              <a:t>Interfaces</a:t>
            </a:r>
          </a:p>
          <a:p>
            <a:pPr lvl="1">
              <a:spcBef>
                <a:spcPts val="100"/>
              </a:spcBef>
            </a:pPr>
            <a:r>
              <a:rPr lang="en-US" sz="900" dirty="0" err="1"/>
              <a:t>Realisations</a:t>
            </a:r>
            <a:endParaRPr lang="en-US" sz="900" dirty="0"/>
          </a:p>
          <a:p>
            <a:pPr>
              <a:spcBef>
                <a:spcPts val="100"/>
              </a:spcBef>
            </a:pPr>
            <a:r>
              <a:rPr lang="en-US" sz="1300" b="1" dirty="0"/>
              <a:t>RTTI</a:t>
            </a:r>
            <a:r>
              <a:rPr lang="en-US" sz="1300" dirty="0"/>
              <a:t>: Run-Time Type Information, increase the binary size as information on each objects have to be explicated</a:t>
            </a:r>
          </a:p>
          <a:p>
            <a:pPr lvl="1">
              <a:spcBef>
                <a:spcPts val="100"/>
              </a:spcBef>
            </a:pPr>
            <a:r>
              <a:rPr lang="en-US" sz="900" dirty="0"/>
              <a:t>-</a:t>
            </a:r>
            <a:r>
              <a:rPr lang="en-US" sz="900" dirty="0" err="1"/>
              <a:t>fno-rtti</a:t>
            </a:r>
            <a:r>
              <a:rPr lang="en-US" sz="900" dirty="0"/>
              <a:t>, </a:t>
            </a:r>
            <a:r>
              <a:rPr lang="en-US" sz="900" dirty="0" err="1"/>
              <a:t>gcc</a:t>
            </a:r>
            <a:r>
              <a:rPr lang="en-US" sz="900" dirty="0"/>
              <a:t> tag to disable it</a:t>
            </a:r>
          </a:p>
          <a:p>
            <a:pPr>
              <a:spcBef>
                <a:spcPts val="100"/>
              </a:spcBef>
            </a:pPr>
            <a:r>
              <a:rPr lang="en-US" sz="1300" b="1" dirty="0" err="1"/>
              <a:t>Constexpr</a:t>
            </a:r>
            <a:r>
              <a:rPr lang="en-US" sz="1300" b="1" dirty="0"/>
              <a:t> </a:t>
            </a:r>
          </a:p>
          <a:p>
            <a:pPr>
              <a:spcBef>
                <a:spcPts val="100"/>
              </a:spcBef>
            </a:pPr>
            <a:r>
              <a:rPr lang="en-US" sz="1300" b="1" dirty="0" err="1"/>
              <a:t>Consteval</a:t>
            </a:r>
            <a:endParaRPr lang="en-US" sz="1300" b="1" dirty="0"/>
          </a:p>
          <a:p>
            <a:pPr>
              <a:spcBef>
                <a:spcPts val="100"/>
              </a:spcBef>
            </a:pPr>
            <a:r>
              <a:rPr lang="en-US" sz="1300" b="1" dirty="0"/>
              <a:t>Mangled named:</a:t>
            </a:r>
            <a:r>
              <a:rPr lang="en-US" sz="1300" dirty="0"/>
              <a:t> Names after linking and compiling </a:t>
            </a:r>
          </a:p>
          <a:p>
            <a:pPr>
              <a:spcBef>
                <a:spcPts val="100"/>
              </a:spcBef>
            </a:pPr>
            <a:r>
              <a:rPr lang="fr-FR" sz="1300" b="1" dirty="0"/>
              <a:t>ABI</a:t>
            </a:r>
            <a:r>
              <a:rPr lang="fr-FR" sz="1300" dirty="0"/>
              <a:t>: Application </a:t>
            </a:r>
            <a:r>
              <a:rPr lang="fr-FR" sz="1300" dirty="0" err="1"/>
              <a:t>Binary</a:t>
            </a:r>
            <a:r>
              <a:rPr lang="fr-FR" sz="1300" dirty="0"/>
              <a:t> Interface</a:t>
            </a:r>
          </a:p>
          <a:p>
            <a:pPr>
              <a:spcBef>
                <a:spcPts val="100"/>
              </a:spcBef>
            </a:pPr>
            <a:r>
              <a:rPr lang="fr-FR" sz="1300" b="1" dirty="0"/>
              <a:t>Atomic</a:t>
            </a:r>
            <a:r>
              <a:rPr lang="fr-FR" sz="1300" dirty="0"/>
              <a:t>: </a:t>
            </a:r>
            <a:r>
              <a:rPr lang="en-US" sz="1400" dirty="0"/>
              <a:t>means the operation completes in one indivisible step - it cannot be interrupted or partially completed.</a:t>
            </a:r>
          </a:p>
          <a:p>
            <a:pPr>
              <a:spcBef>
                <a:spcPts val="100"/>
              </a:spcBef>
            </a:pPr>
            <a:r>
              <a:rPr lang="en-US" sz="1400" b="1" dirty="0"/>
              <a:t>BSSR</a:t>
            </a:r>
            <a:r>
              <a:rPr lang="en-US" sz="1400" dirty="0"/>
              <a:t>: Bit Set/Reset Register</a:t>
            </a:r>
          </a:p>
          <a:p>
            <a:pPr>
              <a:spcBef>
                <a:spcPts val="100"/>
              </a:spcBef>
            </a:pPr>
            <a:r>
              <a:rPr lang="en-US" sz="1400" b="1" dirty="0"/>
              <a:t>ODR</a:t>
            </a:r>
            <a:r>
              <a:rPr lang="en-US" sz="1400" dirty="0"/>
              <a:t>: Output Data Register</a:t>
            </a:r>
          </a:p>
          <a:p>
            <a:pPr>
              <a:spcBef>
                <a:spcPts val="100"/>
              </a:spcBef>
            </a:pPr>
            <a:r>
              <a:rPr lang="en-US" sz="1400" b="1" dirty="0"/>
              <a:t>IWDG</a:t>
            </a:r>
            <a:r>
              <a:rPr lang="en-US" sz="1400" dirty="0"/>
              <a:t>: Independent </a:t>
            </a:r>
            <a:r>
              <a:rPr lang="en-US" sz="1400" dirty="0" err="1"/>
              <a:t>WatchDOG</a:t>
            </a:r>
            <a:r>
              <a:rPr lang="en-US" sz="1400" dirty="0"/>
              <a:t>, reset MCU if not periodically refreshed, runs on independent clock and survives to Sleep mode</a:t>
            </a:r>
          </a:p>
          <a:p>
            <a:pPr>
              <a:spcBef>
                <a:spcPts val="100"/>
              </a:spcBef>
            </a:pPr>
            <a:r>
              <a:rPr lang="en-US" sz="1400" b="1" dirty="0"/>
              <a:t>NVIC</a:t>
            </a:r>
            <a:r>
              <a:rPr lang="en-US" sz="1400" dirty="0"/>
              <a:t>: Nested Vectored Interrupt Controller, manage interrupts priorities and enables/disables interrupts</a:t>
            </a:r>
          </a:p>
          <a:p>
            <a:pPr>
              <a:spcBef>
                <a:spcPts val="100"/>
              </a:spcBef>
            </a:pPr>
            <a:r>
              <a:rPr lang="en-US" sz="1400" b="1" dirty="0"/>
              <a:t>RCC</a:t>
            </a:r>
            <a:r>
              <a:rPr lang="en-US" sz="1400" dirty="0"/>
              <a:t>: Reset Clock Control, configures all system clocks (HSE, HIS, PLL, …) </a:t>
            </a:r>
          </a:p>
          <a:p>
            <a:pPr>
              <a:spcBef>
                <a:spcPts val="100"/>
              </a:spcBef>
            </a:pPr>
            <a:r>
              <a:rPr lang="en-US" sz="1400" b="1" dirty="0"/>
              <a:t>WWDG</a:t>
            </a:r>
            <a:r>
              <a:rPr lang="en-US" sz="1400" dirty="0"/>
              <a:t>: Window </a:t>
            </a:r>
            <a:r>
              <a:rPr lang="en-US" sz="1400" dirty="0" err="1"/>
              <a:t>WatchDOG</a:t>
            </a:r>
            <a:r>
              <a:rPr lang="en-US" sz="1400" dirty="0"/>
              <a:t>, </a:t>
            </a:r>
          </a:p>
          <a:p>
            <a:pPr>
              <a:spcBef>
                <a:spcPts val="100"/>
              </a:spcBef>
            </a:pPr>
            <a:endParaRPr lang="fr-FR" sz="1300" dirty="0"/>
          </a:p>
        </p:txBody>
      </p:sp>
      <p:pic>
        <p:nvPicPr>
          <p:cNvPr id="5" name="Image 4">
            <a:extLst>
              <a:ext uri="{FF2B5EF4-FFF2-40B4-BE49-F238E27FC236}">
                <a16:creationId xmlns:a16="http://schemas.microsoft.com/office/drawing/2014/main" id="{4F7F4A7A-7973-EE71-D5B8-E8B479995744}"/>
              </a:ext>
            </a:extLst>
          </p:cNvPr>
          <p:cNvPicPr>
            <a:picLocks noChangeAspect="1"/>
          </p:cNvPicPr>
          <p:nvPr/>
        </p:nvPicPr>
        <p:blipFill>
          <a:blip r:embed="rId2"/>
          <a:stretch>
            <a:fillRect/>
          </a:stretch>
        </p:blipFill>
        <p:spPr>
          <a:xfrm>
            <a:off x="8387951" y="2459420"/>
            <a:ext cx="3437688" cy="2367128"/>
          </a:xfrm>
          <a:prstGeom prst="rect">
            <a:avLst/>
          </a:prstGeom>
        </p:spPr>
      </p:pic>
    </p:spTree>
    <p:extLst>
      <p:ext uri="{BB962C8B-B14F-4D97-AF65-F5344CB8AC3E}">
        <p14:creationId xmlns:p14="http://schemas.microsoft.com/office/powerpoint/2010/main" val="4140015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E97CB-6A68-0361-5D08-015E72268E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F59295-6207-52A0-C6CB-39C1533EB6E5}"/>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6873DC66-33D9-5969-0226-A2130626E8F5}"/>
              </a:ext>
            </a:extLst>
          </p:cNvPr>
          <p:cNvSpPr txBox="1">
            <a:spLocks/>
          </p:cNvSpPr>
          <p:nvPr/>
        </p:nvSpPr>
        <p:spPr>
          <a:xfrm>
            <a:off x="193514" y="692366"/>
            <a:ext cx="11899605" cy="601411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fr-FR" sz="1300" b="1" dirty="0"/>
              <a:t>APB </a:t>
            </a:r>
            <a:r>
              <a:rPr lang="fr-FR" sz="1300" b="1" dirty="0" err="1"/>
              <a:t>clock</a:t>
            </a:r>
            <a:r>
              <a:rPr lang="fr-FR" sz="1300" dirty="0"/>
              <a:t>: Advance </a:t>
            </a:r>
            <a:r>
              <a:rPr lang="fr-FR" sz="1300" dirty="0" err="1"/>
              <a:t>Peripheral</a:t>
            </a:r>
            <a:r>
              <a:rPr lang="fr-FR" sz="1300" dirty="0"/>
              <a:t> Bus </a:t>
            </a:r>
            <a:r>
              <a:rPr lang="fr-FR" sz="1300" dirty="0" err="1"/>
              <a:t>clock</a:t>
            </a:r>
            <a:endParaRPr lang="en-US" sz="1300" dirty="0"/>
          </a:p>
          <a:p>
            <a:pPr>
              <a:spcBef>
                <a:spcPts val="100"/>
              </a:spcBef>
            </a:pPr>
            <a:r>
              <a:rPr lang="en-US" sz="1300" b="1" dirty="0"/>
              <a:t>HSE: </a:t>
            </a:r>
            <a:r>
              <a:rPr lang="en-US" sz="1300" dirty="0"/>
              <a:t>High-Speed External (oscillator)</a:t>
            </a:r>
          </a:p>
          <a:p>
            <a:pPr>
              <a:spcBef>
                <a:spcPts val="100"/>
              </a:spcBef>
            </a:pPr>
            <a:r>
              <a:rPr lang="en-US" sz="1300" b="1" dirty="0"/>
              <a:t>HSI: </a:t>
            </a:r>
            <a:r>
              <a:rPr lang="en-US" sz="1300" dirty="0"/>
              <a:t>High-Speed Internal (oscillator)</a:t>
            </a:r>
          </a:p>
          <a:p>
            <a:pPr>
              <a:spcBef>
                <a:spcPts val="100"/>
              </a:spcBef>
            </a:pPr>
            <a:r>
              <a:rPr lang="en-US" sz="1300" b="1" dirty="0"/>
              <a:t>PLL: </a:t>
            </a:r>
            <a:r>
              <a:rPr lang="en-US" sz="1300" dirty="0"/>
              <a:t>Phase-Locked Loop (Generate High frequency clock from HSI or HSE) ex: 16MHz HSI -&gt; 170MHz </a:t>
            </a:r>
          </a:p>
          <a:p>
            <a:pPr lvl="1">
              <a:spcBef>
                <a:spcPts val="100"/>
              </a:spcBef>
            </a:pPr>
            <a:r>
              <a:rPr lang="en-US" sz="900" dirty="0"/>
              <a:t>PLLM: Divider</a:t>
            </a:r>
          </a:p>
          <a:p>
            <a:pPr lvl="1">
              <a:spcBef>
                <a:spcPts val="100"/>
              </a:spcBef>
            </a:pPr>
            <a:r>
              <a:rPr lang="en-US" sz="900" dirty="0"/>
              <a:t>PLLN: Multiplier</a:t>
            </a:r>
          </a:p>
          <a:p>
            <a:pPr lvl="1">
              <a:spcBef>
                <a:spcPts val="100"/>
              </a:spcBef>
            </a:pPr>
            <a:r>
              <a:rPr lang="en-US" sz="900" dirty="0"/>
              <a:t>PLLP: For ADC, SAI</a:t>
            </a:r>
          </a:p>
          <a:p>
            <a:pPr lvl="1">
              <a:spcBef>
                <a:spcPts val="100"/>
              </a:spcBef>
            </a:pPr>
            <a:r>
              <a:rPr lang="en-US" sz="900" dirty="0"/>
              <a:t>PLLQ: Used for USB, RNG, FDCAN</a:t>
            </a:r>
          </a:p>
          <a:p>
            <a:pPr lvl="1">
              <a:spcBef>
                <a:spcPts val="100"/>
              </a:spcBef>
            </a:pPr>
            <a:r>
              <a:rPr lang="en-US" sz="900" dirty="0"/>
              <a:t>PLL</a:t>
            </a:r>
          </a:p>
          <a:p>
            <a:pPr>
              <a:spcBef>
                <a:spcPts val="100"/>
              </a:spcBef>
            </a:pPr>
            <a:r>
              <a:rPr lang="en-US" sz="1300" b="1" dirty="0"/>
              <a:t>LSI: </a:t>
            </a:r>
            <a:r>
              <a:rPr lang="en-US" sz="1300" dirty="0"/>
              <a:t>Low-Speed Internal</a:t>
            </a:r>
          </a:p>
          <a:p>
            <a:pPr>
              <a:spcBef>
                <a:spcPts val="100"/>
              </a:spcBef>
            </a:pPr>
            <a:r>
              <a:rPr lang="en-US" sz="1300" b="1" dirty="0"/>
              <a:t>LSE: </a:t>
            </a:r>
            <a:r>
              <a:rPr lang="en-US" sz="1300" dirty="0"/>
              <a:t>Low-Speed External</a:t>
            </a:r>
          </a:p>
          <a:p>
            <a:pPr>
              <a:spcBef>
                <a:spcPts val="100"/>
              </a:spcBef>
            </a:pPr>
            <a:r>
              <a:rPr lang="en-US" sz="1300" b="1" dirty="0"/>
              <a:t>VCO</a:t>
            </a:r>
            <a:r>
              <a:rPr lang="en-US" sz="1300" dirty="0"/>
              <a:t>: Voltage Controlled Oscillator</a:t>
            </a:r>
          </a:p>
          <a:p>
            <a:pPr>
              <a:spcBef>
                <a:spcPts val="100"/>
              </a:spcBef>
            </a:pPr>
            <a:r>
              <a:rPr lang="en-US" sz="1300" b="1" dirty="0"/>
              <a:t>MSC</a:t>
            </a:r>
            <a:r>
              <a:rPr lang="en-US" sz="1300" dirty="0"/>
              <a:t>: </a:t>
            </a:r>
            <a:r>
              <a:rPr lang="en-US" sz="1400" dirty="0"/>
              <a:t>MCU Support Package</a:t>
            </a:r>
          </a:p>
          <a:p>
            <a:pPr>
              <a:spcBef>
                <a:spcPts val="100"/>
              </a:spcBef>
            </a:pPr>
            <a:r>
              <a:rPr lang="en-US" sz="1400" b="1" dirty="0"/>
              <a:t>Edge Aligned PWM</a:t>
            </a:r>
          </a:p>
          <a:p>
            <a:pPr>
              <a:spcBef>
                <a:spcPts val="100"/>
              </a:spcBef>
            </a:pPr>
            <a:r>
              <a:rPr lang="en-US" sz="1400" b="1" dirty="0"/>
              <a:t>Edge Aligned PWM with deadtime insertion</a:t>
            </a:r>
          </a:p>
          <a:p>
            <a:pPr>
              <a:spcBef>
                <a:spcPts val="100"/>
              </a:spcBef>
            </a:pPr>
            <a:r>
              <a:rPr lang="en-US" sz="1400" b="1" dirty="0"/>
              <a:t>Center aligned PWM</a:t>
            </a:r>
          </a:p>
          <a:p>
            <a:pPr>
              <a:spcBef>
                <a:spcPts val="100"/>
              </a:spcBef>
            </a:pPr>
            <a:r>
              <a:rPr lang="en-US" sz="1400" b="1" dirty="0"/>
              <a:t>RCR</a:t>
            </a:r>
            <a:r>
              <a:rPr lang="en-US" sz="1400" dirty="0"/>
              <a:t>: Repetition counter, can be used to oversample the PWM </a:t>
            </a:r>
          </a:p>
          <a:p>
            <a:pPr>
              <a:spcBef>
                <a:spcPts val="100"/>
              </a:spcBef>
            </a:pPr>
            <a:r>
              <a:rPr lang="en-US" sz="1400" b="1" dirty="0"/>
              <a:t>DP</a:t>
            </a:r>
            <a:r>
              <a:rPr lang="fr-FR" sz="1400" b="1" dirty="0"/>
              <a:t>WM</a:t>
            </a:r>
            <a:r>
              <a:rPr lang="fr-FR" sz="1400" dirty="0"/>
              <a:t>: </a:t>
            </a:r>
            <a:r>
              <a:rPr lang="fr-FR" sz="1400" dirty="0" err="1"/>
              <a:t>Discontinous</a:t>
            </a:r>
            <a:r>
              <a:rPr lang="fr-FR" sz="1400" dirty="0"/>
              <a:t> PWM</a:t>
            </a:r>
          </a:p>
          <a:p>
            <a:pPr>
              <a:spcBef>
                <a:spcPts val="100"/>
              </a:spcBef>
            </a:pPr>
            <a:r>
              <a:rPr lang="fr-FR" sz="1400" b="1" dirty="0" err="1"/>
              <a:t>Register</a:t>
            </a:r>
            <a:r>
              <a:rPr lang="fr-FR" sz="1400" b="1" dirty="0"/>
              <a:t> </a:t>
            </a:r>
            <a:r>
              <a:rPr lang="fr-FR" sz="1400" b="1" dirty="0" err="1"/>
              <a:t>Preloading</a:t>
            </a:r>
            <a:r>
              <a:rPr lang="fr-FR" sz="1400" dirty="0"/>
              <a:t>: </a:t>
            </a:r>
            <a:r>
              <a:rPr lang="fr-FR" sz="1400" dirty="0" err="1"/>
              <a:t>Allow</a:t>
            </a:r>
            <a:r>
              <a:rPr lang="fr-FR" sz="1400" dirty="0"/>
              <a:t> to </a:t>
            </a:r>
            <a:r>
              <a:rPr lang="fr-FR" sz="1400" dirty="0" err="1"/>
              <a:t>prewrite</a:t>
            </a:r>
            <a:r>
              <a:rPr lang="fr-FR" sz="1400" dirty="0"/>
              <a:t> </a:t>
            </a:r>
            <a:r>
              <a:rPr lang="fr-FR" sz="1400" dirty="0" err="1"/>
              <a:t>register</a:t>
            </a:r>
            <a:r>
              <a:rPr lang="fr-FR" sz="1400" dirty="0"/>
              <a:t> </a:t>
            </a:r>
            <a:r>
              <a:rPr lang="fr-FR" sz="1400" dirty="0" err="1"/>
              <a:t>before</a:t>
            </a:r>
            <a:r>
              <a:rPr lang="fr-FR" sz="1400" dirty="0"/>
              <a:t> </a:t>
            </a:r>
            <a:r>
              <a:rPr lang="fr-FR" sz="1400" dirty="0" err="1"/>
              <a:t>they</a:t>
            </a:r>
            <a:r>
              <a:rPr lang="fr-FR" sz="1400" dirty="0"/>
              <a:t> are </a:t>
            </a:r>
            <a:r>
              <a:rPr lang="fr-FR" sz="1400" dirty="0" err="1"/>
              <a:t>write</a:t>
            </a:r>
            <a:r>
              <a:rPr lang="fr-FR" sz="1400" dirty="0"/>
              <a:t> in an active (=</a:t>
            </a:r>
            <a:r>
              <a:rPr lang="fr-FR" sz="1400" dirty="0" err="1"/>
              <a:t>shadow</a:t>
            </a:r>
            <a:r>
              <a:rPr lang="fr-FR" sz="1400" dirty="0"/>
              <a:t>) </a:t>
            </a:r>
            <a:r>
              <a:rPr lang="fr-FR" sz="1400" dirty="0" err="1"/>
              <a:t>register</a:t>
            </a:r>
            <a:r>
              <a:rPr lang="fr-FR" sz="1400" dirty="0"/>
              <a:t> at a </a:t>
            </a:r>
            <a:r>
              <a:rPr lang="fr-FR" sz="1400" dirty="0" err="1"/>
              <a:t>specified</a:t>
            </a:r>
            <a:r>
              <a:rPr lang="fr-FR" sz="1400" dirty="0"/>
              <a:t> </a:t>
            </a:r>
            <a:r>
              <a:rPr lang="fr-FR" sz="1400" dirty="0" err="1"/>
              <a:t>event</a:t>
            </a:r>
            <a:r>
              <a:rPr lang="fr-FR" sz="1400" dirty="0"/>
              <a:t>. This </a:t>
            </a:r>
            <a:r>
              <a:rPr lang="fr-FR" sz="1400" dirty="0" err="1"/>
              <a:t>avoid</a:t>
            </a:r>
            <a:r>
              <a:rPr lang="fr-FR" sz="1400" dirty="0"/>
              <a:t> to have </a:t>
            </a:r>
            <a:r>
              <a:rPr lang="fr-FR" sz="1400" dirty="0" err="1"/>
              <a:t>only</a:t>
            </a:r>
            <a:r>
              <a:rPr lang="fr-FR" sz="1400" dirty="0"/>
              <a:t> a part of a </a:t>
            </a:r>
            <a:r>
              <a:rPr lang="fr-FR" sz="1400" dirty="0" err="1"/>
              <a:t>register</a:t>
            </a:r>
            <a:r>
              <a:rPr lang="fr-FR" sz="1400" dirty="0"/>
              <a:t> </a:t>
            </a:r>
            <a:r>
              <a:rPr lang="fr-FR" sz="1400" dirty="0" err="1"/>
              <a:t>write</a:t>
            </a:r>
            <a:r>
              <a:rPr lang="fr-FR" sz="1400" dirty="0"/>
              <a:t> </a:t>
            </a:r>
            <a:r>
              <a:rPr lang="fr-FR" sz="1400" dirty="0" err="1"/>
              <a:t>when</a:t>
            </a:r>
            <a:r>
              <a:rPr lang="fr-FR" sz="1400" dirty="0"/>
              <a:t> PWM start and the </a:t>
            </a:r>
            <a:r>
              <a:rPr lang="fr-FR" sz="1400" dirty="0" err="1"/>
              <a:t>other</a:t>
            </a:r>
            <a:r>
              <a:rPr lang="fr-FR" sz="1400" dirty="0"/>
              <a:t> at the end</a:t>
            </a:r>
          </a:p>
          <a:p>
            <a:pPr>
              <a:spcBef>
                <a:spcPts val="100"/>
              </a:spcBef>
            </a:pPr>
            <a:r>
              <a:rPr lang="fr-FR" sz="1400" b="1" dirty="0"/>
              <a:t>DMA </a:t>
            </a:r>
            <a:r>
              <a:rPr lang="fr-FR" sz="1400" b="1" dirty="0" err="1"/>
              <a:t>burst</a:t>
            </a:r>
            <a:r>
              <a:rPr lang="fr-FR" sz="1400" b="1" dirty="0"/>
              <a:t> for 0 </a:t>
            </a:r>
            <a:r>
              <a:rPr lang="fr-FR" sz="1400" b="1" dirty="0" err="1"/>
              <a:t>overhead</a:t>
            </a:r>
            <a:r>
              <a:rPr lang="fr-FR" sz="1400" b="1" dirty="0"/>
              <a:t> </a:t>
            </a:r>
            <a:r>
              <a:rPr lang="fr-FR" sz="1400" b="1" dirty="0" err="1"/>
              <a:t>register</a:t>
            </a:r>
            <a:r>
              <a:rPr lang="fr-FR" sz="1400" b="1" dirty="0"/>
              <a:t> updates</a:t>
            </a:r>
            <a:r>
              <a:rPr lang="fr-FR" sz="1400" dirty="0"/>
              <a:t>: DMA </a:t>
            </a:r>
            <a:r>
              <a:rPr lang="fr-FR" sz="1400" dirty="0" err="1"/>
              <a:t>is</a:t>
            </a:r>
            <a:r>
              <a:rPr lang="fr-FR" sz="1400" dirty="0"/>
              <a:t> </a:t>
            </a:r>
            <a:r>
              <a:rPr lang="fr-FR" sz="1400" dirty="0" err="1"/>
              <a:t>used</a:t>
            </a:r>
            <a:r>
              <a:rPr lang="fr-FR" sz="1400" dirty="0"/>
              <a:t> to store PWM value </a:t>
            </a:r>
            <a:r>
              <a:rPr lang="fr-FR" sz="1400" dirty="0" err="1"/>
              <a:t>until</a:t>
            </a:r>
            <a:r>
              <a:rPr lang="fr-FR" sz="1400" dirty="0"/>
              <a:t> time to </a:t>
            </a:r>
            <a:r>
              <a:rPr lang="fr-FR" sz="1400" dirty="0" err="1"/>
              <a:t>write</a:t>
            </a:r>
            <a:r>
              <a:rPr lang="fr-FR" sz="1400" dirty="0"/>
              <a:t> (TTW), </a:t>
            </a:r>
            <a:r>
              <a:rPr lang="fr-FR" sz="1400" dirty="0" err="1"/>
              <a:t>allowing</a:t>
            </a:r>
            <a:r>
              <a:rPr lang="fr-FR" sz="1400" dirty="0"/>
              <a:t> CPU to continue SW computation </a:t>
            </a:r>
            <a:r>
              <a:rPr lang="fr-FR" sz="1400" dirty="0" err="1"/>
              <a:t>without</a:t>
            </a:r>
            <a:r>
              <a:rPr lang="fr-FR" sz="1400" dirty="0"/>
              <a:t> </a:t>
            </a:r>
            <a:r>
              <a:rPr lang="fr-FR" sz="1400" dirty="0" err="1"/>
              <a:t>having</a:t>
            </a:r>
            <a:r>
              <a:rPr lang="fr-FR" sz="1400" dirty="0"/>
              <a:t> to care of </a:t>
            </a:r>
            <a:r>
              <a:rPr lang="fr-FR" sz="1400" dirty="0" err="1"/>
              <a:t>when</a:t>
            </a:r>
            <a:r>
              <a:rPr lang="fr-FR" sz="1400" dirty="0"/>
              <a:t> or how to </a:t>
            </a:r>
            <a:r>
              <a:rPr lang="fr-FR" sz="1400" dirty="0" err="1"/>
              <a:t>write</a:t>
            </a:r>
            <a:r>
              <a:rPr lang="fr-FR" sz="1400" dirty="0"/>
              <a:t> the data on the </a:t>
            </a:r>
            <a:r>
              <a:rPr lang="fr-FR" sz="1400" dirty="0" err="1"/>
              <a:t>event</a:t>
            </a:r>
            <a:r>
              <a:rPr lang="fr-FR" sz="1400" dirty="0"/>
              <a:t> </a:t>
            </a:r>
            <a:r>
              <a:rPr lang="fr-FR" sz="1400" dirty="0" err="1"/>
              <a:t>itsellf</a:t>
            </a:r>
            <a:endParaRPr lang="fr-FR" sz="1400" dirty="0"/>
          </a:p>
          <a:p>
            <a:pPr>
              <a:spcBef>
                <a:spcPts val="100"/>
              </a:spcBef>
            </a:pPr>
            <a:r>
              <a:rPr lang="fr-FR" sz="1400" b="1" dirty="0" err="1"/>
              <a:t>Synchronized</a:t>
            </a:r>
            <a:r>
              <a:rPr lang="fr-FR" sz="1400" b="1" dirty="0"/>
              <a:t> ADC </a:t>
            </a:r>
            <a:r>
              <a:rPr lang="fr-FR" sz="1400" b="1" dirty="0" err="1"/>
              <a:t>triggering</a:t>
            </a:r>
            <a:r>
              <a:rPr lang="fr-FR" sz="1400" b="1" dirty="0"/>
              <a:t> for 0 </a:t>
            </a:r>
            <a:r>
              <a:rPr lang="fr-FR" sz="1400" b="1" dirty="0" err="1"/>
              <a:t>overhead</a:t>
            </a:r>
            <a:r>
              <a:rPr lang="fr-FR" sz="1400" dirty="0"/>
              <a:t>: </a:t>
            </a:r>
            <a:r>
              <a:rPr lang="fr-FR" sz="1400" dirty="0" err="1"/>
              <a:t>Syncrhonise</a:t>
            </a:r>
            <a:r>
              <a:rPr lang="fr-FR" sz="1400" dirty="0"/>
              <a:t> PWM and the ADC </a:t>
            </a:r>
            <a:r>
              <a:rPr lang="fr-FR" sz="1400" dirty="0" err="1"/>
              <a:t>reading</a:t>
            </a:r>
            <a:r>
              <a:rPr lang="fr-FR" sz="1400" dirty="0"/>
              <a:t>, </a:t>
            </a:r>
            <a:r>
              <a:rPr lang="fr-FR" sz="1400" dirty="0" err="1"/>
              <a:t>allowing</a:t>
            </a:r>
            <a:r>
              <a:rPr lang="fr-FR" sz="1400" dirty="0"/>
              <a:t> 0 SW trigger </a:t>
            </a:r>
          </a:p>
          <a:p>
            <a:pPr>
              <a:spcBef>
                <a:spcPts val="100"/>
              </a:spcBef>
            </a:pPr>
            <a:r>
              <a:rPr lang="fr-FR" sz="1400" b="1" dirty="0"/>
              <a:t>Multiple Update in Center </a:t>
            </a:r>
            <a:r>
              <a:rPr lang="fr-FR" sz="1400" b="1" dirty="0" err="1"/>
              <a:t>Aligned</a:t>
            </a:r>
            <a:r>
              <a:rPr lang="fr-FR" sz="1400" b="1" dirty="0"/>
              <a:t> PWM</a:t>
            </a:r>
            <a:r>
              <a:rPr lang="fr-FR" sz="1400" dirty="0"/>
              <a:t>: </a:t>
            </a:r>
            <a:r>
              <a:rPr lang="fr-FR" sz="1400" dirty="0" err="1"/>
              <a:t>Only</a:t>
            </a:r>
            <a:r>
              <a:rPr lang="fr-FR" sz="1400" dirty="0"/>
              <a:t> </a:t>
            </a:r>
            <a:r>
              <a:rPr lang="fr-FR" sz="1400" dirty="0" err="1"/>
              <a:t>usefull</a:t>
            </a:r>
            <a:r>
              <a:rPr lang="fr-FR" sz="1400" dirty="0"/>
              <a:t> in double PWM configuration, permit to </a:t>
            </a:r>
            <a:r>
              <a:rPr lang="fr-FR" sz="1400" dirty="0" err="1"/>
              <a:t>avoid</a:t>
            </a:r>
            <a:r>
              <a:rPr lang="fr-FR" sz="1400" dirty="0"/>
              <a:t> </a:t>
            </a:r>
            <a:r>
              <a:rPr lang="fr-FR" sz="1400" dirty="0" err="1"/>
              <a:t>both</a:t>
            </a:r>
            <a:r>
              <a:rPr lang="fr-FR" sz="1400" dirty="0"/>
              <a:t> PWM to </a:t>
            </a:r>
            <a:r>
              <a:rPr lang="fr-FR" sz="1400" dirty="0" err="1"/>
              <a:t>be</a:t>
            </a:r>
            <a:r>
              <a:rPr lang="fr-FR" sz="1400" dirty="0"/>
              <a:t> trigger on the </a:t>
            </a:r>
            <a:r>
              <a:rPr lang="fr-FR" sz="1400" dirty="0" err="1"/>
              <a:t>same</a:t>
            </a:r>
            <a:r>
              <a:rPr lang="fr-FR" sz="1400" dirty="0"/>
              <a:t> </a:t>
            </a:r>
            <a:r>
              <a:rPr lang="fr-FR" sz="1400" dirty="0" err="1"/>
              <a:t>edge</a:t>
            </a:r>
            <a:r>
              <a:rPr lang="fr-FR" sz="1400" dirty="0"/>
              <a:t>, </a:t>
            </a:r>
            <a:r>
              <a:rPr lang="fr-FR" sz="1400" dirty="0" err="1"/>
              <a:t>which</a:t>
            </a:r>
            <a:r>
              <a:rPr lang="fr-FR" sz="1400" dirty="0"/>
              <a:t> </a:t>
            </a:r>
            <a:r>
              <a:rPr lang="fr-FR" sz="1400" dirty="0" err="1"/>
              <a:t>reduce</a:t>
            </a:r>
            <a:r>
              <a:rPr lang="fr-FR" sz="1400" dirty="0"/>
              <a:t> noise, </a:t>
            </a:r>
            <a:r>
              <a:rPr lang="fr-FR" sz="1400" dirty="0" err="1"/>
              <a:t>ripple</a:t>
            </a:r>
            <a:r>
              <a:rPr lang="fr-FR" sz="1400" dirty="0"/>
              <a:t>, … </a:t>
            </a:r>
            <a:r>
              <a:rPr lang="fr-FR" sz="1400" dirty="0" err="1"/>
              <a:t>also</a:t>
            </a:r>
            <a:r>
              <a:rPr lang="fr-FR" sz="1400" dirty="0"/>
              <a:t>, </a:t>
            </a:r>
            <a:r>
              <a:rPr lang="fr-FR" sz="1400" dirty="0" err="1"/>
              <a:t>allows</a:t>
            </a:r>
            <a:r>
              <a:rPr lang="fr-FR" sz="1400" dirty="0"/>
              <a:t> to </a:t>
            </a:r>
            <a:r>
              <a:rPr lang="fr-FR" sz="1400" dirty="0" err="1"/>
              <a:t>write</a:t>
            </a:r>
            <a:r>
              <a:rPr lang="fr-FR" sz="1400" dirty="0"/>
              <a:t> the cycle time </a:t>
            </a:r>
            <a:r>
              <a:rPr lang="fr-FR" sz="1400" dirty="0" err="1"/>
              <a:t>twice</a:t>
            </a:r>
            <a:r>
              <a:rPr lang="fr-FR" sz="1400" dirty="0"/>
              <a:t> per </a:t>
            </a:r>
            <a:r>
              <a:rPr lang="fr-FR" sz="1400" dirty="0" err="1"/>
              <a:t>electrical</a:t>
            </a:r>
            <a:r>
              <a:rPr lang="fr-FR" sz="1400" dirty="0"/>
              <a:t> cycle to double </a:t>
            </a:r>
            <a:r>
              <a:rPr lang="fr-FR" sz="1400" dirty="0" err="1"/>
              <a:t>resolution</a:t>
            </a:r>
            <a:endParaRPr lang="fr-FR" sz="1400" dirty="0"/>
          </a:p>
          <a:p>
            <a:pPr>
              <a:spcBef>
                <a:spcPts val="100"/>
              </a:spcBef>
            </a:pPr>
            <a:r>
              <a:rPr lang="fr-FR" sz="1400" b="1" dirty="0"/>
              <a:t>Multi-</a:t>
            </a:r>
            <a:r>
              <a:rPr lang="fr-FR" sz="1400" b="1" dirty="0" err="1"/>
              <a:t>Sample</a:t>
            </a:r>
            <a:r>
              <a:rPr lang="fr-FR" sz="1400" b="1" dirty="0"/>
              <a:t> </a:t>
            </a:r>
            <a:r>
              <a:rPr lang="fr-FR" sz="1400" b="1" dirty="0" err="1"/>
              <a:t>current</a:t>
            </a:r>
            <a:r>
              <a:rPr lang="fr-FR" sz="1400" b="1" dirty="0"/>
              <a:t> </a:t>
            </a:r>
            <a:r>
              <a:rPr lang="fr-FR" sz="1400" b="1" dirty="0" err="1"/>
              <a:t>sensing</a:t>
            </a:r>
            <a:r>
              <a:rPr lang="fr-FR" sz="1400" b="1" dirty="0"/>
              <a:t>: </a:t>
            </a:r>
            <a:r>
              <a:rPr lang="fr-FR" sz="1400" dirty="0" err="1"/>
              <a:t>Using</a:t>
            </a:r>
            <a:r>
              <a:rPr lang="fr-FR" sz="1400" dirty="0"/>
              <a:t> the </a:t>
            </a:r>
            <a:r>
              <a:rPr lang="fr-FR" sz="1400" dirty="0" err="1"/>
              <a:t>comparator</a:t>
            </a:r>
            <a:r>
              <a:rPr lang="fr-FR" sz="1400" dirty="0"/>
              <a:t> </a:t>
            </a:r>
            <a:r>
              <a:rPr lang="fr-FR" sz="1400" dirty="0" err="1"/>
              <a:t>associated</a:t>
            </a:r>
            <a:r>
              <a:rPr lang="fr-FR" sz="1400" dirty="0"/>
              <a:t> </a:t>
            </a:r>
            <a:r>
              <a:rPr lang="fr-FR" sz="1400" dirty="0" err="1"/>
              <a:t>with</a:t>
            </a:r>
            <a:r>
              <a:rPr lang="fr-FR" sz="1400" dirty="0"/>
              <a:t> a trigger to </a:t>
            </a:r>
            <a:r>
              <a:rPr lang="fr-FR" sz="1400" dirty="0" err="1"/>
              <a:t>get</a:t>
            </a:r>
            <a:r>
              <a:rPr lang="fr-FR" sz="1400" dirty="0"/>
              <a:t> multiple </a:t>
            </a:r>
            <a:r>
              <a:rPr lang="fr-FR" sz="1400" dirty="0" err="1"/>
              <a:t>reading</a:t>
            </a:r>
            <a:r>
              <a:rPr lang="fr-FR" sz="1400" dirty="0"/>
              <a:t> of </a:t>
            </a:r>
            <a:r>
              <a:rPr lang="fr-FR" sz="1400" dirty="0" err="1"/>
              <a:t>current</a:t>
            </a:r>
            <a:r>
              <a:rPr lang="fr-FR" sz="1400" dirty="0"/>
              <a:t>/tension on ADC </a:t>
            </a:r>
            <a:r>
              <a:rPr lang="fr-FR" sz="1400" dirty="0" err="1"/>
              <a:t>with</a:t>
            </a:r>
            <a:r>
              <a:rPr lang="fr-FR" sz="1400" dirty="0"/>
              <a:t> no CPU </a:t>
            </a:r>
            <a:r>
              <a:rPr lang="fr-FR" sz="1400" dirty="0" err="1"/>
              <a:t>overhead</a:t>
            </a:r>
            <a:endParaRPr lang="fr-FR" sz="1400" b="1" dirty="0"/>
          </a:p>
          <a:p>
            <a:pPr>
              <a:spcBef>
                <a:spcPts val="100"/>
              </a:spcBef>
            </a:pPr>
            <a:r>
              <a:rPr lang="fr-FR" sz="1400" b="1" dirty="0"/>
              <a:t>Break Input </a:t>
            </a:r>
            <a:r>
              <a:rPr lang="fr-FR" sz="1400" b="1" dirty="0" err="1"/>
              <a:t>Filtering</a:t>
            </a:r>
            <a:r>
              <a:rPr lang="fr-FR" sz="1400" b="1" dirty="0"/>
              <a:t>: </a:t>
            </a:r>
            <a:r>
              <a:rPr lang="fr-FR" sz="1400" dirty="0" err="1"/>
              <a:t>Filter</a:t>
            </a:r>
            <a:r>
              <a:rPr lang="fr-FR" sz="1400" dirty="0"/>
              <a:t> the break trigger </a:t>
            </a:r>
            <a:r>
              <a:rPr lang="fr-FR" sz="1400" dirty="0" err="1"/>
              <a:t>so</a:t>
            </a:r>
            <a:r>
              <a:rPr lang="fr-FR" sz="1400" dirty="0"/>
              <a:t> </a:t>
            </a:r>
            <a:r>
              <a:rPr lang="fr-FR" sz="1400" dirty="0" err="1"/>
              <a:t>they</a:t>
            </a:r>
            <a:r>
              <a:rPr lang="fr-FR" sz="1400" dirty="0"/>
              <a:t> are not </a:t>
            </a:r>
            <a:r>
              <a:rPr lang="fr-FR" sz="1400" dirty="0" err="1"/>
              <a:t>triggered</a:t>
            </a:r>
            <a:r>
              <a:rPr lang="fr-FR" sz="1400" dirty="0"/>
              <a:t> by EMI</a:t>
            </a:r>
            <a:endParaRPr lang="fr-FR" sz="1400" b="1" dirty="0"/>
          </a:p>
          <a:p>
            <a:pPr>
              <a:spcBef>
                <a:spcPts val="100"/>
              </a:spcBef>
            </a:pPr>
            <a:r>
              <a:rPr lang="fr-FR" sz="1400" b="1" dirty="0" err="1"/>
              <a:t>Asymmetric</a:t>
            </a:r>
            <a:r>
              <a:rPr lang="fr-FR" sz="1400" b="1" dirty="0"/>
              <a:t> Dead Time</a:t>
            </a:r>
            <a:r>
              <a:rPr lang="fr-FR" sz="1400" dirty="0"/>
              <a:t>: Can </a:t>
            </a:r>
            <a:r>
              <a:rPr lang="fr-FR" sz="1400" dirty="0" err="1"/>
              <a:t>be</a:t>
            </a:r>
            <a:r>
              <a:rPr lang="fr-FR" sz="1400" dirty="0"/>
              <a:t> </a:t>
            </a:r>
            <a:r>
              <a:rPr lang="fr-FR" sz="1400" dirty="0" err="1"/>
              <a:t>used</a:t>
            </a:r>
            <a:r>
              <a:rPr lang="fr-FR" sz="1400" dirty="0"/>
              <a:t> if not the </a:t>
            </a:r>
            <a:r>
              <a:rPr lang="fr-FR" sz="1400" dirty="0" err="1"/>
              <a:t>same</a:t>
            </a:r>
            <a:r>
              <a:rPr lang="fr-FR" sz="1400" dirty="0"/>
              <a:t> HIGH and LOW </a:t>
            </a:r>
            <a:r>
              <a:rPr lang="fr-FR" sz="1400" dirty="0" err="1"/>
              <a:t>mostfets</a:t>
            </a:r>
            <a:r>
              <a:rPr lang="fr-FR" sz="1400" dirty="0"/>
              <a:t>, can </a:t>
            </a:r>
            <a:r>
              <a:rPr lang="fr-FR" sz="1400" dirty="0" err="1"/>
              <a:t>also</a:t>
            </a:r>
            <a:r>
              <a:rPr lang="fr-FR" sz="1400" dirty="0"/>
              <a:t> update DT on the </a:t>
            </a:r>
            <a:r>
              <a:rPr lang="fr-FR" sz="1400" dirty="0" err="1"/>
              <a:t>fly</a:t>
            </a:r>
            <a:r>
              <a:rPr lang="fr-FR" sz="1400" dirty="0"/>
              <a:t> </a:t>
            </a:r>
            <a:r>
              <a:rPr lang="fr-FR" sz="1400" dirty="0" err="1"/>
              <a:t>depending</a:t>
            </a:r>
            <a:r>
              <a:rPr lang="fr-FR" sz="1400" dirty="0"/>
              <a:t> of </a:t>
            </a:r>
            <a:r>
              <a:rPr lang="fr-FR" sz="1400" dirty="0" err="1"/>
              <a:t>current</a:t>
            </a:r>
            <a:r>
              <a:rPr lang="fr-FR" sz="1400" dirty="0"/>
              <a:t> </a:t>
            </a:r>
          </a:p>
          <a:p>
            <a:pPr>
              <a:spcBef>
                <a:spcPts val="100"/>
              </a:spcBef>
            </a:pPr>
            <a:r>
              <a:rPr lang="fr-FR" sz="1400" dirty="0"/>
              <a:t>Control </a:t>
            </a:r>
            <a:r>
              <a:rPr lang="fr-FR" sz="1400" dirty="0" err="1"/>
              <a:t>method</a:t>
            </a:r>
            <a:r>
              <a:rPr lang="fr-FR" sz="1400" dirty="0"/>
              <a:t> for MOSTFET:</a:t>
            </a:r>
          </a:p>
          <a:p>
            <a:pPr lvl="1">
              <a:spcBef>
                <a:spcPts val="100"/>
              </a:spcBef>
            </a:pPr>
            <a:r>
              <a:rPr lang="fr-FR" sz="900" b="1" dirty="0" err="1"/>
              <a:t>Synchronous</a:t>
            </a:r>
            <a:r>
              <a:rPr lang="fr-FR" sz="900" b="1" dirty="0"/>
              <a:t> rectification</a:t>
            </a:r>
            <a:r>
              <a:rPr lang="fr-FR" sz="900" dirty="0"/>
              <a:t>: </a:t>
            </a:r>
            <a:r>
              <a:rPr lang="fr-FR" sz="900" dirty="0" err="1"/>
              <a:t>both</a:t>
            </a:r>
            <a:r>
              <a:rPr lang="fr-FR" sz="900" dirty="0"/>
              <a:t> MOSTFET are </a:t>
            </a:r>
            <a:r>
              <a:rPr lang="fr-FR" sz="900" dirty="0" err="1"/>
              <a:t>driven</a:t>
            </a:r>
            <a:r>
              <a:rPr lang="fr-FR" sz="900" dirty="0"/>
              <a:t>, </a:t>
            </a:r>
            <a:r>
              <a:rPr lang="fr-FR" sz="900" dirty="0" err="1"/>
              <a:t>which</a:t>
            </a:r>
            <a:r>
              <a:rPr lang="fr-FR" sz="900" dirty="0"/>
              <a:t> </a:t>
            </a:r>
            <a:r>
              <a:rPr lang="fr-FR" sz="900" dirty="0" err="1"/>
              <a:t>avoid</a:t>
            </a:r>
            <a:r>
              <a:rPr lang="fr-FR" sz="900" dirty="0"/>
              <a:t> </a:t>
            </a:r>
            <a:r>
              <a:rPr lang="fr-FR" sz="900" dirty="0" err="1"/>
              <a:t>having</a:t>
            </a:r>
            <a:r>
              <a:rPr lang="fr-FR" sz="900" dirty="0"/>
              <a:t> to use the diode</a:t>
            </a:r>
          </a:p>
          <a:p>
            <a:pPr lvl="1">
              <a:spcBef>
                <a:spcPts val="100"/>
              </a:spcBef>
            </a:pPr>
            <a:r>
              <a:rPr lang="fr-FR" sz="900" b="1" dirty="0"/>
              <a:t>Diode </a:t>
            </a:r>
            <a:r>
              <a:rPr lang="fr-FR" sz="900" b="1" dirty="0" err="1"/>
              <a:t>freewheeling</a:t>
            </a:r>
            <a:r>
              <a:rPr lang="fr-FR" sz="900" dirty="0"/>
              <a:t>: </a:t>
            </a:r>
            <a:r>
              <a:rPr lang="fr-FR" sz="900" dirty="0" err="1"/>
              <a:t>current</a:t>
            </a:r>
            <a:r>
              <a:rPr lang="fr-FR" sz="900" dirty="0"/>
              <a:t> flows </a:t>
            </a:r>
            <a:r>
              <a:rPr lang="fr-FR" sz="900" dirty="0" err="1"/>
              <a:t>though</a:t>
            </a:r>
            <a:r>
              <a:rPr lang="fr-FR" sz="900" dirty="0"/>
              <a:t> the MOSFET, </a:t>
            </a:r>
            <a:r>
              <a:rPr lang="fr-FR" sz="900" dirty="0" err="1"/>
              <a:t>less</a:t>
            </a:r>
            <a:r>
              <a:rPr lang="fr-FR" sz="900" dirty="0"/>
              <a:t> </a:t>
            </a:r>
            <a:r>
              <a:rPr lang="fr-FR" sz="900" dirty="0" err="1"/>
              <a:t>switching</a:t>
            </a:r>
            <a:r>
              <a:rPr lang="fr-FR" sz="900" dirty="0"/>
              <a:t> </a:t>
            </a:r>
            <a:r>
              <a:rPr lang="fr-FR" sz="900" dirty="0" err="1"/>
              <a:t>loss</a:t>
            </a:r>
            <a:r>
              <a:rPr lang="fr-FR" sz="900" dirty="0"/>
              <a:t> but more conduction </a:t>
            </a:r>
            <a:r>
              <a:rPr lang="fr-FR" sz="900" dirty="0" err="1"/>
              <a:t>losses</a:t>
            </a:r>
            <a:r>
              <a:rPr lang="fr-FR" sz="900" dirty="0"/>
              <a:t> (the diode) </a:t>
            </a:r>
            <a:r>
              <a:rPr lang="fr-FR" sz="900" dirty="0" err="1"/>
              <a:t>which</a:t>
            </a:r>
            <a:r>
              <a:rPr lang="fr-FR" sz="900" dirty="0"/>
              <a:t> are </a:t>
            </a:r>
            <a:r>
              <a:rPr lang="fr-FR" sz="900" dirty="0" err="1"/>
              <a:t>often</a:t>
            </a:r>
            <a:r>
              <a:rPr lang="fr-FR" sz="900" dirty="0"/>
              <a:t> </a:t>
            </a:r>
            <a:r>
              <a:rPr lang="fr-FR" sz="900" dirty="0" err="1"/>
              <a:t>much</a:t>
            </a:r>
            <a:r>
              <a:rPr lang="fr-FR" sz="900" dirty="0"/>
              <a:t> </a:t>
            </a:r>
            <a:r>
              <a:rPr lang="fr-FR" sz="900" dirty="0" err="1"/>
              <a:t>greater</a:t>
            </a:r>
            <a:r>
              <a:rPr lang="fr-FR" sz="900" dirty="0"/>
              <a:t>. DPWM </a:t>
            </a:r>
            <a:r>
              <a:rPr lang="fr-FR" sz="900" dirty="0" err="1"/>
              <a:t>mitigate</a:t>
            </a:r>
            <a:r>
              <a:rPr lang="fr-FR" sz="900" dirty="0"/>
              <a:t> </a:t>
            </a:r>
            <a:r>
              <a:rPr lang="fr-FR" sz="900" dirty="0" err="1"/>
              <a:t>this</a:t>
            </a:r>
            <a:r>
              <a:rPr lang="fr-FR" sz="900" dirty="0"/>
              <a:t> issue by </a:t>
            </a:r>
            <a:r>
              <a:rPr lang="fr-FR" sz="900" dirty="0" err="1"/>
              <a:t>freewheeling</a:t>
            </a:r>
            <a:r>
              <a:rPr lang="fr-FR" sz="900" dirty="0"/>
              <a:t> </a:t>
            </a:r>
            <a:r>
              <a:rPr lang="fr-FR" sz="900" dirty="0" err="1"/>
              <a:t>only</a:t>
            </a:r>
            <a:r>
              <a:rPr lang="fr-FR" sz="900" dirty="0"/>
              <a:t> the non-</a:t>
            </a:r>
            <a:r>
              <a:rPr lang="fr-FR" sz="900" dirty="0" err="1"/>
              <a:t>driven</a:t>
            </a:r>
            <a:r>
              <a:rPr lang="fr-FR" sz="900" dirty="0"/>
              <a:t> phase</a:t>
            </a:r>
            <a:endParaRPr lang="en-US" sz="900" dirty="0"/>
          </a:p>
          <a:p>
            <a:pPr>
              <a:spcBef>
                <a:spcPts val="100"/>
              </a:spcBef>
            </a:pPr>
            <a:endParaRPr lang="fr-FR" sz="1300" dirty="0"/>
          </a:p>
        </p:txBody>
      </p:sp>
    </p:spTree>
    <p:extLst>
      <p:ext uri="{BB962C8B-B14F-4D97-AF65-F5344CB8AC3E}">
        <p14:creationId xmlns:p14="http://schemas.microsoft.com/office/powerpoint/2010/main" val="3362429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C5565-C683-DB70-3264-5F4A47350E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F6C2DD-10BD-F789-8826-EDC1D3CAB4BD}"/>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48ABFFED-E0B4-8C9B-B870-1F1AAB6D8429}"/>
              </a:ext>
            </a:extLst>
          </p:cNvPr>
          <p:cNvSpPr txBox="1">
            <a:spLocks/>
          </p:cNvSpPr>
          <p:nvPr/>
        </p:nvSpPr>
        <p:spPr>
          <a:xfrm>
            <a:off x="193514" y="692366"/>
            <a:ext cx="11899605" cy="601411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fr-FR" sz="1300" b="1" dirty="0" err="1"/>
              <a:t>Dithering</a:t>
            </a:r>
            <a:r>
              <a:rPr lang="fr-FR" sz="1300" b="1" dirty="0"/>
              <a:t>: </a:t>
            </a:r>
          </a:p>
          <a:p>
            <a:pPr>
              <a:spcBef>
                <a:spcPts val="100"/>
              </a:spcBef>
            </a:pPr>
            <a:r>
              <a:rPr lang="fr-FR" sz="1300" b="1" dirty="0"/>
              <a:t>CCR: </a:t>
            </a:r>
            <a:r>
              <a:rPr lang="fr-FR" sz="1300" dirty="0"/>
              <a:t>Capture and Compare </a:t>
            </a:r>
            <a:r>
              <a:rPr lang="fr-FR" sz="1300" dirty="0" err="1"/>
              <a:t>Register</a:t>
            </a:r>
            <a:r>
              <a:rPr lang="fr-FR" sz="1300" dirty="0"/>
              <a:t>, </a:t>
            </a:r>
            <a:r>
              <a:rPr lang="fr-FR" sz="1300" dirty="0" err="1"/>
              <a:t>hold</a:t>
            </a:r>
            <a:r>
              <a:rPr lang="fr-FR" sz="1300" dirty="0"/>
              <a:t> the </a:t>
            </a:r>
            <a:r>
              <a:rPr lang="fr-FR" sz="1300" dirty="0" err="1"/>
              <a:t>duty</a:t>
            </a:r>
            <a:r>
              <a:rPr lang="fr-FR" sz="1300" dirty="0"/>
              <a:t> cycle for </a:t>
            </a:r>
            <a:r>
              <a:rPr lang="fr-FR" sz="1300" dirty="0" err="1"/>
              <a:t>each</a:t>
            </a:r>
            <a:r>
              <a:rPr lang="fr-FR" sz="1300" dirty="0"/>
              <a:t> </a:t>
            </a:r>
            <a:r>
              <a:rPr lang="fr-FR" sz="1300" dirty="0" err="1"/>
              <a:t>channel</a:t>
            </a:r>
            <a:endParaRPr lang="fr-FR" sz="1300" b="1" dirty="0"/>
          </a:p>
          <a:p>
            <a:pPr>
              <a:spcBef>
                <a:spcPts val="100"/>
              </a:spcBef>
            </a:pPr>
            <a:r>
              <a:rPr lang="fr-FR" sz="1300" b="1" dirty="0"/>
              <a:t>ARR: </a:t>
            </a:r>
            <a:r>
              <a:rPr lang="fr-FR" sz="1300" dirty="0"/>
              <a:t>Auto-</a:t>
            </a:r>
            <a:r>
              <a:rPr lang="fr-FR" sz="1300" dirty="0" err="1"/>
              <a:t>Reload</a:t>
            </a:r>
            <a:r>
              <a:rPr lang="fr-FR" sz="1300" dirty="0"/>
              <a:t> </a:t>
            </a:r>
            <a:r>
              <a:rPr lang="fr-FR" sz="1300" dirty="0" err="1"/>
              <a:t>Register</a:t>
            </a:r>
            <a:r>
              <a:rPr lang="fr-FR" sz="1300" dirty="0"/>
              <a:t>, </a:t>
            </a:r>
            <a:r>
              <a:rPr lang="fr-FR" sz="1300" dirty="0" err="1"/>
              <a:t>define</a:t>
            </a:r>
            <a:r>
              <a:rPr lang="fr-FR" sz="1300" dirty="0"/>
              <a:t> the value at </a:t>
            </a:r>
            <a:r>
              <a:rPr lang="fr-FR" sz="1300" dirty="0" err="1"/>
              <a:t>which</a:t>
            </a:r>
            <a:r>
              <a:rPr lang="fr-FR" sz="1300" dirty="0"/>
              <a:t> the </a:t>
            </a:r>
            <a:r>
              <a:rPr lang="fr-FR" sz="1300" dirty="0" err="1"/>
              <a:t>timer</a:t>
            </a:r>
            <a:r>
              <a:rPr lang="fr-FR" sz="1300" dirty="0"/>
              <a:t> </a:t>
            </a:r>
            <a:r>
              <a:rPr lang="fr-FR" sz="1300" dirty="0" err="1"/>
              <a:t>reload</a:t>
            </a:r>
            <a:r>
              <a:rPr lang="fr-FR" sz="1300" dirty="0"/>
              <a:t> (aka the PWM </a:t>
            </a:r>
            <a:r>
              <a:rPr lang="fr-FR" sz="1300" dirty="0" err="1"/>
              <a:t>period</a:t>
            </a:r>
            <a:r>
              <a:rPr lang="fr-FR" sz="1300" dirty="0"/>
              <a:t>)</a:t>
            </a:r>
          </a:p>
          <a:p>
            <a:pPr>
              <a:spcBef>
                <a:spcPts val="100"/>
              </a:spcBef>
            </a:pPr>
            <a:r>
              <a:rPr lang="fr-FR" sz="1300" b="1" dirty="0"/>
              <a:t>ARP</a:t>
            </a:r>
            <a:r>
              <a:rPr lang="fr-FR" sz="1300" dirty="0"/>
              <a:t>: Auto </a:t>
            </a:r>
            <a:r>
              <a:rPr lang="fr-FR" sz="1300" dirty="0" err="1"/>
              <a:t>Register</a:t>
            </a:r>
            <a:r>
              <a:rPr lang="fr-FR" sz="1300" dirty="0"/>
              <a:t> </a:t>
            </a:r>
            <a:r>
              <a:rPr lang="fr-FR" sz="1300" dirty="0" err="1"/>
              <a:t>Preloader</a:t>
            </a:r>
            <a:r>
              <a:rPr lang="fr-FR" sz="1300" dirty="0"/>
              <a:t>, </a:t>
            </a:r>
            <a:r>
              <a:rPr lang="fr-FR" sz="1300" dirty="0" err="1"/>
              <a:t>is</a:t>
            </a:r>
            <a:r>
              <a:rPr lang="fr-FR" sz="1300" dirty="0"/>
              <a:t> </a:t>
            </a:r>
            <a:r>
              <a:rPr lang="fr-FR" sz="1300" dirty="0" err="1"/>
              <a:t>used</a:t>
            </a:r>
            <a:r>
              <a:rPr lang="fr-FR" sz="1300" dirty="0"/>
              <a:t> to </a:t>
            </a:r>
            <a:r>
              <a:rPr lang="fr-FR" sz="1300" dirty="0" err="1"/>
              <a:t>avoid</a:t>
            </a:r>
            <a:r>
              <a:rPr lang="fr-FR" sz="1300" dirty="0"/>
              <a:t> </a:t>
            </a:r>
            <a:r>
              <a:rPr lang="fr-FR" sz="1300" dirty="0" err="1"/>
              <a:t>immediate</a:t>
            </a:r>
            <a:r>
              <a:rPr lang="fr-FR" sz="1300" dirty="0"/>
              <a:t> </a:t>
            </a:r>
            <a:r>
              <a:rPr lang="fr-FR" sz="1300" dirty="0" err="1"/>
              <a:t>write</a:t>
            </a:r>
            <a:r>
              <a:rPr lang="fr-FR" sz="1300" dirty="0"/>
              <a:t> to ARR (PWM base </a:t>
            </a:r>
            <a:r>
              <a:rPr lang="fr-FR" sz="1300" dirty="0" err="1"/>
              <a:t>frequency</a:t>
            </a:r>
            <a:r>
              <a:rPr lang="fr-FR" sz="1300" dirty="0"/>
              <a:t>), </a:t>
            </a:r>
            <a:r>
              <a:rPr lang="fr-FR" sz="1300" dirty="0" err="1"/>
              <a:t>which</a:t>
            </a:r>
            <a:r>
              <a:rPr lang="fr-FR" sz="1300" dirty="0"/>
              <a:t> can </a:t>
            </a:r>
            <a:r>
              <a:rPr lang="fr-FR" sz="1300" dirty="0" err="1"/>
              <a:t>result</a:t>
            </a:r>
            <a:r>
              <a:rPr lang="fr-FR" sz="1300" dirty="0"/>
              <a:t> in </a:t>
            </a:r>
            <a:r>
              <a:rPr lang="fr-FR" sz="1300" dirty="0" err="1"/>
              <a:t>glithc</a:t>
            </a:r>
            <a:r>
              <a:rPr lang="fr-FR" sz="1300" dirty="0"/>
              <a:t>, by </a:t>
            </a:r>
            <a:r>
              <a:rPr lang="fr-FR" sz="1300" dirty="0" err="1"/>
              <a:t>delaying</a:t>
            </a:r>
            <a:r>
              <a:rPr lang="fr-FR" sz="1300" dirty="0"/>
              <a:t> </a:t>
            </a:r>
            <a:r>
              <a:rPr lang="fr-FR" sz="1300" dirty="0" err="1"/>
              <a:t>it</a:t>
            </a:r>
            <a:r>
              <a:rPr lang="fr-FR" sz="1300" dirty="0"/>
              <a:t> </a:t>
            </a:r>
            <a:r>
              <a:rPr lang="fr-FR" sz="1300" dirty="0" err="1"/>
              <a:t>until</a:t>
            </a:r>
            <a:r>
              <a:rPr lang="fr-FR" sz="1300" dirty="0"/>
              <a:t> the </a:t>
            </a:r>
            <a:r>
              <a:rPr lang="fr-FR" sz="1300" dirty="0" err="1"/>
              <a:t>next</a:t>
            </a:r>
            <a:r>
              <a:rPr lang="fr-FR" sz="1300" dirty="0"/>
              <a:t> update </a:t>
            </a:r>
            <a:r>
              <a:rPr lang="fr-FR" sz="1300" dirty="0" err="1"/>
              <a:t>event</a:t>
            </a:r>
            <a:r>
              <a:rPr lang="fr-FR" sz="1300" dirty="0"/>
              <a:t>. </a:t>
            </a:r>
            <a:r>
              <a:rPr lang="fr-FR" sz="1300" dirty="0" err="1"/>
              <a:t>Only</a:t>
            </a:r>
            <a:r>
              <a:rPr lang="fr-FR" sz="1300" dirty="0"/>
              <a:t> </a:t>
            </a:r>
            <a:r>
              <a:rPr lang="fr-FR" sz="1300" dirty="0" err="1"/>
              <a:t>needed</a:t>
            </a:r>
            <a:r>
              <a:rPr lang="fr-FR" sz="1300" dirty="0"/>
              <a:t> </a:t>
            </a:r>
            <a:r>
              <a:rPr lang="fr-FR" sz="1300" dirty="0" err="1"/>
              <a:t>when</a:t>
            </a:r>
            <a:r>
              <a:rPr lang="fr-FR" sz="1300" dirty="0"/>
              <a:t> </a:t>
            </a:r>
            <a:r>
              <a:rPr lang="fr-FR" sz="1300" dirty="0" err="1"/>
              <a:t>we</a:t>
            </a:r>
            <a:r>
              <a:rPr lang="fr-FR" sz="1300" dirty="0"/>
              <a:t> </a:t>
            </a:r>
            <a:r>
              <a:rPr lang="fr-FR" sz="1300" dirty="0" err="1"/>
              <a:t>want</a:t>
            </a:r>
            <a:r>
              <a:rPr lang="fr-FR" sz="1300" dirty="0"/>
              <a:t> to change PWM on the </a:t>
            </a:r>
            <a:r>
              <a:rPr lang="fr-FR" sz="1300" dirty="0" err="1"/>
              <a:t>fly</a:t>
            </a:r>
            <a:r>
              <a:rPr lang="fr-FR" sz="1300" dirty="0"/>
              <a:t>, consume no </a:t>
            </a:r>
            <a:r>
              <a:rPr lang="fr-FR" sz="1300" dirty="0" err="1"/>
              <a:t>overhead</a:t>
            </a:r>
            <a:r>
              <a:rPr lang="fr-FR" sz="1300" dirty="0"/>
              <a:t> </a:t>
            </a:r>
            <a:r>
              <a:rPr lang="fr-FR" sz="1300" dirty="0" err="1"/>
              <a:t>so</a:t>
            </a:r>
            <a:r>
              <a:rPr lang="fr-FR" sz="1300" dirty="0"/>
              <a:t> </a:t>
            </a:r>
            <a:r>
              <a:rPr lang="fr-FR" sz="1300" dirty="0" err="1"/>
              <a:t>always</a:t>
            </a:r>
            <a:r>
              <a:rPr lang="fr-FR" sz="1300" dirty="0"/>
              <a:t> </a:t>
            </a:r>
            <a:r>
              <a:rPr lang="fr-FR" sz="1300" dirty="0" err="1"/>
              <a:t>activated</a:t>
            </a:r>
            <a:r>
              <a:rPr lang="fr-FR" sz="1300" dirty="0"/>
              <a:t>.</a:t>
            </a:r>
          </a:p>
          <a:p>
            <a:pPr>
              <a:spcBef>
                <a:spcPts val="100"/>
              </a:spcBef>
            </a:pPr>
            <a:r>
              <a:rPr lang="fr-FR" sz="1300" b="1" dirty="0" err="1"/>
              <a:t>Timer</a:t>
            </a:r>
            <a:r>
              <a:rPr lang="fr-FR" sz="1300" b="1" dirty="0"/>
              <a:t> slave mode</a:t>
            </a:r>
            <a:r>
              <a:rPr lang="fr-FR" sz="1300" dirty="0"/>
              <a:t>: the </a:t>
            </a:r>
            <a:r>
              <a:rPr lang="fr-FR" sz="1300" dirty="0" err="1"/>
              <a:t>timer</a:t>
            </a:r>
            <a:r>
              <a:rPr lang="fr-FR" sz="1300" dirty="0"/>
              <a:t> </a:t>
            </a:r>
            <a:r>
              <a:rPr lang="fr-FR" sz="1300" dirty="0" err="1"/>
              <a:t>is</a:t>
            </a:r>
            <a:r>
              <a:rPr lang="fr-FR" sz="1300" dirty="0"/>
              <a:t> </a:t>
            </a:r>
            <a:r>
              <a:rPr lang="fr-FR" sz="1300" dirty="0" err="1"/>
              <a:t>partially</a:t>
            </a:r>
            <a:r>
              <a:rPr lang="fr-FR" sz="1300" dirty="0"/>
              <a:t> </a:t>
            </a:r>
            <a:r>
              <a:rPr lang="fr-FR" sz="1300" dirty="0" err="1"/>
              <a:t>controlled</a:t>
            </a:r>
            <a:r>
              <a:rPr lang="fr-FR" sz="1300" dirty="0"/>
              <a:t> by </a:t>
            </a:r>
            <a:r>
              <a:rPr lang="fr-FR" sz="1300" dirty="0" err="1"/>
              <a:t>another</a:t>
            </a:r>
            <a:r>
              <a:rPr lang="fr-FR" sz="1300" dirty="0"/>
              <a:t>, no SW </a:t>
            </a:r>
            <a:r>
              <a:rPr lang="fr-FR" sz="1300" dirty="0" err="1"/>
              <a:t>overhead</a:t>
            </a:r>
            <a:endParaRPr lang="fr-FR" sz="1300" dirty="0"/>
          </a:p>
          <a:p>
            <a:pPr>
              <a:spcBef>
                <a:spcPts val="100"/>
              </a:spcBef>
            </a:pPr>
            <a:r>
              <a:rPr lang="fr-FR" sz="1300" b="1" dirty="0"/>
              <a:t>MSM</a:t>
            </a:r>
            <a:r>
              <a:rPr lang="fr-FR" sz="1300" dirty="0"/>
              <a:t>: Master/Slave Mode</a:t>
            </a:r>
          </a:p>
          <a:p>
            <a:pPr>
              <a:spcBef>
                <a:spcPts val="100"/>
              </a:spcBef>
            </a:pPr>
            <a:r>
              <a:rPr lang="fr-FR" sz="1300" b="1" dirty="0"/>
              <a:t>MOE</a:t>
            </a:r>
            <a:r>
              <a:rPr lang="fr-FR" sz="1300" dirty="0"/>
              <a:t>: Main Output Enable</a:t>
            </a:r>
          </a:p>
          <a:p>
            <a:pPr>
              <a:spcBef>
                <a:spcPts val="100"/>
              </a:spcBef>
            </a:pPr>
            <a:r>
              <a:rPr lang="fr-FR" sz="1300" b="1" dirty="0"/>
              <a:t>OC</a:t>
            </a:r>
            <a:r>
              <a:rPr lang="fr-FR" sz="1300" dirty="0"/>
              <a:t>: Output Compare</a:t>
            </a:r>
          </a:p>
          <a:p>
            <a:pPr>
              <a:spcBef>
                <a:spcPts val="100"/>
              </a:spcBef>
            </a:pPr>
            <a:r>
              <a:rPr lang="fr-FR" sz="1300" b="1" dirty="0" err="1"/>
              <a:t>OSSR</a:t>
            </a:r>
            <a:r>
              <a:rPr lang="fr-FR" sz="1300" dirty="0" err="1"/>
              <a:t>:Off</a:t>
            </a:r>
            <a:r>
              <a:rPr lang="fr-FR" sz="1300" dirty="0"/>
              <a:t> State </a:t>
            </a:r>
            <a:r>
              <a:rPr lang="fr-FR" sz="1300" dirty="0" err="1"/>
              <a:t>Selection</a:t>
            </a:r>
            <a:r>
              <a:rPr lang="fr-FR" sz="1300" dirty="0"/>
              <a:t> for Run mode, MOE=0 (output inactive) but CEN=1 (</a:t>
            </a:r>
            <a:r>
              <a:rPr lang="fr-FR" sz="1300" dirty="0" err="1"/>
              <a:t>counter</a:t>
            </a:r>
            <a:r>
              <a:rPr lang="fr-FR" sz="1300" dirty="0"/>
              <a:t> active)</a:t>
            </a:r>
          </a:p>
          <a:p>
            <a:pPr>
              <a:spcBef>
                <a:spcPts val="100"/>
              </a:spcBef>
            </a:pPr>
            <a:r>
              <a:rPr lang="fr-FR" sz="1300" b="1" dirty="0"/>
              <a:t>OSSI</a:t>
            </a:r>
            <a:r>
              <a:rPr lang="fr-FR" sz="1300" dirty="0"/>
              <a:t>: Off State </a:t>
            </a:r>
            <a:r>
              <a:rPr lang="fr-FR" sz="1300" dirty="0" err="1"/>
              <a:t>Selection</a:t>
            </a:r>
            <a:r>
              <a:rPr lang="fr-FR" sz="1300" dirty="0"/>
              <a:t> for </a:t>
            </a:r>
            <a:r>
              <a:rPr lang="fr-FR" sz="1300" dirty="0" err="1"/>
              <a:t>Idle</a:t>
            </a:r>
            <a:r>
              <a:rPr lang="fr-FR" sz="1300" dirty="0"/>
              <a:t> mode, MOE=0 (output inactive) but CEN=0 (</a:t>
            </a:r>
            <a:r>
              <a:rPr lang="fr-FR" sz="1300" dirty="0" err="1"/>
              <a:t>counter</a:t>
            </a:r>
            <a:r>
              <a:rPr lang="fr-FR" sz="1300" dirty="0"/>
              <a:t> inactive)</a:t>
            </a:r>
          </a:p>
          <a:p>
            <a:pPr>
              <a:spcBef>
                <a:spcPts val="100"/>
              </a:spcBef>
            </a:pPr>
            <a:r>
              <a:rPr lang="fr-FR" sz="1300" b="1" dirty="0"/>
              <a:t>OIS</a:t>
            </a:r>
            <a:r>
              <a:rPr lang="fr-FR" sz="1300" dirty="0"/>
              <a:t>: Output </a:t>
            </a:r>
            <a:r>
              <a:rPr lang="fr-FR" sz="1300" dirty="0" err="1"/>
              <a:t>Idle</a:t>
            </a:r>
            <a:r>
              <a:rPr lang="fr-FR" sz="1300" dirty="0"/>
              <a:t> State, </a:t>
            </a:r>
            <a:r>
              <a:rPr lang="fr-FR" sz="1300" dirty="0" err="1"/>
              <a:t>defined</a:t>
            </a:r>
            <a:r>
              <a:rPr lang="fr-FR" sz="1300" dirty="0"/>
              <a:t> </a:t>
            </a:r>
            <a:r>
              <a:rPr lang="fr-FR" sz="1300" dirty="0" err="1"/>
              <a:t>disabled</a:t>
            </a:r>
            <a:r>
              <a:rPr lang="fr-FR" sz="1300" dirty="0"/>
              <a:t> output </a:t>
            </a:r>
            <a:r>
              <a:rPr lang="fr-FR" sz="1300" dirty="0" err="1"/>
              <a:t>level</a:t>
            </a:r>
            <a:r>
              <a:rPr lang="fr-FR" sz="1300" dirty="0"/>
              <a:t> (=0 =&gt; </a:t>
            </a:r>
            <a:r>
              <a:rPr lang="fr-FR" sz="1300" dirty="0" err="1"/>
              <a:t>gate</a:t>
            </a:r>
            <a:r>
              <a:rPr lang="fr-FR" sz="1300" dirty="0"/>
              <a:t> </a:t>
            </a:r>
            <a:r>
              <a:rPr lang="fr-FR" sz="1300" dirty="0" err="1"/>
              <a:t>dischages</a:t>
            </a:r>
            <a:r>
              <a:rPr lang="fr-FR" sz="1300" dirty="0"/>
              <a:t> on ESC)</a:t>
            </a:r>
          </a:p>
          <a:p>
            <a:pPr>
              <a:spcBef>
                <a:spcPts val="100"/>
              </a:spcBef>
            </a:pPr>
            <a:r>
              <a:rPr lang="fr-FR" sz="1300" b="1" dirty="0"/>
              <a:t>Lock Levels</a:t>
            </a:r>
            <a:r>
              <a:rPr lang="fr-FR" sz="1300" dirty="0"/>
              <a:t>: </a:t>
            </a:r>
            <a:r>
              <a:rPr lang="fr-FR" sz="1300" dirty="0" err="1"/>
              <a:t>prevent</a:t>
            </a:r>
            <a:r>
              <a:rPr lang="fr-FR" sz="1300" dirty="0"/>
              <a:t> </a:t>
            </a:r>
            <a:r>
              <a:rPr lang="fr-FR" sz="1300" dirty="0" err="1"/>
              <a:t>accitendal</a:t>
            </a:r>
            <a:r>
              <a:rPr lang="fr-FR" sz="1300" dirty="0"/>
              <a:t> modification </a:t>
            </a:r>
            <a:r>
              <a:rPr lang="fr-FR" sz="1300" dirty="0" err="1"/>
              <a:t>after</a:t>
            </a:r>
            <a:r>
              <a:rPr lang="fr-FR" sz="1300" dirty="0"/>
              <a:t> initialisation (</a:t>
            </a:r>
            <a:r>
              <a:rPr lang="fr-FR" sz="1300" dirty="0" err="1"/>
              <a:t>cannot</a:t>
            </a:r>
            <a:r>
              <a:rPr lang="fr-FR" sz="1300" dirty="0"/>
              <a:t> </a:t>
            </a:r>
            <a:r>
              <a:rPr lang="fr-FR" sz="1300" dirty="0" err="1"/>
              <a:t>be</a:t>
            </a:r>
            <a:r>
              <a:rPr lang="fr-FR" sz="1300" dirty="0"/>
              <a:t> </a:t>
            </a:r>
            <a:r>
              <a:rPr lang="fr-FR" sz="1300" dirty="0" err="1"/>
              <a:t>changed</a:t>
            </a:r>
            <a:r>
              <a:rPr lang="fr-FR" sz="1300" dirty="0"/>
              <a:t> </a:t>
            </a:r>
            <a:r>
              <a:rPr lang="fr-FR" sz="1300" dirty="0" err="1"/>
              <a:t>before</a:t>
            </a:r>
            <a:r>
              <a:rPr lang="fr-FR" sz="1300" dirty="0"/>
              <a:t> MCU reset)</a:t>
            </a:r>
          </a:p>
          <a:p>
            <a:pPr>
              <a:spcBef>
                <a:spcPts val="100"/>
              </a:spcBef>
            </a:pPr>
            <a:r>
              <a:rPr lang="fr-FR" sz="1300" b="1" dirty="0" err="1"/>
              <a:t>Preload</a:t>
            </a:r>
            <a:r>
              <a:rPr lang="fr-FR" sz="1300" dirty="0"/>
              <a:t>: </a:t>
            </a:r>
            <a:r>
              <a:rPr lang="fr-FR" sz="1300" dirty="0" err="1"/>
              <a:t>Meaning</a:t>
            </a:r>
            <a:r>
              <a:rPr lang="fr-FR" sz="1300" dirty="0"/>
              <a:t> </a:t>
            </a:r>
            <a:r>
              <a:rPr lang="fr-FR" sz="1300" dirty="0" err="1"/>
              <a:t>that</a:t>
            </a:r>
            <a:r>
              <a:rPr lang="fr-FR" sz="1300" dirty="0"/>
              <a:t> the </a:t>
            </a:r>
            <a:r>
              <a:rPr lang="fr-FR" sz="1300" dirty="0" err="1"/>
              <a:t>register</a:t>
            </a:r>
            <a:r>
              <a:rPr lang="fr-FR" sz="1300" dirty="0"/>
              <a:t> </a:t>
            </a:r>
            <a:r>
              <a:rPr lang="fr-FR" sz="1300" dirty="0" err="1"/>
              <a:t>is</a:t>
            </a:r>
            <a:r>
              <a:rPr lang="fr-FR" sz="1300" dirty="0"/>
              <a:t> </a:t>
            </a:r>
            <a:r>
              <a:rPr lang="fr-FR" sz="1300" dirty="0" err="1"/>
              <a:t>preloded</a:t>
            </a:r>
            <a:r>
              <a:rPr lang="fr-FR" sz="1300" dirty="0"/>
              <a:t> and DMA </a:t>
            </a:r>
            <a:r>
              <a:rPr lang="fr-FR" sz="1300" dirty="0" err="1"/>
              <a:t>does</a:t>
            </a:r>
            <a:r>
              <a:rPr lang="fr-FR" sz="1300" dirty="0"/>
              <a:t> </a:t>
            </a:r>
            <a:r>
              <a:rPr lang="fr-FR" sz="1300" dirty="0" err="1"/>
              <a:t>when</a:t>
            </a:r>
            <a:r>
              <a:rPr lang="fr-FR" sz="1300" dirty="0"/>
              <a:t> trigger by an </a:t>
            </a:r>
            <a:r>
              <a:rPr lang="fr-FR" sz="1300" dirty="0" err="1"/>
              <a:t>event</a:t>
            </a:r>
            <a:r>
              <a:rPr lang="fr-FR" sz="1300" dirty="0"/>
              <a:t>. </a:t>
            </a:r>
            <a:r>
              <a:rPr lang="fr-FR" sz="1300" dirty="0" err="1"/>
              <a:t>Allows</a:t>
            </a:r>
            <a:r>
              <a:rPr lang="fr-FR" sz="1300" dirty="0"/>
              <a:t> 0 </a:t>
            </a:r>
            <a:r>
              <a:rPr lang="fr-FR" sz="1300" dirty="0" err="1"/>
              <a:t>overhead</a:t>
            </a:r>
            <a:r>
              <a:rPr lang="fr-FR" sz="1300" dirty="0"/>
              <a:t> control of </a:t>
            </a:r>
            <a:r>
              <a:rPr lang="fr-FR" sz="1300" dirty="0" err="1"/>
              <a:t>when</a:t>
            </a:r>
            <a:r>
              <a:rPr lang="fr-FR" sz="1300" dirty="0"/>
              <a:t> changes are </a:t>
            </a:r>
            <a:r>
              <a:rPr lang="fr-FR" sz="1300" dirty="0" err="1"/>
              <a:t>applied</a:t>
            </a:r>
            <a:r>
              <a:rPr lang="fr-FR" sz="1300" dirty="0"/>
              <a:t>, </a:t>
            </a:r>
            <a:r>
              <a:rPr lang="fr-FR" sz="1300" dirty="0" err="1"/>
              <a:t>hence</a:t>
            </a:r>
            <a:r>
              <a:rPr lang="fr-FR" sz="1300" dirty="0"/>
              <a:t> </a:t>
            </a:r>
            <a:r>
              <a:rPr lang="fr-FR" sz="1300" dirty="0" err="1"/>
              <a:t>avoiding</a:t>
            </a:r>
            <a:r>
              <a:rPr lang="fr-FR" sz="1300" dirty="0"/>
              <a:t> </a:t>
            </a:r>
            <a:r>
              <a:rPr lang="fr-FR" sz="1300" dirty="0" err="1"/>
              <a:t>glitches</a:t>
            </a:r>
            <a:r>
              <a:rPr lang="fr-FR" sz="1300" dirty="0"/>
              <a:t>.</a:t>
            </a:r>
          </a:p>
          <a:p>
            <a:pPr>
              <a:spcBef>
                <a:spcPts val="100"/>
              </a:spcBef>
            </a:pPr>
            <a:r>
              <a:rPr lang="fr-FR" sz="1300" b="1" dirty="0"/>
              <a:t>Cache placement</a:t>
            </a:r>
            <a:r>
              <a:rPr lang="fr-FR" sz="1300" dirty="0"/>
              <a:t>: </a:t>
            </a:r>
            <a:r>
              <a:rPr lang="fr-FR" sz="1300" dirty="0" err="1"/>
              <a:t>refer</a:t>
            </a:r>
            <a:r>
              <a:rPr lang="fr-FR" sz="1300" dirty="0"/>
              <a:t> to the </a:t>
            </a:r>
            <a:r>
              <a:rPr lang="fr-FR" sz="1300" dirty="0" err="1"/>
              <a:t>method</a:t>
            </a:r>
            <a:r>
              <a:rPr lang="fr-FR" sz="1300" dirty="0"/>
              <a:t> of </a:t>
            </a:r>
            <a:r>
              <a:rPr lang="fr-FR" sz="1300" dirty="0" err="1"/>
              <a:t>placing</a:t>
            </a:r>
            <a:r>
              <a:rPr lang="fr-FR" sz="1300" dirty="0"/>
              <a:t> </a:t>
            </a:r>
            <a:r>
              <a:rPr lang="fr-FR" sz="1300" dirty="0" err="1"/>
              <a:t>tight</a:t>
            </a:r>
            <a:r>
              <a:rPr lang="fr-FR" sz="1300" dirty="0"/>
              <a:t> </a:t>
            </a:r>
            <a:r>
              <a:rPr lang="fr-FR" sz="1300" dirty="0" err="1"/>
              <a:t>loop</a:t>
            </a:r>
            <a:r>
              <a:rPr lang="fr-FR" sz="1300" dirty="0"/>
              <a:t> at a cash-line-</a:t>
            </a:r>
            <a:r>
              <a:rPr lang="fr-FR" sz="1300" dirty="0" err="1"/>
              <a:t>aligned</a:t>
            </a:r>
            <a:r>
              <a:rPr lang="fr-FR" sz="1300" dirty="0"/>
              <a:t> Flash </a:t>
            </a:r>
            <a:r>
              <a:rPr lang="fr-FR" sz="1300" dirty="0" err="1"/>
              <a:t>adress</a:t>
            </a:r>
            <a:r>
              <a:rPr lang="fr-FR" sz="1300" dirty="0"/>
              <a:t> </a:t>
            </a:r>
            <a:r>
              <a:rPr lang="fr-FR" sz="1300" dirty="0" err="1"/>
              <a:t>using</a:t>
            </a:r>
            <a:r>
              <a:rPr lang="fr-FR" sz="1300" dirty="0"/>
              <a:t> the linker script</a:t>
            </a:r>
          </a:p>
          <a:p>
            <a:pPr>
              <a:spcBef>
                <a:spcPts val="100"/>
              </a:spcBef>
            </a:pPr>
            <a:r>
              <a:rPr lang="fr-FR" sz="1300" dirty="0"/>
              <a:t>AHB: Advanced High-performance Bus</a:t>
            </a:r>
          </a:p>
          <a:p>
            <a:pPr>
              <a:spcBef>
                <a:spcPts val="100"/>
              </a:spcBef>
            </a:pPr>
            <a:endParaRPr lang="fr-FR" sz="1300" dirty="0"/>
          </a:p>
        </p:txBody>
      </p:sp>
    </p:spTree>
    <p:extLst>
      <p:ext uri="{BB962C8B-B14F-4D97-AF65-F5344CB8AC3E}">
        <p14:creationId xmlns:p14="http://schemas.microsoft.com/office/powerpoint/2010/main" val="251817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F02CF-0524-9A77-6DD4-CE5BD7363D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F7851C9-B543-48F1-FC44-2C4942B1D2AD}"/>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6" name="Espace réservé du contenu 2">
            <a:extLst>
              <a:ext uri="{FF2B5EF4-FFF2-40B4-BE49-F238E27FC236}">
                <a16:creationId xmlns:a16="http://schemas.microsoft.com/office/drawing/2014/main" id="{3B77C5F2-E647-4967-7436-8CB1BE7B66CC}"/>
              </a:ext>
            </a:extLst>
          </p:cNvPr>
          <p:cNvSpPr txBox="1">
            <a:spLocks/>
          </p:cNvSpPr>
          <p:nvPr/>
        </p:nvSpPr>
        <p:spPr>
          <a:xfrm>
            <a:off x="193514" y="692366"/>
            <a:ext cx="11899605" cy="601411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endParaRPr lang="fr-FR" sz="1300" dirty="0"/>
          </a:p>
          <a:p>
            <a:pPr marL="0" indent="0">
              <a:spcBef>
                <a:spcPts val="100"/>
              </a:spcBef>
              <a:buNone/>
            </a:pPr>
            <a:r>
              <a:rPr lang="fr-FR" sz="1300" dirty="0"/>
              <a:t>------------------------------------------------ ALGO</a:t>
            </a:r>
          </a:p>
          <a:p>
            <a:pPr marL="285750" indent="-285750">
              <a:spcBef>
                <a:spcPts val="100"/>
              </a:spcBef>
            </a:pPr>
            <a:r>
              <a:rPr lang="en-US" sz="1300" b="1" dirty="0"/>
              <a:t>Algo: </a:t>
            </a:r>
            <a:r>
              <a:rPr lang="en-US" sz="1300" dirty="0"/>
              <a:t>completeness and correctness – must produce correct output for all valid input of is domain. It must handle invalid input </a:t>
            </a:r>
            <a:r>
              <a:rPr lang="en-US" sz="1300" dirty="0" err="1"/>
              <a:t>appropriatly</a:t>
            </a:r>
            <a:r>
              <a:rPr lang="en-US" sz="1300" dirty="0"/>
              <a:t>, including proper termination conditions.</a:t>
            </a:r>
          </a:p>
          <a:p>
            <a:pPr marL="742950" lvl="1">
              <a:spcBef>
                <a:spcPts val="100"/>
              </a:spcBef>
              <a:buFont typeface="Courier New" panose="020B0604020202020204" pitchFamily="34" charset="0"/>
              <a:buChar char="o"/>
            </a:pPr>
            <a:r>
              <a:rPr lang="en-US" sz="900" dirty="0"/>
              <a:t>Full constraint specification: need to state: memory bounds, numeric precision, allowable operations, time complexity expectation.</a:t>
            </a:r>
          </a:p>
          <a:p>
            <a:pPr marL="285750" indent="-285750">
              <a:spcBef>
                <a:spcPts val="100"/>
              </a:spcBef>
            </a:pPr>
            <a:r>
              <a:rPr lang="en-US" sz="1300" dirty="0"/>
              <a:t>A</a:t>
            </a:r>
          </a:p>
        </p:txBody>
      </p:sp>
    </p:spTree>
    <p:extLst>
      <p:ext uri="{BB962C8B-B14F-4D97-AF65-F5344CB8AC3E}">
        <p14:creationId xmlns:p14="http://schemas.microsoft.com/office/powerpoint/2010/main" val="85894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01348-47E6-F473-2641-19F9740714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593EA1-D26E-421B-ABEA-7FF8393C0BE8}"/>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41D2C63C-5046-7B9B-3EB8-F1A14A14EE68}"/>
              </a:ext>
            </a:extLst>
          </p:cNvPr>
          <p:cNvSpPr txBox="1">
            <a:spLocks/>
          </p:cNvSpPr>
          <p:nvPr/>
        </p:nvSpPr>
        <p:spPr>
          <a:xfrm>
            <a:off x="193514" y="692366"/>
            <a:ext cx="11899605" cy="601411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dirty="0"/>
              <a:t>-------------------------------------------------------------------------------------------- OS VOCAB</a:t>
            </a:r>
          </a:p>
          <a:p>
            <a:pPr>
              <a:spcBef>
                <a:spcPts val="100"/>
              </a:spcBef>
            </a:pPr>
            <a:r>
              <a:rPr lang="en-US" sz="1300" b="1" dirty="0"/>
              <a:t>Round-Robin: </a:t>
            </a:r>
            <a:r>
              <a:rPr lang="en-US" sz="1300" dirty="0"/>
              <a:t>Cyclic distribution of </a:t>
            </a:r>
            <a:r>
              <a:rPr lang="en-US" sz="1300" dirty="0" err="1"/>
              <a:t>quantas</a:t>
            </a:r>
            <a:endParaRPr lang="en-US" sz="1300" dirty="0"/>
          </a:p>
          <a:p>
            <a:pPr>
              <a:spcBef>
                <a:spcPts val="100"/>
              </a:spcBef>
            </a:pPr>
            <a:r>
              <a:rPr lang="en-US" sz="1300" b="1" dirty="0"/>
              <a:t>POSIX: </a:t>
            </a:r>
            <a:r>
              <a:rPr lang="en-US" sz="1300" dirty="0"/>
              <a:t>Portable Operating System Interface</a:t>
            </a:r>
          </a:p>
          <a:p>
            <a:pPr>
              <a:spcBef>
                <a:spcPts val="100"/>
              </a:spcBef>
            </a:pPr>
            <a:r>
              <a:rPr lang="en-US" sz="1300" b="1" dirty="0"/>
              <a:t>IEEE:</a:t>
            </a:r>
            <a:r>
              <a:rPr lang="en-US" sz="1300" dirty="0"/>
              <a:t> Institute of Electrical and Electronic Engineers</a:t>
            </a:r>
          </a:p>
          <a:p>
            <a:pPr>
              <a:spcBef>
                <a:spcPts val="100"/>
              </a:spcBef>
            </a:pPr>
            <a:r>
              <a:rPr lang="en-US" sz="1300" b="1" dirty="0"/>
              <a:t>Semaphore: </a:t>
            </a:r>
            <a:r>
              <a:rPr lang="en-US" sz="1300" dirty="0"/>
              <a:t>variable used to access a common resource by multiple threads</a:t>
            </a:r>
          </a:p>
          <a:p>
            <a:pPr>
              <a:spcBef>
                <a:spcPts val="100"/>
              </a:spcBef>
            </a:pPr>
            <a:r>
              <a:rPr lang="en-US" sz="1300" b="1" dirty="0"/>
              <a:t>IPC: </a:t>
            </a:r>
            <a:r>
              <a:rPr lang="en-US" sz="1300" dirty="0"/>
              <a:t>Inter-Process Communication</a:t>
            </a:r>
          </a:p>
          <a:p>
            <a:pPr>
              <a:spcBef>
                <a:spcPts val="100"/>
              </a:spcBef>
            </a:pPr>
            <a:r>
              <a:rPr lang="en-US" sz="1300" b="1" dirty="0"/>
              <a:t>Message Queue: </a:t>
            </a:r>
            <a:r>
              <a:rPr lang="en-US" sz="1300" dirty="0"/>
              <a:t>sibling of the </a:t>
            </a:r>
            <a:r>
              <a:rPr lang="en-US" sz="1300" dirty="0" err="1"/>
              <a:t>ublisher</a:t>
            </a:r>
            <a:r>
              <a:rPr lang="en-US" sz="1300" dirty="0"/>
              <a:t>/subscriber pattern used in message-oriented middleware</a:t>
            </a:r>
          </a:p>
          <a:p>
            <a:pPr>
              <a:spcBef>
                <a:spcPts val="100"/>
              </a:spcBef>
            </a:pPr>
            <a:r>
              <a:rPr lang="en-US" sz="1300" b="1" dirty="0" err="1"/>
              <a:t>pthreads</a:t>
            </a:r>
            <a:r>
              <a:rPr lang="en-US" sz="1300" b="1" dirty="0"/>
              <a:t>: </a:t>
            </a:r>
            <a:r>
              <a:rPr lang="en-US" sz="1300" dirty="0"/>
              <a:t>POSIX threads, execution and parallel execution model, API</a:t>
            </a:r>
          </a:p>
          <a:p>
            <a:pPr>
              <a:spcBef>
                <a:spcPts val="100"/>
              </a:spcBef>
            </a:pPr>
            <a:r>
              <a:rPr lang="en-US" sz="1300" b="1" dirty="0"/>
              <a:t>Robust mutex: </a:t>
            </a:r>
            <a:r>
              <a:rPr lang="en-US" sz="1300" dirty="0"/>
              <a:t>mutex that automatically release the thread when terminated</a:t>
            </a:r>
          </a:p>
          <a:p>
            <a:pPr>
              <a:spcBef>
                <a:spcPts val="100"/>
              </a:spcBef>
            </a:pPr>
            <a:r>
              <a:rPr lang="en-US" sz="1300" b="1" dirty="0"/>
              <a:t>Standard default signal action: </a:t>
            </a:r>
            <a:r>
              <a:rPr lang="en-US" sz="1300" dirty="0"/>
              <a:t>terminate the process (e.g. SIGINT, SIGTERM), terminate the process and generate a core dump (e.g. SIGQUIT), ignore the signal (e.g. SIGCHLD), or stop/continue the process (e.g. SIGSTOP, SIGCONT)</a:t>
            </a:r>
          </a:p>
          <a:p>
            <a:pPr>
              <a:spcBef>
                <a:spcPts val="100"/>
              </a:spcBef>
            </a:pPr>
            <a:r>
              <a:rPr lang="en-US" sz="1300" b="1" dirty="0"/>
              <a:t>BSD</a:t>
            </a:r>
            <a:r>
              <a:rPr lang="fr-FR" sz="1300" b="1" dirty="0"/>
              <a:t>: </a:t>
            </a:r>
            <a:r>
              <a:rPr lang="fr-FR" sz="1300" dirty="0" err="1"/>
              <a:t>Berkley</a:t>
            </a:r>
            <a:r>
              <a:rPr lang="fr-FR" sz="1300" dirty="0"/>
              <a:t> socket</a:t>
            </a:r>
            <a:endParaRPr lang="en-US" sz="1300" dirty="0"/>
          </a:p>
          <a:p>
            <a:pPr>
              <a:spcBef>
                <a:spcPts val="100"/>
              </a:spcBef>
            </a:pPr>
            <a:r>
              <a:rPr lang="fr-FR" sz="1300" b="1" dirty="0"/>
              <a:t>Race condition</a:t>
            </a:r>
            <a:endParaRPr lang="en-US" sz="1300" dirty="0"/>
          </a:p>
          <a:p>
            <a:pPr>
              <a:spcBef>
                <a:spcPts val="100"/>
              </a:spcBef>
            </a:pPr>
            <a:r>
              <a:rPr lang="fr-FR" sz="1300" b="1" dirty="0" err="1"/>
              <a:t>Preemptive</a:t>
            </a:r>
            <a:r>
              <a:rPr lang="fr-FR" sz="1300" b="1" dirty="0"/>
              <a:t> </a:t>
            </a:r>
            <a:r>
              <a:rPr lang="fr-FR" sz="1300" b="1" dirty="0" err="1"/>
              <a:t>scheduler</a:t>
            </a:r>
            <a:r>
              <a:rPr lang="fr-FR" sz="1300" b="1" dirty="0"/>
              <a:t> </a:t>
            </a:r>
            <a:r>
              <a:rPr lang="fr-FR" sz="1300" dirty="0">
                <a:hlinkClick r:id="rId2"/>
              </a:rPr>
              <a:t>https://en.wikipedia.org/wiki/Preemption_(computing)</a:t>
            </a:r>
            <a:r>
              <a:rPr lang="fr-FR" sz="1300" dirty="0"/>
              <a:t> </a:t>
            </a:r>
            <a:endParaRPr lang="en-US" sz="1300" dirty="0"/>
          </a:p>
          <a:p>
            <a:pPr>
              <a:spcBef>
                <a:spcPts val="100"/>
              </a:spcBef>
            </a:pPr>
            <a:r>
              <a:rPr lang="fr-FR" sz="1300" b="1" dirty="0" err="1"/>
              <a:t>VxWorks</a:t>
            </a:r>
            <a:r>
              <a:rPr lang="fr-FR" sz="1300" b="1" dirty="0"/>
              <a:t>: </a:t>
            </a:r>
            <a:r>
              <a:rPr lang="fr-FR" sz="1300" dirty="0" err="1"/>
              <a:t>Proprietary</a:t>
            </a:r>
            <a:r>
              <a:rPr lang="fr-FR" sz="1300" dirty="0"/>
              <a:t> RTOS</a:t>
            </a:r>
            <a:endParaRPr lang="en-US" sz="1300" dirty="0"/>
          </a:p>
          <a:p>
            <a:pPr>
              <a:spcBef>
                <a:spcPts val="100"/>
              </a:spcBef>
            </a:pPr>
            <a:r>
              <a:rPr lang="fr-FR" sz="1300" b="1" dirty="0"/>
              <a:t>LKM</a:t>
            </a:r>
            <a:r>
              <a:rPr lang="fr-FR" sz="1300" dirty="0"/>
              <a:t>: </a:t>
            </a:r>
            <a:r>
              <a:rPr lang="fr-FR" sz="1300" dirty="0" err="1"/>
              <a:t>Loadable</a:t>
            </a:r>
            <a:r>
              <a:rPr lang="fr-FR" sz="1300" dirty="0"/>
              <a:t> Kernel Modules, kernel </a:t>
            </a:r>
            <a:r>
              <a:rPr lang="fr-FR" sz="1300" dirty="0" err="1"/>
              <a:t>binaries</a:t>
            </a:r>
            <a:r>
              <a:rPr lang="fr-FR" sz="1300" dirty="0"/>
              <a:t> </a:t>
            </a:r>
            <a:r>
              <a:rPr lang="fr-FR" sz="1300" dirty="0" err="1"/>
              <a:t>that</a:t>
            </a:r>
            <a:r>
              <a:rPr lang="fr-FR" sz="1300" dirty="0"/>
              <a:t> can </a:t>
            </a:r>
            <a:r>
              <a:rPr lang="fr-FR" sz="1300" dirty="0" err="1"/>
              <a:t>be</a:t>
            </a:r>
            <a:r>
              <a:rPr lang="fr-FR" sz="1300" dirty="0"/>
              <a:t> </a:t>
            </a:r>
            <a:r>
              <a:rPr lang="fr-FR" sz="1300" dirty="0" err="1"/>
              <a:t>loaded</a:t>
            </a:r>
            <a:r>
              <a:rPr lang="fr-FR" sz="1300" dirty="0"/>
              <a:t> and </a:t>
            </a:r>
            <a:r>
              <a:rPr lang="fr-FR" sz="1300" dirty="0" err="1"/>
              <a:t>unloaded</a:t>
            </a:r>
            <a:r>
              <a:rPr lang="fr-FR" sz="1300" dirty="0"/>
              <a:t> </a:t>
            </a:r>
            <a:r>
              <a:rPr lang="fr-FR" sz="1300" dirty="0" err="1"/>
              <a:t>without</a:t>
            </a:r>
            <a:r>
              <a:rPr lang="fr-FR" sz="1300" dirty="0"/>
              <a:t> </a:t>
            </a:r>
            <a:r>
              <a:rPr lang="fr-FR" sz="1300" dirty="0" err="1"/>
              <a:t>rebuilding</a:t>
            </a:r>
            <a:r>
              <a:rPr lang="fr-FR" sz="1300" dirty="0"/>
              <a:t> the image</a:t>
            </a:r>
            <a:endParaRPr lang="en-US" sz="1300" dirty="0"/>
          </a:p>
          <a:p>
            <a:pPr>
              <a:spcBef>
                <a:spcPts val="100"/>
              </a:spcBef>
            </a:pPr>
            <a:r>
              <a:rPr lang="fr-FR" sz="1300" b="1" dirty="0"/>
              <a:t>MPU</a:t>
            </a:r>
            <a:r>
              <a:rPr lang="fr-FR" sz="1300" dirty="0"/>
              <a:t>: Memory Protection Unit</a:t>
            </a:r>
            <a:endParaRPr lang="en-US" sz="1300" dirty="0"/>
          </a:p>
          <a:p>
            <a:pPr>
              <a:spcBef>
                <a:spcPts val="100"/>
              </a:spcBef>
            </a:pPr>
            <a:r>
              <a:rPr lang="fr-FR" sz="1300" b="1" dirty="0"/>
              <a:t>MMU</a:t>
            </a:r>
            <a:r>
              <a:rPr lang="fr-FR" sz="1300" dirty="0"/>
              <a:t>: Memory </a:t>
            </a:r>
            <a:r>
              <a:rPr lang="fr-FR" sz="1300" dirty="0" err="1"/>
              <a:t>Managment</a:t>
            </a:r>
            <a:r>
              <a:rPr lang="fr-FR" sz="1300" dirty="0"/>
              <a:t> Unit</a:t>
            </a:r>
            <a:endParaRPr lang="en-US" sz="1300" dirty="0"/>
          </a:p>
          <a:p>
            <a:pPr lvl="1">
              <a:spcBef>
                <a:spcPts val="100"/>
              </a:spcBef>
              <a:buFont typeface="Courier New,monospace" panose="020B0604020202020204" pitchFamily="34" charset="0"/>
              <a:buChar char="o"/>
            </a:pPr>
            <a:r>
              <a:rPr lang="fr-FR" sz="1300" dirty="0"/>
              <a:t>Flat Embedded </a:t>
            </a:r>
            <a:r>
              <a:rPr lang="fr-FR" sz="1300" dirty="0" err="1"/>
              <a:t>Build</a:t>
            </a:r>
          </a:p>
          <a:p>
            <a:pPr lvl="1">
              <a:spcBef>
                <a:spcPts val="100"/>
              </a:spcBef>
              <a:buFont typeface="Courier New,monospace" panose="020B0604020202020204" pitchFamily="34" charset="0"/>
              <a:buChar char="o"/>
            </a:pPr>
            <a:r>
              <a:rPr lang="fr-FR" sz="1300" dirty="0" err="1"/>
              <a:t>Protected</a:t>
            </a:r>
            <a:r>
              <a:rPr lang="fr-FR" sz="1300" dirty="0"/>
              <a:t> </a:t>
            </a:r>
            <a:r>
              <a:rPr lang="fr-FR" sz="1300" dirty="0" err="1"/>
              <a:t>Build</a:t>
            </a:r>
            <a:r>
              <a:rPr lang="fr-FR" sz="1300" dirty="0"/>
              <a:t> </a:t>
            </a:r>
            <a:r>
              <a:rPr lang="fr-FR" sz="1300" dirty="0" err="1"/>
              <a:t>with</a:t>
            </a:r>
            <a:r>
              <a:rPr lang="fr-FR" sz="1300" dirty="0"/>
              <a:t> Memory Protection Unit (MPU)</a:t>
            </a:r>
            <a:endParaRPr lang="en-US" sz="1300" dirty="0"/>
          </a:p>
          <a:p>
            <a:pPr lvl="1">
              <a:spcBef>
                <a:spcPts val="100"/>
              </a:spcBef>
              <a:buFont typeface="Courier New,monospace" panose="020B0604020202020204" pitchFamily="34" charset="0"/>
              <a:buChar char="o"/>
            </a:pPr>
            <a:r>
              <a:rPr lang="fr-FR" sz="1300" dirty="0"/>
              <a:t>Kernel </a:t>
            </a:r>
            <a:r>
              <a:rPr lang="fr-FR" sz="1300" dirty="0" err="1"/>
              <a:t>Build</a:t>
            </a:r>
            <a:r>
              <a:rPr lang="fr-FR" sz="1300" dirty="0"/>
              <a:t> </a:t>
            </a:r>
            <a:r>
              <a:rPr lang="fr-FR" sz="1300" dirty="0" err="1"/>
              <a:t>with</a:t>
            </a:r>
            <a:r>
              <a:rPr lang="fr-FR" sz="1300" dirty="0"/>
              <a:t> Memory Management Unit (MMU)</a:t>
            </a:r>
            <a:endParaRPr lang="en-US" sz="1300" dirty="0"/>
          </a:p>
          <a:p>
            <a:pPr>
              <a:spcBef>
                <a:spcPts val="100"/>
              </a:spcBef>
              <a:buFont typeface="Courier New,monospace" panose="020B0604020202020204" pitchFamily="34" charset="0"/>
              <a:buChar char="o"/>
            </a:pPr>
            <a:r>
              <a:rPr lang="fr-FR" sz="1300" b="1" dirty="0"/>
              <a:t>NUMA</a:t>
            </a:r>
            <a:r>
              <a:rPr lang="fr-FR" sz="1300" dirty="0"/>
              <a:t>: Non-Uniform Memory Access</a:t>
            </a:r>
            <a:endParaRPr lang="en-US" sz="1300" dirty="0"/>
          </a:p>
          <a:p>
            <a:pPr>
              <a:spcBef>
                <a:spcPts val="100"/>
              </a:spcBef>
              <a:buFont typeface="Courier New,monospace" panose="020B0604020202020204" pitchFamily="34" charset="0"/>
              <a:buChar char="o"/>
            </a:pPr>
            <a:r>
              <a:rPr lang="en-US" sz="1300" b="1" dirty="0"/>
              <a:t>HM</a:t>
            </a:r>
            <a:r>
              <a:rPr lang="en-US" sz="1300" dirty="0"/>
              <a:t>: Heterogeneous Memory</a:t>
            </a:r>
          </a:p>
          <a:p>
            <a:pPr>
              <a:spcBef>
                <a:spcPts val="100"/>
              </a:spcBef>
              <a:buFont typeface="Courier New,monospace" panose="020B0604020202020204" pitchFamily="34" charset="0"/>
              <a:buChar char="o"/>
            </a:pPr>
            <a:r>
              <a:rPr lang="en-US" sz="1300" b="1" dirty="0"/>
              <a:t>A page</a:t>
            </a:r>
            <a:r>
              <a:rPr lang="en-US" sz="1300" dirty="0"/>
              <a:t>: A fixed-length continuous block of virtual memory</a:t>
            </a:r>
            <a:br>
              <a:rPr lang="en-US" sz="1300" dirty="0"/>
            </a:br>
            <a:endParaRPr lang="en-US" sz="1300" dirty="0"/>
          </a:p>
          <a:p>
            <a:pPr marL="0" indent="0">
              <a:spcBef>
                <a:spcPts val="100"/>
              </a:spcBef>
              <a:buNone/>
            </a:pPr>
            <a:endParaRPr lang="en-US" sz="1300" dirty="0"/>
          </a:p>
          <a:p>
            <a:pPr>
              <a:spcBef>
                <a:spcPts val="100"/>
              </a:spcBef>
            </a:pPr>
            <a:endParaRPr lang="en-US" sz="1300" dirty="0"/>
          </a:p>
        </p:txBody>
      </p:sp>
    </p:spTree>
    <p:extLst>
      <p:ext uri="{BB962C8B-B14F-4D97-AF65-F5344CB8AC3E}">
        <p14:creationId xmlns:p14="http://schemas.microsoft.com/office/powerpoint/2010/main" val="3754664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1CCFF-CBC7-98F2-B9F8-3C5AA6D15E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D56DFF-21B6-1817-68D5-C8CD2782CBCC}"/>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374623E5-C8B2-2D55-FF31-4F610F1B21A4}"/>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t>Memory allocators</a:t>
            </a:r>
            <a:r>
              <a:rPr lang="en-US" sz="1300" dirty="0"/>
              <a:t>:</a:t>
            </a:r>
          </a:p>
          <a:p>
            <a:pPr lvl="1">
              <a:spcBef>
                <a:spcPts val="100"/>
              </a:spcBef>
              <a:buFont typeface="Courier New,monospace" panose="020B0604020202020204" pitchFamily="34" charset="0"/>
              <a:buChar char="o"/>
            </a:pPr>
            <a:r>
              <a:rPr lang="en-US" sz="1300" dirty="0"/>
              <a:t>Standard heap memory allocation: pool of memory for dynamic allocation at runtime (malloc, …). Program ask a certain amount of the heap, and the allocator finds it </a:t>
            </a:r>
          </a:p>
          <a:p>
            <a:pPr lvl="1">
              <a:spcBef>
                <a:spcPts val="100"/>
              </a:spcBef>
              <a:buFont typeface="Courier New,monospace" panose="020B0604020202020204" pitchFamily="34" charset="0"/>
              <a:buChar char="o"/>
            </a:pPr>
            <a:r>
              <a:rPr lang="en-US" sz="1300" dirty="0"/>
              <a:t>Granule allocator: allocator the manage 'granules': fixed size memory blocks. Used with DMA as precise alignment is required. More performant but memory waste.</a:t>
            </a:r>
          </a:p>
          <a:p>
            <a:pPr lvl="1">
              <a:spcBef>
                <a:spcPts val="100"/>
              </a:spcBef>
              <a:buFont typeface="Courier New,monospace" panose="020B0604020202020204" pitchFamily="34" charset="0"/>
              <a:buChar char="o"/>
            </a:pPr>
            <a:r>
              <a:rPr lang="en-US" sz="1300" dirty="0"/>
              <a:t>Shared memory: region that can be access by multiple processes simultaneously, </a:t>
            </a:r>
          </a:p>
          <a:p>
            <a:pPr lvl="1">
              <a:spcBef>
                <a:spcPts val="100"/>
              </a:spcBef>
              <a:buFont typeface="Courier New,monospace" panose="020B0604020202020204" pitchFamily="34" charset="0"/>
              <a:buChar char="o"/>
            </a:pPr>
            <a:r>
              <a:rPr lang="en-US" sz="1300" dirty="0"/>
              <a:t>Dynamically allocated, per processes, heap memory: Private heap memory for each process</a:t>
            </a:r>
          </a:p>
          <a:p>
            <a:pPr>
              <a:spcBef>
                <a:spcPts val="100"/>
              </a:spcBef>
            </a:pPr>
            <a:r>
              <a:rPr lang="en-US" sz="1300" b="1" dirty="0"/>
              <a:t>IPC</a:t>
            </a:r>
            <a:r>
              <a:rPr lang="en-US" sz="1300" dirty="0"/>
              <a:t>: Inter Process Communication</a:t>
            </a:r>
          </a:p>
          <a:p>
            <a:pPr>
              <a:spcBef>
                <a:spcPts val="100"/>
              </a:spcBef>
            </a:pPr>
            <a:r>
              <a:rPr lang="en-US" sz="1300" b="1" dirty="0"/>
              <a:t>inheritable controlling terminal</a:t>
            </a:r>
            <a:r>
              <a:rPr lang="en-US" sz="1300" dirty="0"/>
              <a:t>: the terminal of a child process is inherited when forker</a:t>
            </a:r>
          </a:p>
          <a:p>
            <a:pPr>
              <a:spcBef>
                <a:spcPts val="100"/>
              </a:spcBef>
            </a:pPr>
            <a:r>
              <a:rPr lang="en-US" sz="1300" b="1" dirty="0"/>
              <a:t>I/O redirection</a:t>
            </a:r>
            <a:r>
              <a:rPr lang="en-US" sz="1300" dirty="0"/>
              <a:t>: command line command to specify input and output of a process</a:t>
            </a:r>
          </a:p>
          <a:p>
            <a:pPr>
              <a:spcBef>
                <a:spcPts val="100"/>
              </a:spcBef>
            </a:pPr>
            <a:r>
              <a:rPr lang="en-US" sz="1300" b="1" dirty="0"/>
              <a:t>PTY/pseudotty</a:t>
            </a:r>
            <a:r>
              <a:rPr lang="en-US" sz="1300" dirty="0"/>
              <a:t>: </a:t>
            </a:r>
            <a:r>
              <a:rPr lang="en-US" sz="1300" b="1" dirty="0"/>
              <a:t>pseudoterminal</a:t>
            </a:r>
            <a:r>
              <a:rPr lang="en-US" sz="1300" dirty="0"/>
              <a:t>, </a:t>
            </a:r>
            <a:r>
              <a:rPr lang="en-US" sz="1300" dirty="0">
                <a:solidFill>
                  <a:srgbClr val="0C0D0E"/>
                </a:solidFill>
              </a:rPr>
              <a:t>A device that has the functions of a physical terminal without actually being one.</a:t>
            </a:r>
            <a:endParaRPr lang="en-US" sz="1300" dirty="0"/>
          </a:p>
          <a:p>
            <a:pPr>
              <a:spcBef>
                <a:spcPts val="100"/>
              </a:spcBef>
            </a:pPr>
            <a:r>
              <a:rPr lang="en-US" sz="1300" b="1" dirty="0"/>
              <a:t>In memory, pseudo-file system</a:t>
            </a:r>
            <a:r>
              <a:rPr lang="en-US" sz="1300" dirty="0"/>
              <a:t>: RAM based file system that create its structure on the fly, meaning that it only exist while the system is </a:t>
            </a:r>
            <a:r>
              <a:rPr lang="en-US" sz="1300" dirty="0" err="1"/>
              <a:t>runnning</a:t>
            </a:r>
            <a:r>
              <a:rPr lang="en-US" sz="1300" dirty="0"/>
              <a:t>.</a:t>
            </a:r>
          </a:p>
          <a:p>
            <a:pPr>
              <a:spcBef>
                <a:spcPts val="100"/>
              </a:spcBef>
            </a:pPr>
            <a:r>
              <a:rPr lang="en-US" sz="1300" b="1" dirty="0"/>
              <a:t>VFS</a:t>
            </a:r>
            <a:r>
              <a:rPr lang="en-US" sz="1300" dirty="0"/>
              <a:t>: Virtual File System, </a:t>
            </a:r>
            <a:r>
              <a:rPr lang="en-US" sz="1300" dirty="0">
                <a:solidFill>
                  <a:srgbClr val="202122"/>
                </a:solidFill>
              </a:rPr>
              <a:t>allow client applications to access different types of concrete file systems in a uniform way (window, </a:t>
            </a:r>
            <a:r>
              <a:rPr lang="en-US" sz="1300" dirty="0" err="1">
                <a:solidFill>
                  <a:srgbClr val="202122"/>
                </a:solidFill>
              </a:rPr>
              <a:t>linux</a:t>
            </a:r>
            <a:r>
              <a:rPr lang="en-US" sz="1300" dirty="0">
                <a:solidFill>
                  <a:srgbClr val="202122"/>
                </a:solidFill>
              </a:rPr>
              <a:t>, ethernet, …) in 1 file system thanks to abstraction</a:t>
            </a:r>
            <a:endParaRPr lang="en-US" sz="1300" dirty="0"/>
          </a:p>
          <a:p>
            <a:pPr>
              <a:spcBef>
                <a:spcPts val="100"/>
              </a:spcBef>
            </a:pPr>
            <a:r>
              <a:rPr lang="en-US" sz="1300" b="1" dirty="0">
                <a:solidFill>
                  <a:srgbClr val="404040"/>
                </a:solidFill>
              </a:rPr>
              <a:t>Mount-able volumes</a:t>
            </a:r>
            <a:endParaRPr lang="en-US" sz="1300" dirty="0"/>
          </a:p>
          <a:p>
            <a:pPr>
              <a:spcBef>
                <a:spcPts val="100"/>
              </a:spcBef>
            </a:pPr>
            <a:r>
              <a:rPr lang="en-US" sz="1300" b="1" dirty="0">
                <a:solidFill>
                  <a:srgbClr val="404040"/>
                </a:solidFill>
              </a:rPr>
              <a:t>SYSLOG: </a:t>
            </a:r>
            <a:r>
              <a:rPr lang="en-US" sz="1300" dirty="0">
                <a:solidFill>
                  <a:srgbClr val="404040"/>
                </a:solidFill>
              </a:rPr>
              <a:t>System Logging</a:t>
            </a:r>
          </a:p>
          <a:p>
            <a:pPr>
              <a:spcBef>
                <a:spcPts val="100"/>
              </a:spcBef>
            </a:pPr>
            <a:r>
              <a:rPr lang="en-US" sz="1300" b="1" dirty="0">
                <a:solidFill>
                  <a:srgbClr val="404040"/>
                </a:solidFill>
              </a:rPr>
              <a:t>FAT</a:t>
            </a:r>
            <a:r>
              <a:rPr lang="en-US" sz="1300" dirty="0">
                <a:solidFill>
                  <a:srgbClr val="404040"/>
                </a:solidFill>
              </a:rPr>
              <a:t>: File Allocation Table</a:t>
            </a:r>
          </a:p>
          <a:p>
            <a:pPr>
              <a:spcBef>
                <a:spcPts val="100"/>
              </a:spcBef>
            </a:pPr>
            <a:r>
              <a:rPr lang="en-US" sz="1300" b="1" dirty="0">
                <a:solidFill>
                  <a:srgbClr val="404040"/>
                </a:solidFill>
              </a:rPr>
              <a:t>NFS</a:t>
            </a:r>
            <a:r>
              <a:rPr lang="en-US" sz="1300" dirty="0">
                <a:solidFill>
                  <a:srgbClr val="404040"/>
                </a:solidFill>
              </a:rPr>
              <a:t>: Network File System</a:t>
            </a:r>
            <a:endParaRPr lang="en-US" sz="1300" dirty="0"/>
          </a:p>
          <a:p>
            <a:pPr>
              <a:spcBef>
                <a:spcPts val="100"/>
              </a:spcBef>
            </a:pPr>
            <a:r>
              <a:rPr lang="en-US" sz="1300" b="1" dirty="0" err="1">
                <a:solidFill>
                  <a:srgbClr val="404040"/>
                </a:solidFill>
              </a:rPr>
              <a:t>NxFFS</a:t>
            </a:r>
            <a:r>
              <a:rPr lang="en-US" sz="1300" dirty="0">
                <a:solidFill>
                  <a:srgbClr val="404040"/>
                </a:solidFill>
              </a:rPr>
              <a:t>: </a:t>
            </a:r>
            <a:r>
              <a:rPr lang="en-US" sz="1300" dirty="0" err="1">
                <a:solidFill>
                  <a:srgbClr val="404040"/>
                </a:solidFill>
              </a:rPr>
              <a:t>Nuttx</a:t>
            </a:r>
            <a:r>
              <a:rPr lang="en-US" sz="1300" dirty="0">
                <a:solidFill>
                  <a:srgbClr val="404040"/>
                </a:solidFill>
              </a:rPr>
              <a:t> Flash File System (wear balancer)</a:t>
            </a:r>
          </a:p>
          <a:p>
            <a:pPr>
              <a:spcBef>
                <a:spcPts val="100"/>
              </a:spcBef>
            </a:pPr>
            <a:r>
              <a:rPr lang="en-US" sz="1300" b="1" dirty="0" err="1">
                <a:solidFill>
                  <a:srgbClr val="404040"/>
                </a:solidFill>
              </a:rPr>
              <a:t>LittkeFS</a:t>
            </a:r>
            <a:r>
              <a:rPr lang="en-US" sz="1300" dirty="0">
                <a:solidFill>
                  <a:srgbClr val="404040"/>
                </a:solidFill>
              </a:rPr>
              <a:t>: Little Flash System(wear balancer) for arm embedded</a:t>
            </a:r>
          </a:p>
          <a:p>
            <a:pPr>
              <a:spcBef>
                <a:spcPts val="100"/>
              </a:spcBef>
            </a:pPr>
            <a:r>
              <a:rPr lang="en-US" sz="1300" b="1" dirty="0">
                <a:solidFill>
                  <a:srgbClr val="404040"/>
                </a:solidFill>
              </a:rPr>
              <a:t>ROMFS</a:t>
            </a:r>
            <a:r>
              <a:rPr lang="en-US" sz="1300" dirty="0">
                <a:solidFill>
                  <a:srgbClr val="404040"/>
                </a:solidFill>
              </a:rPr>
              <a:t>: Read-Only Memory File System</a:t>
            </a:r>
          </a:p>
          <a:p>
            <a:pPr>
              <a:spcBef>
                <a:spcPts val="100"/>
              </a:spcBef>
            </a:pPr>
            <a:r>
              <a:rPr lang="en-US" sz="1300" b="1" dirty="0">
                <a:solidFill>
                  <a:srgbClr val="404040"/>
                </a:solidFill>
              </a:rPr>
              <a:t>XIP capable</a:t>
            </a:r>
            <a:r>
              <a:rPr lang="en-US" sz="1300" dirty="0">
                <a:solidFill>
                  <a:srgbClr val="404040"/>
                </a:solidFill>
              </a:rPr>
              <a:t>: </a:t>
            </a:r>
            <a:r>
              <a:rPr lang="en-US" sz="1300" dirty="0" err="1">
                <a:solidFill>
                  <a:srgbClr val="404040"/>
                </a:solidFill>
              </a:rPr>
              <a:t>eXecute</a:t>
            </a:r>
            <a:r>
              <a:rPr lang="en-US" sz="1300" dirty="0">
                <a:solidFill>
                  <a:srgbClr val="404040"/>
                </a:solidFill>
              </a:rPr>
              <a:t> In Place, </a:t>
            </a:r>
            <a:r>
              <a:rPr lang="en-US" sz="1300" dirty="0">
                <a:solidFill>
                  <a:srgbClr val="404040"/>
                </a:solidFill>
                <a:ea typeface="+mn-lt"/>
                <a:cs typeface="+mn-lt"/>
              </a:rPr>
              <a:t>means a device or system can execute code directly from flash memory without first copying it into RAM</a:t>
            </a:r>
          </a:p>
          <a:p>
            <a:pPr>
              <a:spcBef>
                <a:spcPts val="100"/>
              </a:spcBef>
            </a:pPr>
            <a:r>
              <a:rPr lang="en-US" sz="1300" b="1" dirty="0">
                <a:solidFill>
                  <a:srgbClr val="404040"/>
                </a:solidFill>
              </a:rPr>
              <a:t>QSPI</a:t>
            </a:r>
            <a:r>
              <a:rPr lang="en-US" sz="1300" dirty="0">
                <a:solidFill>
                  <a:srgbClr val="404040"/>
                </a:solidFill>
              </a:rPr>
              <a:t>: Quad Serial Peripheral Interface</a:t>
            </a:r>
          </a:p>
          <a:p>
            <a:pPr>
              <a:spcBef>
                <a:spcPts val="100"/>
              </a:spcBef>
            </a:pPr>
            <a:r>
              <a:rPr lang="en-US" sz="1300" b="1" dirty="0">
                <a:solidFill>
                  <a:srgbClr val="404040"/>
                </a:solidFill>
              </a:rPr>
              <a:t>CROMFS</a:t>
            </a:r>
            <a:r>
              <a:rPr lang="en-US" sz="1300" dirty="0">
                <a:solidFill>
                  <a:srgbClr val="404040"/>
                </a:solidFill>
              </a:rPr>
              <a:t>: Compressed ROMFS</a:t>
            </a:r>
          </a:p>
          <a:p>
            <a:pPr>
              <a:spcBef>
                <a:spcPts val="100"/>
              </a:spcBef>
            </a:pPr>
            <a:r>
              <a:rPr lang="en-US" sz="1300" b="1" dirty="0">
                <a:solidFill>
                  <a:srgbClr val="404040"/>
                </a:solidFill>
              </a:rPr>
              <a:t>TMPFS</a:t>
            </a:r>
            <a:r>
              <a:rPr lang="en-US" sz="1300" dirty="0">
                <a:solidFill>
                  <a:srgbClr val="404040"/>
                </a:solidFill>
              </a:rPr>
              <a:t>: </a:t>
            </a:r>
            <a:r>
              <a:rPr lang="en-US" sz="1300" dirty="0" err="1">
                <a:solidFill>
                  <a:srgbClr val="404040"/>
                </a:solidFill>
              </a:rPr>
              <a:t>TeMPorary</a:t>
            </a:r>
            <a:r>
              <a:rPr lang="en-US" sz="1300" dirty="0">
                <a:solidFill>
                  <a:srgbClr val="404040"/>
                </a:solidFill>
              </a:rPr>
              <a:t> File System, file storage paradigm that is intended to appear as a mounted file system but is stored in volatile memory</a:t>
            </a:r>
          </a:p>
          <a:p>
            <a:pPr>
              <a:spcBef>
                <a:spcPts val="100"/>
              </a:spcBef>
            </a:pPr>
            <a:r>
              <a:rPr lang="en-US" sz="1300" b="1" dirty="0">
                <a:solidFill>
                  <a:srgbClr val="404040"/>
                </a:solidFill>
              </a:rPr>
              <a:t>RAM</a:t>
            </a:r>
            <a:r>
              <a:rPr lang="en-US" sz="1300" dirty="0">
                <a:solidFill>
                  <a:srgbClr val="404040"/>
                </a:solidFill>
              </a:rPr>
              <a:t> disk: equivalent to TMPFS but need a File System to operated on top of it, where TMPFS is the file system</a:t>
            </a:r>
          </a:p>
          <a:p>
            <a:pPr>
              <a:spcBef>
                <a:spcPts val="100"/>
              </a:spcBef>
            </a:pPr>
            <a:r>
              <a:rPr lang="en-US" sz="1300" b="1" dirty="0" err="1">
                <a:solidFill>
                  <a:srgbClr val="404040"/>
                </a:solidFill>
              </a:rPr>
              <a:t>UnionFS</a:t>
            </a:r>
            <a:r>
              <a:rPr lang="en-US" sz="1300" dirty="0">
                <a:solidFill>
                  <a:srgbClr val="404040"/>
                </a:solidFill>
              </a:rPr>
              <a:t>: File System which implement an union mount for other files systems</a:t>
            </a:r>
          </a:p>
          <a:p>
            <a:pPr>
              <a:spcBef>
                <a:spcPts val="100"/>
              </a:spcBef>
            </a:pPr>
            <a:r>
              <a:rPr lang="en-US" sz="1300" b="1" dirty="0">
                <a:solidFill>
                  <a:srgbClr val="404040"/>
                </a:solidFill>
              </a:rPr>
              <a:t>Union mount</a:t>
            </a:r>
            <a:r>
              <a:rPr lang="en-US" sz="1300" dirty="0">
                <a:solidFill>
                  <a:srgbClr val="404040"/>
                </a:solidFill>
              </a:rPr>
              <a:t>: Is a way to combine </a:t>
            </a:r>
            <a:r>
              <a:rPr lang="en-US" sz="1300" dirty="0" err="1">
                <a:solidFill>
                  <a:srgbClr val="404040"/>
                </a:solidFill>
              </a:rPr>
              <a:t>mutiples</a:t>
            </a:r>
            <a:r>
              <a:rPr lang="en-US" sz="1300" dirty="0">
                <a:solidFill>
                  <a:srgbClr val="404040"/>
                </a:solidFill>
              </a:rPr>
              <a:t> directories into one that appears to contain their combined content</a:t>
            </a:r>
            <a:endParaRPr lang="en-US" sz="1300" b="1" dirty="0">
              <a:solidFill>
                <a:srgbClr val="404040"/>
              </a:solidFill>
            </a:endParaRPr>
          </a:p>
          <a:p>
            <a:pPr>
              <a:spcBef>
                <a:spcPts val="100"/>
              </a:spcBef>
            </a:pPr>
            <a:r>
              <a:rPr lang="en-US" sz="1300" b="1" dirty="0">
                <a:solidFill>
                  <a:srgbClr val="404040"/>
                </a:solidFill>
              </a:rPr>
              <a:t>FTP</a:t>
            </a:r>
            <a:r>
              <a:rPr lang="en-US" sz="1300" dirty="0">
                <a:solidFill>
                  <a:srgbClr val="404040"/>
                </a:solidFill>
              </a:rPr>
              <a:t>: File </a:t>
            </a:r>
            <a:r>
              <a:rPr lang="en-US" sz="1300" dirty="0" err="1">
                <a:solidFill>
                  <a:srgbClr val="404040"/>
                </a:solidFill>
              </a:rPr>
              <a:t>Transfert</a:t>
            </a:r>
            <a:r>
              <a:rPr lang="en-US" sz="1300" dirty="0">
                <a:solidFill>
                  <a:srgbClr val="404040"/>
                </a:solidFill>
              </a:rPr>
              <a:t> Protocol</a:t>
            </a:r>
          </a:p>
          <a:p>
            <a:pPr>
              <a:spcBef>
                <a:spcPts val="100"/>
              </a:spcBef>
            </a:pPr>
            <a:r>
              <a:rPr lang="en-US" sz="1300" b="1" dirty="0">
                <a:solidFill>
                  <a:srgbClr val="404040"/>
                </a:solidFill>
              </a:rPr>
              <a:t>TFTP</a:t>
            </a:r>
            <a:r>
              <a:rPr lang="en-US" sz="1300" dirty="0">
                <a:solidFill>
                  <a:srgbClr val="404040"/>
                </a:solidFill>
              </a:rPr>
              <a:t>: Trivial File </a:t>
            </a:r>
            <a:r>
              <a:rPr lang="en-US" sz="1300" dirty="0" err="1">
                <a:solidFill>
                  <a:srgbClr val="404040"/>
                </a:solidFill>
              </a:rPr>
              <a:t>Transfert</a:t>
            </a:r>
            <a:r>
              <a:rPr lang="en-US" sz="1300" dirty="0">
                <a:solidFill>
                  <a:srgbClr val="404040"/>
                </a:solidFill>
              </a:rPr>
              <a:t> Protocol</a:t>
            </a:r>
          </a:p>
          <a:p>
            <a:pPr>
              <a:spcBef>
                <a:spcPts val="100"/>
              </a:spcBef>
            </a:pPr>
            <a:endParaRPr lang="en-US" sz="1300" dirty="0">
              <a:solidFill>
                <a:srgbClr val="404040"/>
              </a:solidFill>
            </a:endParaRPr>
          </a:p>
          <a:p>
            <a:pPr>
              <a:spcBef>
                <a:spcPts val="100"/>
              </a:spcBef>
            </a:pPr>
            <a:endParaRPr lang="en-US" sz="1300" b="1" dirty="0"/>
          </a:p>
          <a:p>
            <a:pPr>
              <a:spcBef>
                <a:spcPts val="100"/>
              </a:spcBef>
            </a:pPr>
            <a:endParaRPr lang="en-US" sz="1300" dirty="0"/>
          </a:p>
        </p:txBody>
      </p:sp>
    </p:spTree>
    <p:extLst>
      <p:ext uri="{BB962C8B-B14F-4D97-AF65-F5344CB8AC3E}">
        <p14:creationId xmlns:p14="http://schemas.microsoft.com/office/powerpoint/2010/main" val="3850117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0DFF8-3E1C-B810-A0DA-BA2097C4CB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DD9C93F-15D7-A7CA-E3B3-DFDAD0F239BF}"/>
              </a:ext>
            </a:extLst>
          </p:cNvPr>
          <p:cNvSpPr>
            <a:spLocks noGrp="1"/>
          </p:cNvSpPr>
          <p:nvPr>
            <p:ph type="title"/>
          </p:nvPr>
        </p:nvSpPr>
        <p:spPr>
          <a:xfrm>
            <a:off x="0" y="-251563"/>
            <a:ext cx="10515600" cy="1325563"/>
          </a:xfrm>
        </p:spPr>
        <p:txBody>
          <a:bodyPr/>
          <a:lstStyle/>
          <a:p>
            <a:r>
              <a:rPr lang="fr-FR" dirty="0"/>
              <a:t>Vocab	</a:t>
            </a:r>
            <a:endParaRPr lang="en-US" dirty="0"/>
          </a:p>
        </p:txBody>
      </p:sp>
      <p:sp>
        <p:nvSpPr>
          <p:cNvPr id="4" name="Espace réservé du contenu 2">
            <a:extLst>
              <a:ext uri="{FF2B5EF4-FFF2-40B4-BE49-F238E27FC236}">
                <a16:creationId xmlns:a16="http://schemas.microsoft.com/office/drawing/2014/main" id="{ACBFE193-0555-A057-64C3-F168C8A08121}"/>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solidFill>
                  <a:srgbClr val="404040"/>
                </a:solidFill>
              </a:rPr>
              <a:t>HTML</a:t>
            </a:r>
            <a:r>
              <a:rPr lang="en-US" sz="1300" dirty="0">
                <a:solidFill>
                  <a:srgbClr val="404040"/>
                </a:solidFill>
              </a:rPr>
              <a:t>: </a:t>
            </a:r>
            <a:r>
              <a:rPr lang="en-US" sz="1300" dirty="0" err="1">
                <a:solidFill>
                  <a:srgbClr val="404040"/>
                </a:solidFill>
              </a:rPr>
              <a:t>HyperText</a:t>
            </a:r>
            <a:r>
              <a:rPr lang="en-US" sz="1300" dirty="0">
                <a:solidFill>
                  <a:srgbClr val="404040"/>
                </a:solidFill>
              </a:rPr>
              <a:t> Markup Language</a:t>
            </a:r>
          </a:p>
          <a:p>
            <a:pPr>
              <a:spcBef>
                <a:spcPts val="100"/>
              </a:spcBef>
            </a:pPr>
            <a:r>
              <a:rPr lang="en-US" sz="1300" dirty="0">
                <a:solidFill>
                  <a:srgbClr val="404040"/>
                </a:solidFill>
              </a:rPr>
              <a:t>Device Driver: Piece of software that allows the operating system to communicate with an HW device</a:t>
            </a:r>
            <a:endParaRPr lang="en-US" sz="1300" dirty="0"/>
          </a:p>
          <a:p>
            <a:pPr>
              <a:spcBef>
                <a:spcPts val="100"/>
              </a:spcBef>
            </a:pPr>
            <a:r>
              <a:rPr lang="en-US" sz="1300" b="1" dirty="0"/>
              <a:t>CDI ('c')</a:t>
            </a:r>
            <a:r>
              <a:rPr lang="en-US" sz="1300" dirty="0"/>
              <a:t>: Character-Device Interface, device driver that transfer data as a continuous array of bytes (e.g., serial port, keyboard)</a:t>
            </a:r>
            <a:endParaRPr lang="en-US" sz="1300" dirty="0">
              <a:solidFill>
                <a:srgbClr val="404040"/>
              </a:solidFill>
            </a:endParaRPr>
          </a:p>
          <a:p>
            <a:pPr>
              <a:spcBef>
                <a:spcPts val="100"/>
              </a:spcBef>
            </a:pPr>
            <a:r>
              <a:rPr lang="en-US" sz="1300" b="1" dirty="0"/>
              <a:t>BDI ('b'): </a:t>
            </a:r>
            <a:r>
              <a:rPr lang="en-US" sz="1300" dirty="0"/>
              <a:t> Block-Device Interface, device driver that transfer data as fixed size chunk called blocks (e.g., hard disk, </a:t>
            </a:r>
            <a:r>
              <a:rPr lang="en-US" sz="1300" dirty="0" err="1"/>
              <a:t>usb</a:t>
            </a:r>
            <a:r>
              <a:rPr lang="en-US" sz="1300" dirty="0"/>
              <a:t> drives)</a:t>
            </a:r>
          </a:p>
          <a:p>
            <a:pPr>
              <a:spcBef>
                <a:spcPts val="100"/>
              </a:spcBef>
            </a:pPr>
            <a:r>
              <a:rPr lang="en-US" sz="1300" b="1" dirty="0"/>
              <a:t>Raw I/O and Direct I/O</a:t>
            </a:r>
            <a:r>
              <a:rPr lang="en-US" sz="1300" dirty="0"/>
              <a:t>: are mechanisms that bypass the standard operating system buffer cache for data transfer, but still use the FS. It bypass the Page Cache of the OS</a:t>
            </a:r>
          </a:p>
          <a:p>
            <a:pPr>
              <a:spcBef>
                <a:spcPts val="100"/>
              </a:spcBef>
            </a:pPr>
            <a:r>
              <a:rPr lang="en-US" sz="1300" b="1" dirty="0"/>
              <a:t>IO</a:t>
            </a:r>
            <a:r>
              <a:rPr lang="fr-FR" sz="1300" b="1" dirty="0"/>
              <a:t>MMU</a:t>
            </a:r>
            <a:r>
              <a:rPr lang="fr-FR" sz="1300" dirty="0"/>
              <a:t>: </a:t>
            </a:r>
            <a:r>
              <a:rPr lang="en-US" sz="1300" dirty="0"/>
              <a:t>I/O Memory Management Unit</a:t>
            </a:r>
          </a:p>
          <a:p>
            <a:pPr>
              <a:spcBef>
                <a:spcPts val="100"/>
              </a:spcBef>
            </a:pPr>
            <a:r>
              <a:rPr lang="en-US" sz="1300" b="1" dirty="0"/>
              <a:t>AIO</a:t>
            </a:r>
            <a:r>
              <a:rPr lang="en-US" sz="1300" dirty="0"/>
              <a:t>: Asynchronous I/O</a:t>
            </a:r>
          </a:p>
          <a:p>
            <a:pPr>
              <a:spcBef>
                <a:spcPts val="100"/>
              </a:spcBef>
            </a:pPr>
            <a:r>
              <a:rPr lang="en-US" sz="1300" b="1" dirty="0"/>
              <a:t>INTID</a:t>
            </a:r>
            <a:r>
              <a:rPr lang="en-US" sz="1300" dirty="0"/>
              <a:t>: Interrupt ID</a:t>
            </a:r>
          </a:p>
          <a:p>
            <a:pPr>
              <a:spcBef>
                <a:spcPts val="100"/>
              </a:spcBef>
            </a:pPr>
            <a:r>
              <a:rPr lang="en-US" sz="1300" b="1" dirty="0"/>
              <a:t>SBSA</a:t>
            </a:r>
            <a:r>
              <a:rPr lang="en-US" sz="1300" dirty="0"/>
              <a:t>: Server Based System Architecture</a:t>
            </a:r>
          </a:p>
          <a:p>
            <a:pPr>
              <a:spcBef>
                <a:spcPts val="100"/>
              </a:spcBef>
            </a:pPr>
            <a:r>
              <a:rPr lang="en-US" sz="1300" b="1" dirty="0"/>
              <a:t>PPI</a:t>
            </a:r>
            <a:r>
              <a:rPr lang="en-US" sz="1300" dirty="0"/>
              <a:t>: Private Peripheral Interrupt</a:t>
            </a:r>
          </a:p>
          <a:p>
            <a:pPr>
              <a:spcBef>
                <a:spcPts val="100"/>
              </a:spcBef>
            </a:pPr>
            <a:r>
              <a:rPr lang="en-US" sz="1300" b="1" dirty="0"/>
              <a:t>WFE</a:t>
            </a:r>
            <a:r>
              <a:rPr lang="en-US" sz="1300" dirty="0"/>
              <a:t>: Wait For Event</a:t>
            </a:r>
          </a:p>
          <a:p>
            <a:pPr>
              <a:spcBef>
                <a:spcPts val="100"/>
              </a:spcBef>
            </a:pPr>
            <a:r>
              <a:rPr lang="en-US" sz="1300" b="1" dirty="0"/>
              <a:t>Watchdog Timer Driver Architecture</a:t>
            </a:r>
          </a:p>
          <a:p>
            <a:pPr>
              <a:spcBef>
                <a:spcPts val="100"/>
              </a:spcBef>
            </a:pPr>
            <a:r>
              <a:rPr lang="en-US" sz="1300" b="1" dirty="0"/>
              <a:t>/dev/null</a:t>
            </a:r>
          </a:p>
          <a:p>
            <a:pPr>
              <a:spcBef>
                <a:spcPts val="100"/>
              </a:spcBef>
            </a:pPr>
            <a:r>
              <a:rPr lang="en-US" sz="1300" b="1" dirty="0"/>
              <a:t>/dev/zero</a:t>
            </a:r>
          </a:p>
          <a:p>
            <a:pPr>
              <a:spcBef>
                <a:spcPts val="100"/>
              </a:spcBef>
            </a:pPr>
            <a:r>
              <a:rPr lang="en-US" sz="1300" b="1" dirty="0"/>
              <a:t>/dev/random, /dev/</a:t>
            </a:r>
            <a:r>
              <a:rPr lang="en-US" sz="1300" b="1" dirty="0" err="1"/>
              <a:t>urandom</a:t>
            </a:r>
            <a:endParaRPr lang="en-US" sz="1300" b="1" dirty="0"/>
          </a:p>
          <a:p>
            <a:pPr>
              <a:spcBef>
                <a:spcPts val="100"/>
              </a:spcBef>
            </a:pPr>
            <a:r>
              <a:rPr lang="en-US" sz="1300" b="1" dirty="0"/>
              <a:t>SPI</a:t>
            </a:r>
            <a:r>
              <a:rPr lang="en-US" sz="1300" dirty="0"/>
              <a:t>: Serial Peripheral Interface, 4 wires</a:t>
            </a:r>
          </a:p>
          <a:p>
            <a:pPr lvl="1">
              <a:spcBef>
                <a:spcPts val="100"/>
              </a:spcBef>
            </a:pPr>
            <a:r>
              <a:rPr lang="en-US" sz="1300" b="1" dirty="0">
                <a:hlinkClick r:id="rId2">
                  <a:extLst>
                    <a:ext uri="{A12FA001-AC4F-418D-AE19-62706E023703}">
                      <ahyp:hlinkClr xmlns:ahyp="http://schemas.microsoft.com/office/drawing/2018/hyperlinkcolor" val="tx"/>
                    </a:ext>
                  </a:extLst>
                </a:hlinkClick>
              </a:rPr>
              <a:t>MOSI</a:t>
            </a:r>
            <a:r>
              <a:rPr lang="en-US" sz="1300" b="1" dirty="0"/>
              <a:t> </a:t>
            </a:r>
            <a:r>
              <a:rPr lang="en-US" sz="1300" dirty="0"/>
              <a:t>(Master Out, Slave In)</a:t>
            </a:r>
          </a:p>
          <a:p>
            <a:pPr lvl="1">
              <a:spcBef>
                <a:spcPts val="100"/>
              </a:spcBef>
            </a:pPr>
            <a:r>
              <a:rPr lang="en-US" sz="1300" b="1" dirty="0">
                <a:hlinkClick r:id="rId3">
                  <a:extLst>
                    <a:ext uri="{A12FA001-AC4F-418D-AE19-62706E023703}">
                      <ahyp:hlinkClr xmlns:ahyp="http://schemas.microsoft.com/office/drawing/2018/hyperlinkcolor" val="tx"/>
                    </a:ext>
                  </a:extLst>
                </a:hlinkClick>
              </a:rPr>
              <a:t>MISO</a:t>
            </a:r>
            <a:r>
              <a:rPr lang="en-US" sz="1300" b="1" dirty="0"/>
              <a:t> (</a:t>
            </a:r>
            <a:r>
              <a:rPr lang="en-US" sz="1300" dirty="0"/>
              <a:t>Master In, Slave Out)</a:t>
            </a:r>
          </a:p>
          <a:p>
            <a:pPr lvl="1">
              <a:spcBef>
                <a:spcPts val="100"/>
              </a:spcBef>
            </a:pPr>
            <a:r>
              <a:rPr lang="en-US" sz="1300" b="1" dirty="0">
                <a:hlinkClick r:id="rId4">
                  <a:extLst>
                    <a:ext uri="{A12FA001-AC4F-418D-AE19-62706E023703}">
                      <ahyp:hlinkClr xmlns:ahyp="http://schemas.microsoft.com/office/drawing/2018/hyperlinkcolor" val="tx"/>
                    </a:ext>
                  </a:extLst>
                </a:hlinkClick>
              </a:rPr>
              <a:t>SCLK</a:t>
            </a:r>
            <a:r>
              <a:rPr lang="en-US" sz="1300" dirty="0"/>
              <a:t> (Serial Clock)</a:t>
            </a:r>
          </a:p>
          <a:p>
            <a:pPr lvl="1">
              <a:spcBef>
                <a:spcPts val="100"/>
              </a:spcBef>
            </a:pPr>
            <a:r>
              <a:rPr lang="en-US" sz="1300" b="1" dirty="0">
                <a:hlinkClick r:id="rId5">
                  <a:extLst>
                    <a:ext uri="{A12FA001-AC4F-418D-AE19-62706E023703}">
                      <ahyp:hlinkClr xmlns:ahyp="http://schemas.microsoft.com/office/drawing/2018/hyperlinkcolor" val="tx"/>
                    </a:ext>
                  </a:extLst>
                </a:hlinkClick>
              </a:rPr>
              <a:t>CS</a:t>
            </a:r>
            <a:r>
              <a:rPr lang="en-US" sz="1300" dirty="0"/>
              <a:t> (Chip Select)</a:t>
            </a:r>
          </a:p>
          <a:p>
            <a:pPr>
              <a:spcBef>
                <a:spcPts val="100"/>
              </a:spcBef>
            </a:pPr>
            <a:r>
              <a:rPr lang="en-US" sz="1300" b="1" dirty="0"/>
              <a:t>Framebuffer driver</a:t>
            </a:r>
            <a:r>
              <a:rPr lang="en-US" sz="1300" dirty="0"/>
              <a:t>: manage a specific region of the RAM that directly correspond to pixels on screens, exposed as a file in Linux (/dev/fb0)</a:t>
            </a:r>
          </a:p>
          <a:p>
            <a:pPr>
              <a:spcBef>
                <a:spcPts val="100"/>
              </a:spcBef>
            </a:pPr>
            <a:r>
              <a:rPr lang="en-US" sz="1300" b="1" dirty="0"/>
              <a:t>RFB</a:t>
            </a:r>
            <a:r>
              <a:rPr lang="en-US" sz="1300" dirty="0"/>
              <a:t>: Remote Frame Buffer</a:t>
            </a:r>
          </a:p>
          <a:p>
            <a:pPr>
              <a:spcBef>
                <a:spcPts val="100"/>
              </a:spcBef>
            </a:pPr>
            <a:r>
              <a:rPr lang="en-US" sz="1300" b="1" dirty="0"/>
              <a:t>VNC</a:t>
            </a:r>
            <a:r>
              <a:rPr lang="en-US" sz="1300" dirty="0"/>
              <a:t>: Virtual Network Computing </a:t>
            </a:r>
          </a:p>
          <a:p>
            <a:pPr>
              <a:spcBef>
                <a:spcPts val="100"/>
              </a:spcBef>
            </a:pPr>
            <a:r>
              <a:rPr lang="en-US" sz="1300" b="1" dirty="0"/>
              <a:t>TCP</a:t>
            </a:r>
            <a:r>
              <a:rPr lang="en-US" sz="1300" dirty="0"/>
              <a:t>: Transmission Control Protocol</a:t>
            </a:r>
          </a:p>
          <a:p>
            <a:pPr>
              <a:spcBef>
                <a:spcPts val="100"/>
              </a:spcBef>
            </a:pPr>
            <a:r>
              <a:rPr lang="en-US" sz="1300" b="1" dirty="0"/>
              <a:t>IP</a:t>
            </a:r>
            <a:r>
              <a:rPr lang="en-US" sz="1300" dirty="0"/>
              <a:t>: Internet Protocol</a:t>
            </a:r>
          </a:p>
          <a:p>
            <a:pPr>
              <a:spcBef>
                <a:spcPts val="100"/>
              </a:spcBef>
            </a:pPr>
            <a:r>
              <a:rPr lang="en-US" sz="1300" b="1" dirty="0"/>
              <a:t>UDP</a:t>
            </a:r>
            <a:r>
              <a:rPr lang="en-US" sz="1300" dirty="0"/>
              <a:t>: User Datagram Protocol</a:t>
            </a:r>
          </a:p>
          <a:p>
            <a:pPr>
              <a:spcBef>
                <a:spcPts val="100"/>
              </a:spcBef>
            </a:pPr>
            <a:r>
              <a:rPr lang="en-US" sz="1300" b="1" dirty="0"/>
              <a:t>DNS</a:t>
            </a:r>
            <a:r>
              <a:rPr lang="en-US" sz="1300" dirty="0"/>
              <a:t>: Domain Name System</a:t>
            </a:r>
          </a:p>
          <a:p>
            <a:pPr>
              <a:spcBef>
                <a:spcPts val="100"/>
              </a:spcBef>
            </a:pPr>
            <a:r>
              <a:rPr lang="en-US" sz="1300" b="1" dirty="0"/>
              <a:t>MTD</a:t>
            </a:r>
            <a:r>
              <a:rPr lang="en-US" sz="1300" dirty="0"/>
              <a:t>: Memory Technology Device</a:t>
            </a:r>
          </a:p>
          <a:p>
            <a:pPr>
              <a:spcBef>
                <a:spcPts val="100"/>
              </a:spcBef>
            </a:pPr>
            <a:r>
              <a:rPr lang="en-US" sz="1300" b="1" dirty="0"/>
              <a:t>FTL</a:t>
            </a:r>
            <a:r>
              <a:rPr lang="en-US" sz="1300" dirty="0"/>
              <a:t>: Flash Translation Layer</a:t>
            </a:r>
          </a:p>
          <a:p>
            <a:pPr>
              <a:spcBef>
                <a:spcPts val="100"/>
              </a:spcBef>
            </a:pPr>
            <a:r>
              <a:rPr lang="en-US" sz="1300" b="1" dirty="0"/>
              <a:t>LBA</a:t>
            </a:r>
            <a:r>
              <a:rPr lang="en-US" sz="1300" dirty="0"/>
              <a:t>: Logical Block </a:t>
            </a:r>
            <a:r>
              <a:rPr lang="en-US" sz="1300" dirty="0" err="1"/>
              <a:t>Adresses</a:t>
            </a:r>
            <a:endParaRPr lang="en-US" sz="1300" dirty="0"/>
          </a:p>
          <a:p>
            <a:pPr>
              <a:spcBef>
                <a:spcPts val="100"/>
              </a:spcBef>
            </a:pPr>
            <a:endParaRPr lang="en-US" sz="1300" dirty="0"/>
          </a:p>
          <a:p>
            <a:pPr>
              <a:spcBef>
                <a:spcPts val="100"/>
              </a:spcBef>
            </a:pPr>
            <a:endParaRPr lang="en-US" sz="1300" dirty="0"/>
          </a:p>
        </p:txBody>
      </p:sp>
    </p:spTree>
    <p:extLst>
      <p:ext uri="{BB962C8B-B14F-4D97-AF65-F5344CB8AC3E}">
        <p14:creationId xmlns:p14="http://schemas.microsoft.com/office/powerpoint/2010/main" val="702609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48464-7709-7BE2-C622-2C2F5440EBCC}"/>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AF021175-2F24-E7A6-0FC9-4A4E15585309}"/>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t>Weak symbo</a:t>
            </a:r>
            <a:r>
              <a:rPr lang="en-US" sz="1300" dirty="0"/>
              <a:t>l: specially annotated </a:t>
            </a:r>
            <a:r>
              <a:rPr lang="en-US" sz="1300" dirty="0" err="1"/>
              <a:t>symbal</a:t>
            </a:r>
            <a:r>
              <a:rPr lang="en-US" sz="1300" dirty="0"/>
              <a:t> during the linking of ELF object file that can be overridden during linking.</a:t>
            </a:r>
          </a:p>
          <a:p>
            <a:pPr>
              <a:spcBef>
                <a:spcPts val="100"/>
              </a:spcBef>
            </a:pPr>
            <a:r>
              <a:rPr lang="en-US" sz="1300" b="1" dirty="0"/>
              <a:t>RISK</a:t>
            </a:r>
            <a:r>
              <a:rPr lang="en-US" sz="1300" dirty="0"/>
              <a:t>: Reduced Instruction Set Computer</a:t>
            </a:r>
          </a:p>
          <a:p>
            <a:pPr>
              <a:spcBef>
                <a:spcPts val="100"/>
              </a:spcBef>
            </a:pPr>
            <a:r>
              <a:rPr lang="en-US" sz="1300" b="1" dirty="0"/>
              <a:t>TAR</a:t>
            </a:r>
            <a:r>
              <a:rPr lang="en-US" sz="1300" dirty="0"/>
              <a:t>: Tape </a:t>
            </a:r>
            <a:r>
              <a:rPr lang="en-US" sz="1300" dirty="0" err="1"/>
              <a:t>ARchive</a:t>
            </a:r>
            <a:r>
              <a:rPr lang="en-US" sz="1300" dirty="0"/>
              <a:t>, combine multiple file in one, it preserves file metadata (permission, …) but do not compress them</a:t>
            </a:r>
          </a:p>
          <a:p>
            <a:pPr>
              <a:spcBef>
                <a:spcPts val="100"/>
              </a:spcBef>
            </a:pPr>
            <a:r>
              <a:rPr lang="en-US" sz="1300" b="1" dirty="0"/>
              <a:t>Bind mount</a:t>
            </a:r>
          </a:p>
          <a:p>
            <a:pPr>
              <a:spcBef>
                <a:spcPts val="100"/>
              </a:spcBef>
            </a:pPr>
            <a:r>
              <a:rPr lang="en-US" sz="1300" b="1" dirty="0" err="1"/>
              <a:t>etc</a:t>
            </a:r>
            <a:r>
              <a:rPr lang="en-US" sz="1300" b="1" dirty="0"/>
              <a:t>/ </a:t>
            </a:r>
            <a:r>
              <a:rPr lang="en-US" sz="1300" dirty="0"/>
              <a:t>(</a:t>
            </a:r>
            <a:r>
              <a:rPr lang="en-US" sz="1300" dirty="0" err="1"/>
              <a:t>linux</a:t>
            </a:r>
            <a:r>
              <a:rPr lang="en-US" sz="1300" dirty="0"/>
              <a:t> folder): </a:t>
            </a:r>
            <a:r>
              <a:rPr lang="en-US" sz="1300" dirty="0" err="1"/>
              <a:t>ec</a:t>
            </a:r>
            <a:r>
              <a:rPr lang="en-US" sz="1300" dirty="0"/>
              <a:t> cetera</a:t>
            </a:r>
          </a:p>
          <a:p>
            <a:pPr>
              <a:spcBef>
                <a:spcPts val="100"/>
              </a:spcBef>
            </a:pPr>
            <a:r>
              <a:rPr lang="en-US" sz="1300" b="1" dirty="0"/>
              <a:t>Linux OS</a:t>
            </a:r>
            <a:r>
              <a:rPr lang="en-US" sz="1300" dirty="0"/>
              <a:t>: access the whole FS manual using ‘man </a:t>
            </a:r>
            <a:r>
              <a:rPr lang="en-US" sz="1300" dirty="0" err="1"/>
              <a:t>hier</a:t>
            </a:r>
            <a:r>
              <a:rPr lang="en-US" sz="1300" dirty="0"/>
              <a:t>’ (hierarchy)</a:t>
            </a:r>
          </a:p>
          <a:p>
            <a:pPr>
              <a:spcBef>
                <a:spcPts val="100"/>
              </a:spcBef>
            </a:pPr>
            <a:r>
              <a:rPr lang="en-US" sz="1300" b="1" dirty="0"/>
              <a:t>/</a:t>
            </a:r>
            <a:r>
              <a:rPr lang="en-US" sz="1300" b="1" dirty="0" err="1"/>
              <a:t>etc</a:t>
            </a:r>
            <a:r>
              <a:rPr lang="en-US" sz="1300" b="1" dirty="0"/>
              <a:t>/</a:t>
            </a:r>
            <a:r>
              <a:rPr lang="en-US" sz="1300" b="1" dirty="0" err="1"/>
              <a:t>udev</a:t>
            </a:r>
            <a:r>
              <a:rPr lang="en-US" sz="1300" dirty="0"/>
              <a:t>: subsystem that manages external devices event </a:t>
            </a:r>
          </a:p>
          <a:p>
            <a:pPr>
              <a:spcBef>
                <a:spcPts val="100"/>
              </a:spcBef>
            </a:pPr>
            <a:r>
              <a:rPr lang="en-US" sz="1300" b="1" dirty="0"/>
              <a:t>USBIF</a:t>
            </a:r>
            <a:r>
              <a:rPr lang="en-US" sz="1300" dirty="0"/>
              <a:t>: USB Implementer Forum, distribute the </a:t>
            </a:r>
            <a:r>
              <a:rPr lang="en-US" sz="1300" dirty="0" err="1"/>
              <a:t>usd</a:t>
            </a:r>
            <a:r>
              <a:rPr lang="en-US" sz="1300" dirty="0"/>
              <a:t> vendor ID</a:t>
            </a:r>
          </a:p>
          <a:p>
            <a:pPr>
              <a:spcBef>
                <a:spcPts val="100"/>
              </a:spcBef>
            </a:pPr>
            <a:r>
              <a:rPr lang="en-US" sz="1300" b="1" dirty="0"/>
              <a:t>ID</a:t>
            </a:r>
            <a:r>
              <a:rPr lang="en-US" sz="1300" dirty="0"/>
              <a:t>: Identification Document</a:t>
            </a:r>
          </a:p>
          <a:p>
            <a:pPr>
              <a:spcBef>
                <a:spcPts val="100"/>
              </a:spcBef>
            </a:pPr>
            <a:r>
              <a:rPr lang="en-US" sz="1300" b="1" dirty="0"/>
              <a:t>VID</a:t>
            </a:r>
            <a:r>
              <a:rPr lang="en-US" sz="1300" dirty="0"/>
              <a:t>: Vendor ID</a:t>
            </a:r>
          </a:p>
          <a:p>
            <a:pPr>
              <a:spcBef>
                <a:spcPts val="100"/>
              </a:spcBef>
            </a:pPr>
            <a:r>
              <a:rPr lang="en-US" sz="1300" b="1" dirty="0"/>
              <a:t>PID</a:t>
            </a:r>
            <a:r>
              <a:rPr lang="en-US" sz="1300" dirty="0"/>
              <a:t>: Product ID</a:t>
            </a:r>
          </a:p>
          <a:p>
            <a:pPr>
              <a:spcBef>
                <a:spcPts val="100"/>
              </a:spcBef>
            </a:pPr>
            <a:r>
              <a:rPr lang="en-US" sz="1300" b="1" dirty="0"/>
              <a:t>arch</a:t>
            </a:r>
            <a:r>
              <a:rPr lang="en-US" sz="1300" dirty="0"/>
              <a:t>: architecture</a:t>
            </a:r>
          </a:p>
          <a:p>
            <a:pPr>
              <a:spcBef>
                <a:spcPts val="100"/>
              </a:spcBef>
            </a:pPr>
            <a:r>
              <a:rPr lang="en-US" sz="1300" b="1" dirty="0"/>
              <a:t>mm</a:t>
            </a:r>
            <a:r>
              <a:rPr lang="en-US" sz="1300" dirty="0"/>
              <a:t>: memory management</a:t>
            </a:r>
          </a:p>
          <a:p>
            <a:pPr>
              <a:spcBef>
                <a:spcPts val="100"/>
              </a:spcBef>
            </a:pPr>
            <a:r>
              <a:rPr lang="en-US" sz="1300" b="1" dirty="0" err="1"/>
              <a:t>NuttX</a:t>
            </a:r>
            <a:r>
              <a:rPr lang="en-US" sz="1300" b="1" dirty="0"/>
              <a:t> FS</a:t>
            </a:r>
            <a:r>
              <a:rPr lang="en-US" sz="1300" dirty="0"/>
              <a:t>: explanations </a:t>
            </a:r>
            <a:r>
              <a:rPr lang="en-US" sz="1300" dirty="0">
                <a:ea typeface="+mn-lt"/>
                <a:cs typeface="+mn-lt"/>
                <a:hlinkClick r:id="rId2"/>
              </a:rPr>
              <a:t>Directory Structure — NuttX latest documentation</a:t>
            </a:r>
            <a:r>
              <a:rPr lang="en-US" sz="1300" dirty="0">
                <a:ea typeface="+mn-lt"/>
                <a:cs typeface="+mn-lt"/>
              </a:rPr>
              <a:t> </a:t>
            </a:r>
          </a:p>
          <a:p>
            <a:pPr>
              <a:spcBef>
                <a:spcPts val="100"/>
              </a:spcBef>
            </a:pPr>
            <a:r>
              <a:rPr lang="en-US" sz="1300" b="1" dirty="0"/>
              <a:t>U-Boot loader</a:t>
            </a:r>
            <a:r>
              <a:rPr lang="en-US" sz="1300" dirty="0"/>
              <a:t>: Universal Bootloader, open-source bootloader used in embedded</a:t>
            </a:r>
          </a:p>
          <a:p>
            <a:pPr>
              <a:spcBef>
                <a:spcPts val="100"/>
              </a:spcBef>
            </a:pPr>
            <a:r>
              <a:rPr lang="en-US" sz="1300" b="1" dirty="0"/>
              <a:t>Bootloader/bootstrap loader:</a:t>
            </a:r>
            <a:r>
              <a:rPr lang="en-US" sz="1300" dirty="0"/>
              <a:t> loads the OS in the computer memory</a:t>
            </a:r>
          </a:p>
          <a:p>
            <a:pPr>
              <a:spcBef>
                <a:spcPts val="100"/>
              </a:spcBef>
            </a:pPr>
            <a:r>
              <a:rPr lang="en-US" sz="1300" b="1" dirty="0"/>
              <a:t>POST:</a:t>
            </a:r>
            <a:r>
              <a:rPr lang="en-US" sz="1300" dirty="0"/>
              <a:t> Power-On Self-Test, test perform by the BIOS to check all hardware components are OK</a:t>
            </a:r>
          </a:p>
          <a:p>
            <a:pPr>
              <a:spcBef>
                <a:spcPts val="100"/>
              </a:spcBef>
            </a:pPr>
            <a:r>
              <a:rPr lang="en-US" sz="1300" b="1" dirty="0"/>
              <a:t>IAP</a:t>
            </a:r>
            <a:r>
              <a:rPr lang="en-US" sz="1300" dirty="0"/>
              <a:t>: In Application Programing, firmware update after the product has been deployed</a:t>
            </a:r>
          </a:p>
          <a:p>
            <a:pPr>
              <a:spcBef>
                <a:spcPts val="100"/>
              </a:spcBef>
            </a:pPr>
            <a:r>
              <a:rPr lang="en-US" sz="1300" b="1" dirty="0"/>
              <a:t>OTA</a:t>
            </a:r>
            <a:r>
              <a:rPr lang="en-US" sz="1300" dirty="0"/>
              <a:t>: Other The Air, can be said for firmware update for instance</a:t>
            </a:r>
          </a:p>
          <a:p>
            <a:pPr>
              <a:spcBef>
                <a:spcPts val="100"/>
              </a:spcBef>
            </a:pPr>
            <a:r>
              <a:rPr lang="en-US" sz="1300" b="1" dirty="0"/>
              <a:t>Interrupt Vector Table</a:t>
            </a:r>
            <a:endParaRPr lang="en-US" sz="1300" dirty="0"/>
          </a:p>
          <a:p>
            <a:pPr>
              <a:spcBef>
                <a:spcPts val="100"/>
              </a:spcBef>
            </a:pPr>
            <a:r>
              <a:rPr lang="en-US" sz="1300" b="1" dirty="0"/>
              <a:t>DFU:</a:t>
            </a:r>
            <a:r>
              <a:rPr lang="en-US" sz="1300" dirty="0"/>
              <a:t> Device Firmware Update</a:t>
            </a:r>
          </a:p>
          <a:p>
            <a:pPr>
              <a:spcBef>
                <a:spcPts val="100"/>
              </a:spcBef>
            </a:pPr>
            <a:r>
              <a:rPr lang="en-US" sz="1300" b="1" dirty="0" err="1"/>
              <a:t>binfmt</a:t>
            </a:r>
            <a:r>
              <a:rPr lang="en-US" sz="1300" dirty="0"/>
              <a:t>: Binary Format </a:t>
            </a:r>
            <a:r>
              <a:rPr lang="en-US" sz="1300" dirty="0" err="1"/>
              <a:t>Miscellaneaous</a:t>
            </a:r>
            <a:endParaRPr lang="en-US" sz="1300" dirty="0"/>
          </a:p>
          <a:p>
            <a:pPr>
              <a:spcBef>
                <a:spcPts val="100"/>
              </a:spcBef>
            </a:pPr>
            <a:r>
              <a:rPr lang="en-US" sz="1300" b="1" dirty="0"/>
              <a:t>Lower half</a:t>
            </a:r>
            <a:r>
              <a:rPr lang="en-US" sz="1300" dirty="0"/>
              <a:t>: hardware specific driver</a:t>
            </a:r>
          </a:p>
          <a:p>
            <a:pPr>
              <a:spcBef>
                <a:spcPts val="100"/>
              </a:spcBef>
            </a:pPr>
            <a:r>
              <a:rPr lang="en-US" sz="1300" b="1" dirty="0"/>
              <a:t>Upper half</a:t>
            </a:r>
            <a:r>
              <a:rPr lang="en-US" sz="1300" dirty="0"/>
              <a:t>: driver registered as driver to the OS and implement the high-level interface. It calls the lower half using callbacks</a:t>
            </a:r>
            <a:endParaRPr lang="en-US" dirty="0"/>
          </a:p>
          <a:p>
            <a:pPr>
              <a:spcBef>
                <a:spcPts val="100"/>
              </a:spcBef>
            </a:pPr>
            <a:r>
              <a:rPr lang="en-US" sz="1300" b="1" dirty="0"/>
              <a:t>Virtual Vertical Graphics Space</a:t>
            </a:r>
          </a:p>
          <a:p>
            <a:pPr>
              <a:spcBef>
                <a:spcPts val="100"/>
              </a:spcBef>
            </a:pPr>
            <a:r>
              <a:rPr lang="en-US" sz="1300" b="1" dirty="0"/>
              <a:t>Client/Server Model</a:t>
            </a:r>
          </a:p>
          <a:p>
            <a:pPr>
              <a:spcBef>
                <a:spcPts val="100"/>
              </a:spcBef>
            </a:pPr>
            <a:r>
              <a:rPr lang="en-US" sz="1300" b="1" dirty="0"/>
              <a:t>Multi-User Support</a:t>
            </a:r>
          </a:p>
          <a:p>
            <a:pPr>
              <a:spcBef>
                <a:spcPts val="100"/>
              </a:spcBef>
            </a:pPr>
            <a:r>
              <a:rPr lang="en-US" sz="1300" b="1" dirty="0"/>
              <a:t>SWI</a:t>
            </a:r>
            <a:r>
              <a:rPr lang="en-US" sz="1300" dirty="0"/>
              <a:t>: </a:t>
            </a:r>
            <a:r>
              <a:rPr lang="en-US" sz="1300" dirty="0" err="1"/>
              <a:t>SoftWare</a:t>
            </a:r>
            <a:r>
              <a:rPr lang="en-US" sz="1300" dirty="0"/>
              <a:t> Interrupts</a:t>
            </a:r>
          </a:p>
        </p:txBody>
      </p:sp>
      <p:sp>
        <p:nvSpPr>
          <p:cNvPr id="2" name="Titre 1">
            <a:extLst>
              <a:ext uri="{FF2B5EF4-FFF2-40B4-BE49-F238E27FC236}">
                <a16:creationId xmlns:a16="http://schemas.microsoft.com/office/drawing/2014/main" id="{9FFCE1A6-2FA0-62B3-7BAB-D873196C3FEC}"/>
              </a:ext>
            </a:extLst>
          </p:cNvPr>
          <p:cNvSpPr>
            <a:spLocks noGrp="1"/>
          </p:cNvSpPr>
          <p:nvPr>
            <p:ph type="title"/>
          </p:nvPr>
        </p:nvSpPr>
        <p:spPr>
          <a:xfrm>
            <a:off x="0" y="-251563"/>
            <a:ext cx="10515600" cy="1325563"/>
          </a:xfrm>
        </p:spPr>
        <p:txBody>
          <a:bodyPr/>
          <a:lstStyle/>
          <a:p>
            <a:r>
              <a:rPr lang="fr-FR" dirty="0"/>
              <a:t>Vocab	</a:t>
            </a:r>
            <a:endParaRPr lang="en-US" dirty="0"/>
          </a:p>
        </p:txBody>
      </p:sp>
    </p:spTree>
    <p:extLst>
      <p:ext uri="{BB962C8B-B14F-4D97-AF65-F5344CB8AC3E}">
        <p14:creationId xmlns:p14="http://schemas.microsoft.com/office/powerpoint/2010/main" val="868854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E6EC9-5D6A-619C-58FB-5DD72341D7B2}"/>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1F117FA9-D659-489D-913F-3BDBB2FAFF63}"/>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t>NSH: </a:t>
            </a:r>
            <a:r>
              <a:rPr lang="en-US" sz="1300" dirty="0" err="1"/>
              <a:t>NuttSHell</a:t>
            </a:r>
            <a:endParaRPr lang="en-US" sz="1300" dirty="0"/>
          </a:p>
          <a:p>
            <a:pPr>
              <a:spcBef>
                <a:spcPts val="100"/>
              </a:spcBef>
            </a:pPr>
            <a:r>
              <a:rPr lang="en-US" sz="1300" b="1" dirty="0" err="1"/>
              <a:t>ps</a:t>
            </a:r>
            <a:r>
              <a:rPr lang="en-US" sz="1300" dirty="0"/>
              <a:t>: Processes Status</a:t>
            </a:r>
          </a:p>
          <a:p>
            <a:pPr>
              <a:spcBef>
                <a:spcPts val="100"/>
              </a:spcBef>
            </a:pPr>
            <a:r>
              <a:rPr lang="en-US" sz="1300" b="1" dirty="0"/>
              <a:t>TID</a:t>
            </a:r>
            <a:r>
              <a:rPr lang="en-US" sz="1300" dirty="0"/>
              <a:t>: Task ID</a:t>
            </a:r>
          </a:p>
          <a:p>
            <a:pPr>
              <a:spcBef>
                <a:spcPts val="100"/>
              </a:spcBef>
            </a:pPr>
            <a:r>
              <a:rPr lang="en-US" sz="1300" b="1" dirty="0"/>
              <a:t>PID</a:t>
            </a:r>
            <a:r>
              <a:rPr lang="en-US" sz="1300" dirty="0"/>
              <a:t>: Process ID</a:t>
            </a:r>
          </a:p>
          <a:p>
            <a:pPr>
              <a:spcBef>
                <a:spcPts val="100"/>
              </a:spcBef>
            </a:pPr>
            <a:r>
              <a:rPr lang="en-US" sz="1300" b="1" dirty="0"/>
              <a:t>PPID</a:t>
            </a:r>
            <a:r>
              <a:rPr lang="en-US" sz="1300" dirty="0"/>
              <a:t>: Parent Process ID</a:t>
            </a:r>
          </a:p>
          <a:p>
            <a:pPr>
              <a:spcBef>
                <a:spcPts val="100"/>
              </a:spcBef>
            </a:pPr>
            <a:r>
              <a:rPr lang="en-US" sz="1300" b="1" dirty="0"/>
              <a:t>PRI</a:t>
            </a:r>
            <a:r>
              <a:rPr lang="en-US" sz="1300" dirty="0"/>
              <a:t>: </a:t>
            </a:r>
            <a:r>
              <a:rPr lang="en-US" sz="1300" dirty="0" err="1"/>
              <a:t>PRIority</a:t>
            </a:r>
            <a:endParaRPr lang="en-US" sz="1300" dirty="0"/>
          </a:p>
          <a:p>
            <a:pPr>
              <a:spcBef>
                <a:spcPts val="100"/>
              </a:spcBef>
            </a:pPr>
            <a:r>
              <a:rPr lang="en-US" sz="1300" b="1" dirty="0" err="1"/>
              <a:t>Kthread</a:t>
            </a:r>
            <a:r>
              <a:rPr lang="en-US" sz="1300" dirty="0"/>
              <a:t>: Kernel Thread</a:t>
            </a:r>
          </a:p>
          <a:p>
            <a:pPr>
              <a:spcBef>
                <a:spcPts val="100"/>
              </a:spcBef>
            </a:pPr>
            <a:r>
              <a:rPr lang="en-US" sz="1300" b="1" dirty="0" err="1"/>
              <a:t>hpwork</a:t>
            </a:r>
            <a:r>
              <a:rPr lang="en-US" sz="1300" dirty="0"/>
              <a:t>: Hight Priority Work queue</a:t>
            </a:r>
          </a:p>
          <a:p>
            <a:pPr>
              <a:spcBef>
                <a:spcPts val="100"/>
              </a:spcBef>
            </a:pPr>
            <a:r>
              <a:rPr lang="en-US" sz="1300" b="1" dirty="0"/>
              <a:t>NPX</a:t>
            </a:r>
            <a:r>
              <a:rPr lang="en-US" sz="1300" dirty="0"/>
              <a:t>: Non-Preemptable Count (</a:t>
            </a:r>
            <a:r>
              <a:rPr lang="en-US" sz="1300" dirty="0" err="1"/>
              <a:t>NuttX</a:t>
            </a:r>
            <a:r>
              <a:rPr lang="en-US" sz="1300" dirty="0"/>
              <a:t>): ‘-’ means that preemption is enabled</a:t>
            </a:r>
          </a:p>
          <a:p>
            <a:pPr>
              <a:spcBef>
                <a:spcPts val="100"/>
              </a:spcBef>
            </a:pPr>
            <a:r>
              <a:rPr lang="en-US" sz="1300" b="1" dirty="0"/>
              <a:t>Task State</a:t>
            </a:r>
          </a:p>
          <a:p>
            <a:pPr lvl="1">
              <a:spcBef>
                <a:spcPts val="100"/>
              </a:spcBef>
            </a:pPr>
            <a:r>
              <a:rPr lang="en-US" sz="900" dirty="0"/>
              <a:t>Ready, ready </a:t>
            </a:r>
            <a:r>
              <a:rPr lang="en-US" sz="900" dirty="0" err="1"/>
              <a:t>tu</a:t>
            </a:r>
            <a:r>
              <a:rPr lang="en-US" sz="900" dirty="0"/>
              <a:t> run, waiting for CPU</a:t>
            </a:r>
          </a:p>
          <a:p>
            <a:pPr lvl="1">
              <a:spcBef>
                <a:spcPts val="100"/>
              </a:spcBef>
            </a:pPr>
            <a:r>
              <a:rPr lang="en-US" sz="900" dirty="0"/>
              <a:t>Waiting: currently blocked, waiting for </a:t>
            </a:r>
            <a:r>
              <a:rPr lang="en-US" sz="900" dirty="0" err="1"/>
              <a:t>smth</a:t>
            </a:r>
            <a:r>
              <a:rPr lang="en-US" sz="900" dirty="0"/>
              <a:t> to occurs</a:t>
            </a:r>
          </a:p>
          <a:p>
            <a:pPr lvl="1">
              <a:spcBef>
                <a:spcPts val="100"/>
              </a:spcBef>
            </a:pPr>
            <a:r>
              <a:rPr lang="en-US" sz="900" dirty="0"/>
              <a:t>Running: currently using the CPU</a:t>
            </a:r>
          </a:p>
          <a:p>
            <a:pPr>
              <a:spcBef>
                <a:spcPts val="100"/>
              </a:spcBef>
            </a:pPr>
            <a:r>
              <a:rPr lang="en-US" sz="1300" b="1" dirty="0"/>
              <a:t>Event</a:t>
            </a:r>
            <a:r>
              <a:rPr lang="en-US" sz="1300" dirty="0"/>
              <a:t>, specifies what a task is waiting for</a:t>
            </a:r>
          </a:p>
          <a:p>
            <a:pPr lvl="1">
              <a:spcBef>
                <a:spcPts val="100"/>
              </a:spcBef>
            </a:pPr>
            <a:r>
              <a:rPr lang="en-US" sz="900" dirty="0"/>
              <a:t>Signal: waiting for a specific signal or interrupt</a:t>
            </a:r>
          </a:p>
          <a:p>
            <a:pPr lvl="1">
              <a:spcBef>
                <a:spcPts val="100"/>
              </a:spcBef>
            </a:pPr>
            <a:r>
              <a:rPr lang="en-US" sz="900" dirty="0"/>
              <a:t>Semaphore: waiting for a semaphore to be </a:t>
            </a:r>
            <a:r>
              <a:rPr lang="en-US" sz="900" dirty="0" err="1"/>
              <a:t>realesed</a:t>
            </a:r>
            <a:r>
              <a:rPr lang="en-US" sz="900" dirty="0"/>
              <a:t> </a:t>
            </a:r>
            <a:r>
              <a:rPr lang="en-US" sz="900" dirty="0" err="1"/>
              <a:t>bu</a:t>
            </a:r>
            <a:r>
              <a:rPr lang="en-US" sz="900" dirty="0"/>
              <a:t> another task</a:t>
            </a:r>
          </a:p>
          <a:p>
            <a:pPr>
              <a:spcBef>
                <a:spcPts val="100"/>
              </a:spcBef>
            </a:pPr>
            <a:r>
              <a:rPr lang="en-US" sz="1300" b="1" dirty="0" err="1"/>
              <a:t>SIGMask</a:t>
            </a:r>
            <a:r>
              <a:rPr lang="en-US" sz="1300" dirty="0"/>
              <a:t>: </a:t>
            </a:r>
            <a:r>
              <a:rPr lang="en-US" sz="1300" dirty="0" err="1"/>
              <a:t>SIGnal</a:t>
            </a:r>
            <a:r>
              <a:rPr lang="en-US" sz="1300" dirty="0"/>
              <a:t> Mask, </a:t>
            </a:r>
            <a:r>
              <a:rPr lang="en-US" sz="1300" dirty="0" err="1"/>
              <a:t>hexa</a:t>
            </a:r>
            <a:r>
              <a:rPr lang="en-US" sz="1300" dirty="0"/>
              <a:t> bitmask that show which signal are currently blocked from being deliver to a task</a:t>
            </a:r>
          </a:p>
          <a:p>
            <a:pPr>
              <a:spcBef>
                <a:spcPts val="100"/>
              </a:spcBef>
            </a:pPr>
            <a:r>
              <a:rPr lang="en-US" sz="1300" b="1" dirty="0"/>
              <a:t>Stack usage</a:t>
            </a:r>
            <a:r>
              <a:rPr lang="en-US" sz="1300" dirty="0"/>
              <a:t>: amount of memory has utilized in its dedicated call stack, to much stack usage led to stack overflow</a:t>
            </a:r>
          </a:p>
          <a:p>
            <a:pPr>
              <a:spcBef>
                <a:spcPts val="100"/>
              </a:spcBef>
            </a:pPr>
            <a:r>
              <a:rPr lang="en-US" sz="1300" b="1" dirty="0"/>
              <a:t>Stack</a:t>
            </a:r>
            <a:r>
              <a:rPr lang="en-US" sz="1300" dirty="0"/>
              <a:t>: reserved area of RAM used by a task to manage its execution flow. It is LIFO (</a:t>
            </a:r>
            <a:r>
              <a:rPr lang="en-US" sz="1300" dirty="0" err="1"/>
              <a:t>Push+Pop</a:t>
            </a:r>
            <a:r>
              <a:rPr lang="en-US" sz="1300" dirty="0"/>
              <a:t>)</a:t>
            </a:r>
          </a:p>
        </p:txBody>
      </p:sp>
      <p:sp>
        <p:nvSpPr>
          <p:cNvPr id="2" name="Titre 1">
            <a:extLst>
              <a:ext uri="{FF2B5EF4-FFF2-40B4-BE49-F238E27FC236}">
                <a16:creationId xmlns:a16="http://schemas.microsoft.com/office/drawing/2014/main" id="{45F2987F-522F-B557-49BC-5543DC5F7E38}"/>
              </a:ext>
            </a:extLst>
          </p:cNvPr>
          <p:cNvSpPr>
            <a:spLocks noGrp="1"/>
          </p:cNvSpPr>
          <p:nvPr>
            <p:ph type="title"/>
          </p:nvPr>
        </p:nvSpPr>
        <p:spPr>
          <a:xfrm>
            <a:off x="0" y="-251563"/>
            <a:ext cx="10515600" cy="1325563"/>
          </a:xfrm>
        </p:spPr>
        <p:txBody>
          <a:bodyPr/>
          <a:lstStyle/>
          <a:p>
            <a:r>
              <a:rPr lang="fr-FR" dirty="0"/>
              <a:t>Vocab	</a:t>
            </a:r>
            <a:endParaRPr lang="en-US" dirty="0"/>
          </a:p>
        </p:txBody>
      </p:sp>
    </p:spTree>
    <p:extLst>
      <p:ext uri="{BB962C8B-B14F-4D97-AF65-F5344CB8AC3E}">
        <p14:creationId xmlns:p14="http://schemas.microsoft.com/office/powerpoint/2010/main" val="2512849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39B3A-0A45-8B38-EC24-35E0270B9892}"/>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66716320-5ABE-87E1-F604-8BDDA1860237}"/>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00"/>
              </a:spcBef>
              <a:buNone/>
            </a:pPr>
            <a:endParaRPr lang="en-US" sz="1300" dirty="0"/>
          </a:p>
          <a:p>
            <a:pPr marL="0" indent="0">
              <a:spcBef>
                <a:spcPts val="100"/>
              </a:spcBef>
              <a:buNone/>
            </a:pPr>
            <a:endParaRPr lang="en-US" sz="1300" dirty="0"/>
          </a:p>
          <a:p>
            <a:pPr marL="0" indent="0">
              <a:spcBef>
                <a:spcPts val="100"/>
              </a:spcBef>
              <a:buNone/>
            </a:pPr>
            <a:endParaRPr lang="en-US" sz="1300" dirty="0"/>
          </a:p>
          <a:p>
            <a:pPr marL="0" indent="0">
              <a:spcBef>
                <a:spcPts val="100"/>
              </a:spcBef>
              <a:buNone/>
            </a:pPr>
            <a:r>
              <a:rPr lang="en-US" sz="1300" dirty="0"/>
              <a:t>---------------------------------------AI</a:t>
            </a:r>
          </a:p>
          <a:p>
            <a:pPr>
              <a:spcBef>
                <a:spcPts val="100"/>
              </a:spcBef>
            </a:pPr>
            <a:r>
              <a:rPr lang="en-US" sz="1300" b="1" dirty="0"/>
              <a:t>Segmentation</a:t>
            </a:r>
          </a:p>
          <a:p>
            <a:pPr>
              <a:spcBef>
                <a:spcPts val="100"/>
              </a:spcBef>
            </a:pPr>
            <a:r>
              <a:rPr lang="en-US" sz="1300" b="1" dirty="0"/>
              <a:t>CNN</a:t>
            </a:r>
            <a:r>
              <a:rPr lang="en-US" sz="1300" dirty="0"/>
              <a:t>: Convolutional Neural Network</a:t>
            </a:r>
          </a:p>
          <a:p>
            <a:pPr>
              <a:spcBef>
                <a:spcPts val="100"/>
              </a:spcBef>
            </a:pPr>
            <a:r>
              <a:rPr lang="en-US" sz="1300" b="1" dirty="0"/>
              <a:t>FCN</a:t>
            </a:r>
            <a:r>
              <a:rPr lang="en-US" sz="1300" dirty="0"/>
              <a:t>: Fully Conventional Network</a:t>
            </a:r>
          </a:p>
          <a:p>
            <a:pPr>
              <a:spcBef>
                <a:spcPts val="100"/>
              </a:spcBef>
            </a:pPr>
            <a:r>
              <a:rPr lang="en-US" sz="1300" b="1" dirty="0"/>
              <a:t>Deep </a:t>
            </a:r>
            <a:r>
              <a:rPr lang="en-US" sz="1300" b="1" dirty="0" err="1"/>
              <a:t>ConvNet</a:t>
            </a:r>
            <a:r>
              <a:rPr lang="en-US" sz="1300" dirty="0"/>
              <a:t>: Deep Convolutional neural Network, core feature extractor (backbone)</a:t>
            </a:r>
          </a:p>
          <a:p>
            <a:pPr>
              <a:spcBef>
                <a:spcPts val="100"/>
              </a:spcBef>
            </a:pPr>
            <a:r>
              <a:rPr lang="en-US" sz="1300" b="1" dirty="0"/>
              <a:t>R-CNN/Fast R-CNN</a:t>
            </a:r>
            <a:r>
              <a:rPr lang="en-US" sz="1300" dirty="0"/>
              <a:t>: Mask Region-based CNN, deep learning model for instance segmentation, detect object and generate high quality pixel level segmentation mask for each instance. Multi-Stage, not design for RT </a:t>
            </a:r>
            <a:r>
              <a:rPr lang="en-US" sz="1300" dirty="0" err="1"/>
              <a:t>performace</a:t>
            </a:r>
            <a:r>
              <a:rPr lang="en-US" sz="1300" dirty="0"/>
              <a:t>, need pixel level annotated data</a:t>
            </a:r>
          </a:p>
          <a:p>
            <a:pPr>
              <a:spcBef>
                <a:spcPts val="100"/>
              </a:spcBef>
            </a:pPr>
            <a:r>
              <a:rPr lang="en-US" sz="1300" b="1" dirty="0"/>
              <a:t>YOLO</a:t>
            </a:r>
            <a:r>
              <a:rPr lang="en-US" sz="1300" dirty="0"/>
              <a:t>: You Look </a:t>
            </a:r>
            <a:r>
              <a:rPr lang="en-US" sz="1300" dirty="0" err="1"/>
              <a:t>ONly</a:t>
            </a:r>
            <a:r>
              <a:rPr lang="en-US" sz="1300" dirty="0"/>
              <a:t> Once, designed for real time performance</a:t>
            </a:r>
          </a:p>
          <a:p>
            <a:pPr>
              <a:spcBef>
                <a:spcPts val="100"/>
              </a:spcBef>
            </a:pPr>
            <a:r>
              <a:rPr lang="en-US" sz="1300" b="1" dirty="0" err="1"/>
              <a:t>ResNet</a:t>
            </a:r>
            <a:endParaRPr lang="en-US" sz="1300" b="1" dirty="0"/>
          </a:p>
          <a:p>
            <a:pPr>
              <a:spcBef>
                <a:spcPts val="100"/>
              </a:spcBef>
            </a:pPr>
            <a:r>
              <a:rPr lang="en-US" sz="1300" b="1" dirty="0"/>
              <a:t>FPN</a:t>
            </a:r>
            <a:r>
              <a:rPr lang="en-US" sz="1300" dirty="0"/>
              <a:t>: Feature Pyramid Network</a:t>
            </a:r>
          </a:p>
          <a:p>
            <a:pPr>
              <a:spcBef>
                <a:spcPts val="100"/>
              </a:spcBef>
            </a:pPr>
            <a:r>
              <a:rPr lang="en-US" sz="1300" b="1" dirty="0"/>
              <a:t>RPN</a:t>
            </a:r>
            <a:r>
              <a:rPr lang="en-US" sz="1300" dirty="0"/>
              <a:t>: Region Proposal Network</a:t>
            </a:r>
          </a:p>
          <a:p>
            <a:pPr>
              <a:spcBef>
                <a:spcPts val="100"/>
              </a:spcBef>
            </a:pPr>
            <a:r>
              <a:rPr lang="en-US" sz="1300" b="1" dirty="0"/>
              <a:t>Region Proposal</a:t>
            </a:r>
          </a:p>
          <a:p>
            <a:pPr>
              <a:spcBef>
                <a:spcPts val="100"/>
              </a:spcBef>
            </a:pPr>
            <a:r>
              <a:rPr lang="en-US" sz="1300" b="1" dirty="0"/>
              <a:t>Feature Extraction</a:t>
            </a:r>
          </a:p>
          <a:p>
            <a:pPr>
              <a:spcBef>
                <a:spcPts val="100"/>
              </a:spcBef>
            </a:pPr>
            <a:r>
              <a:rPr lang="en-US" sz="1300" b="1" dirty="0"/>
              <a:t>Parallel Prediction</a:t>
            </a:r>
          </a:p>
          <a:p>
            <a:pPr>
              <a:spcBef>
                <a:spcPts val="100"/>
              </a:spcBef>
            </a:pPr>
            <a:r>
              <a:rPr lang="en-US" sz="1300" b="1" dirty="0" err="1"/>
              <a:t>RoI</a:t>
            </a:r>
            <a:r>
              <a:rPr lang="en-US" sz="1300" dirty="0"/>
              <a:t>: Region of Interest</a:t>
            </a:r>
          </a:p>
          <a:p>
            <a:pPr>
              <a:spcBef>
                <a:spcPts val="100"/>
              </a:spcBef>
            </a:pPr>
            <a:r>
              <a:rPr lang="en-US" sz="1300" b="1" dirty="0" err="1"/>
              <a:t>RoIAlign</a:t>
            </a:r>
            <a:r>
              <a:rPr lang="en-US" sz="1300" dirty="0"/>
              <a:t>: Feature to extract pixel perfect contours (unlike previous models like </a:t>
            </a:r>
            <a:r>
              <a:rPr lang="en-US" sz="1300" dirty="0" err="1"/>
              <a:t>RoIPool</a:t>
            </a:r>
            <a:r>
              <a:rPr lang="en-US" sz="1300" dirty="0"/>
              <a:t>)</a:t>
            </a:r>
          </a:p>
          <a:p>
            <a:pPr>
              <a:spcBef>
                <a:spcPts val="100"/>
              </a:spcBef>
            </a:pPr>
            <a:r>
              <a:rPr lang="en-US" sz="1300" b="1" dirty="0"/>
              <a:t>Classification branch</a:t>
            </a:r>
            <a:r>
              <a:rPr lang="en-US" sz="1300" dirty="0"/>
              <a:t>: predict the object's class label</a:t>
            </a:r>
          </a:p>
          <a:p>
            <a:pPr>
              <a:spcBef>
                <a:spcPts val="100"/>
              </a:spcBef>
            </a:pPr>
            <a:r>
              <a:rPr lang="en-US" sz="1300" b="1" dirty="0" err="1"/>
              <a:t>Bouding</a:t>
            </a:r>
            <a:r>
              <a:rPr lang="en-US" sz="1300" b="1" dirty="0"/>
              <a:t> box regression</a:t>
            </a:r>
            <a:r>
              <a:rPr lang="en-US" sz="1300" dirty="0"/>
              <a:t>: refine the object location with a precise bounding box</a:t>
            </a:r>
          </a:p>
          <a:p>
            <a:pPr>
              <a:spcBef>
                <a:spcPts val="100"/>
              </a:spcBef>
            </a:pPr>
            <a:r>
              <a:rPr lang="en-US" sz="1300" b="1" dirty="0"/>
              <a:t>Mask branch</a:t>
            </a:r>
            <a:r>
              <a:rPr lang="en-US" sz="1300" dirty="0"/>
              <a:t>: generate a binary mask for each object</a:t>
            </a:r>
          </a:p>
          <a:p>
            <a:pPr>
              <a:spcBef>
                <a:spcPts val="100"/>
              </a:spcBef>
            </a:pPr>
            <a:r>
              <a:rPr lang="en-US" sz="1300" b="1" dirty="0" err="1"/>
              <a:t>Keypoint</a:t>
            </a:r>
            <a:r>
              <a:rPr lang="en-US" sz="1300" b="1" dirty="0"/>
              <a:t> </a:t>
            </a:r>
            <a:r>
              <a:rPr lang="en-US" sz="1300" dirty="0"/>
              <a:t>detection/landmark detection: locate point of interest</a:t>
            </a:r>
          </a:p>
          <a:p>
            <a:pPr>
              <a:spcBef>
                <a:spcPts val="100"/>
              </a:spcBef>
            </a:pPr>
            <a:r>
              <a:rPr lang="en-US" sz="1300" b="1" dirty="0"/>
              <a:t>FC layer</a:t>
            </a:r>
            <a:r>
              <a:rPr lang="en-US" sz="1300" dirty="0"/>
              <a:t>: Fully Connected layer</a:t>
            </a:r>
          </a:p>
          <a:p>
            <a:pPr>
              <a:spcBef>
                <a:spcPts val="100"/>
              </a:spcBef>
            </a:pPr>
            <a:r>
              <a:rPr lang="en-US" sz="1300" b="1" dirty="0" err="1"/>
              <a:t>RoI</a:t>
            </a:r>
            <a:r>
              <a:rPr lang="en-US" sz="1300" b="1" dirty="0"/>
              <a:t> Projection</a:t>
            </a:r>
            <a:r>
              <a:rPr lang="en-US" sz="1300" dirty="0"/>
              <a:t>: mapping coord of a </a:t>
            </a:r>
            <a:r>
              <a:rPr lang="en-US" sz="1300" dirty="0" err="1"/>
              <a:t>RoI</a:t>
            </a:r>
            <a:r>
              <a:rPr lang="en-US" sz="1300" dirty="0"/>
              <a:t> from the real image to the lower resolution feature map</a:t>
            </a:r>
          </a:p>
          <a:p>
            <a:pPr>
              <a:spcBef>
                <a:spcPts val="100"/>
              </a:spcBef>
            </a:pPr>
            <a:r>
              <a:rPr lang="en-US" sz="1300" b="1" dirty="0" err="1"/>
              <a:t>RoI</a:t>
            </a:r>
            <a:r>
              <a:rPr lang="en-US" sz="1300" b="1" dirty="0"/>
              <a:t> polling / </a:t>
            </a:r>
            <a:r>
              <a:rPr lang="en-US" sz="1300" b="1" dirty="0" err="1"/>
              <a:t>RoI</a:t>
            </a:r>
            <a:r>
              <a:rPr lang="en-US" sz="1300" b="1" dirty="0"/>
              <a:t> align</a:t>
            </a:r>
            <a:r>
              <a:rPr lang="en-US" sz="1300" dirty="0"/>
              <a:t>: extract feature </a:t>
            </a:r>
          </a:p>
          <a:p>
            <a:pPr>
              <a:spcBef>
                <a:spcPts val="100"/>
              </a:spcBef>
            </a:pPr>
            <a:r>
              <a:rPr lang="en-US" sz="1300" b="1" dirty="0"/>
              <a:t>Conv feature map / activation map</a:t>
            </a:r>
            <a:r>
              <a:rPr lang="en-US" sz="1300" dirty="0"/>
              <a:t>: primary output of </a:t>
            </a:r>
            <a:r>
              <a:rPr lang="en-US" sz="1300" dirty="0" err="1"/>
              <a:t>DeepConvNet</a:t>
            </a:r>
            <a:r>
              <a:rPr lang="en-US" sz="1300" dirty="0"/>
              <a:t>, smaller </a:t>
            </a:r>
            <a:r>
              <a:rPr lang="en-US" sz="1300" dirty="0" err="1"/>
              <a:t>dimesion</a:t>
            </a:r>
            <a:r>
              <a:rPr lang="en-US" sz="1300" dirty="0"/>
              <a:t> but much deeper channel dimension. Each unit of the new map is activated by the convolution function or not, depending of the values in the convolution filter</a:t>
            </a:r>
          </a:p>
          <a:p>
            <a:pPr>
              <a:spcBef>
                <a:spcPts val="100"/>
              </a:spcBef>
            </a:pPr>
            <a:endParaRPr lang="en-US" sz="1300" dirty="0"/>
          </a:p>
        </p:txBody>
      </p:sp>
      <p:sp>
        <p:nvSpPr>
          <p:cNvPr id="2" name="Titre 1">
            <a:extLst>
              <a:ext uri="{FF2B5EF4-FFF2-40B4-BE49-F238E27FC236}">
                <a16:creationId xmlns:a16="http://schemas.microsoft.com/office/drawing/2014/main" id="{C11D97D8-8541-EBD9-C586-439204753CF0}"/>
              </a:ext>
            </a:extLst>
          </p:cNvPr>
          <p:cNvSpPr>
            <a:spLocks noGrp="1"/>
          </p:cNvSpPr>
          <p:nvPr>
            <p:ph type="title"/>
          </p:nvPr>
        </p:nvSpPr>
        <p:spPr>
          <a:xfrm>
            <a:off x="0" y="-251563"/>
            <a:ext cx="10515600" cy="1325563"/>
          </a:xfrm>
        </p:spPr>
        <p:txBody>
          <a:bodyPr/>
          <a:lstStyle/>
          <a:p>
            <a:r>
              <a:rPr lang="fr-FR" dirty="0"/>
              <a:t>Vocab	</a:t>
            </a:r>
            <a:endParaRPr lang="en-US" dirty="0"/>
          </a:p>
        </p:txBody>
      </p:sp>
    </p:spTree>
    <p:extLst>
      <p:ext uri="{BB962C8B-B14F-4D97-AF65-F5344CB8AC3E}">
        <p14:creationId xmlns:p14="http://schemas.microsoft.com/office/powerpoint/2010/main" val="801633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6F9D7-8502-1F63-851A-6F05A2513562}"/>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C42DA5A5-30C4-508C-0777-D4188314CDB8}"/>
              </a:ext>
            </a:extLst>
          </p:cNvPr>
          <p:cNvSpPr txBox="1">
            <a:spLocks/>
          </p:cNvSpPr>
          <p:nvPr/>
        </p:nvSpPr>
        <p:spPr>
          <a:xfrm>
            <a:off x="193514" y="692366"/>
            <a:ext cx="11899605" cy="6014114"/>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t>COCO: </a:t>
            </a:r>
            <a:r>
              <a:rPr lang="en-US" sz="1300" dirty="0"/>
              <a:t>Common Object in </a:t>
            </a:r>
            <a:r>
              <a:rPr lang="en-US" sz="1300" dirty="0" err="1"/>
              <a:t>COntext</a:t>
            </a:r>
            <a:r>
              <a:rPr lang="en-US" sz="1300" dirty="0"/>
              <a:t>, dataset widely used for benchmarking</a:t>
            </a:r>
          </a:p>
          <a:p>
            <a:pPr>
              <a:spcBef>
                <a:spcPts val="100"/>
              </a:spcBef>
            </a:pPr>
            <a:r>
              <a:rPr lang="en-US" sz="1300" b="1" dirty="0"/>
              <a:t>ILSVRC</a:t>
            </a:r>
            <a:r>
              <a:rPr lang="en-US" sz="1300" dirty="0"/>
              <a:t>: </a:t>
            </a:r>
            <a:r>
              <a:rPr lang="en-US" sz="1300" dirty="0">
                <a:solidFill>
                  <a:srgbClr val="000000"/>
                </a:solidFill>
                <a:ea typeface="+mn-lt"/>
                <a:cs typeface="+mn-lt"/>
              </a:rPr>
              <a:t>ImageNet Large Scale Visual Recognition Challenge, CNN competition, as stop in 2017</a:t>
            </a:r>
            <a:endParaRPr lang="en-US" sz="1300" dirty="0">
              <a:solidFill>
                <a:srgbClr val="000000"/>
              </a:solidFill>
            </a:endParaRPr>
          </a:p>
          <a:p>
            <a:pPr>
              <a:spcBef>
                <a:spcPts val="100"/>
              </a:spcBef>
            </a:pPr>
            <a:r>
              <a:rPr lang="en-US" sz="1300" b="1" dirty="0" err="1"/>
              <a:t>Fundational</a:t>
            </a:r>
            <a:r>
              <a:rPr lang="en-US" sz="1300" b="1" dirty="0"/>
              <a:t> models/</a:t>
            </a:r>
            <a:r>
              <a:rPr lang="en-US" sz="1300" b="1" dirty="0" err="1"/>
              <a:t>fundation</a:t>
            </a:r>
            <a:r>
              <a:rPr lang="en-US" sz="1300" b="1" dirty="0"/>
              <a:t> model/base model</a:t>
            </a:r>
            <a:r>
              <a:rPr lang="en-US" sz="1300" dirty="0"/>
              <a:t>: AI trained on broad unlabeled data.</a:t>
            </a:r>
            <a:r>
              <a:rPr lang="en-US" sz="1300" dirty="0">
                <a:solidFill>
                  <a:srgbClr val="000000"/>
                </a:solidFill>
                <a:ea typeface="+mn-lt"/>
                <a:cs typeface="+mn-lt"/>
              </a:rPr>
              <a:t> Unlike traditional, specialized AI models designed for a single task (e.g., just classifying dog breeds), foundational models are general-purpose and capture a wide understanding of data, allowing them to be adapted or "fine-tuned" for a wide range of specific downstream applications with less additional training data.</a:t>
            </a:r>
          </a:p>
          <a:p>
            <a:pPr>
              <a:spcBef>
                <a:spcPts val="100"/>
              </a:spcBef>
            </a:pPr>
            <a:r>
              <a:rPr lang="en-US" sz="1300" b="1" dirty="0">
                <a:solidFill>
                  <a:srgbClr val="000000"/>
                </a:solidFill>
                <a:ea typeface="+mn-lt"/>
                <a:cs typeface="+mn-lt"/>
              </a:rPr>
              <a:t>LLM</a:t>
            </a:r>
            <a:r>
              <a:rPr lang="en-US" sz="1300" dirty="0">
                <a:solidFill>
                  <a:srgbClr val="000000"/>
                </a:solidFill>
                <a:ea typeface="+mn-lt"/>
                <a:cs typeface="+mn-lt"/>
              </a:rPr>
              <a:t>: Large Language Models (GPT4, Claude, PaLM2 (google))</a:t>
            </a:r>
          </a:p>
          <a:p>
            <a:pPr>
              <a:spcBef>
                <a:spcPts val="100"/>
              </a:spcBef>
            </a:pPr>
            <a:r>
              <a:rPr lang="en-US" sz="1300" b="1" dirty="0">
                <a:solidFill>
                  <a:srgbClr val="000000"/>
                </a:solidFill>
                <a:ea typeface="+mn-lt"/>
                <a:cs typeface="+mn-lt"/>
              </a:rPr>
              <a:t>computer vision models</a:t>
            </a:r>
            <a:r>
              <a:rPr lang="en-US" sz="1300" dirty="0">
                <a:solidFill>
                  <a:srgbClr val="000000"/>
                </a:solidFill>
                <a:ea typeface="+mn-lt"/>
                <a:cs typeface="+mn-lt"/>
              </a:rPr>
              <a:t>: SAM: Segment Anything Model (Meta), CLIP (OpenAI), YOLO</a:t>
            </a:r>
          </a:p>
          <a:p>
            <a:pPr>
              <a:spcBef>
                <a:spcPts val="100"/>
              </a:spcBef>
            </a:pPr>
            <a:r>
              <a:rPr lang="en-US" sz="1300" b="1" dirty="0">
                <a:solidFill>
                  <a:srgbClr val="000000"/>
                </a:solidFill>
                <a:ea typeface="+mn-lt"/>
                <a:cs typeface="+mn-lt"/>
              </a:rPr>
              <a:t>Text-to-Image models</a:t>
            </a:r>
            <a:r>
              <a:rPr lang="en-US" sz="1300" dirty="0">
                <a:solidFill>
                  <a:srgbClr val="000000"/>
                </a:solidFill>
                <a:ea typeface="+mn-lt"/>
                <a:cs typeface="+mn-lt"/>
              </a:rPr>
              <a:t>: Dall-E (</a:t>
            </a:r>
            <a:r>
              <a:rPr lang="en-US" sz="1300" dirty="0" err="1">
                <a:solidFill>
                  <a:srgbClr val="000000"/>
                </a:solidFill>
                <a:ea typeface="+mn-lt"/>
                <a:cs typeface="+mn-lt"/>
              </a:rPr>
              <a:t>openAI</a:t>
            </a:r>
            <a:r>
              <a:rPr lang="en-US" sz="1300" dirty="0">
                <a:solidFill>
                  <a:srgbClr val="000000"/>
                </a:solidFill>
                <a:ea typeface="+mn-lt"/>
                <a:cs typeface="+mn-lt"/>
              </a:rPr>
              <a:t>) and Stable Diffusion</a:t>
            </a:r>
          </a:p>
          <a:p>
            <a:pPr>
              <a:spcBef>
                <a:spcPts val="100"/>
              </a:spcBef>
            </a:pPr>
            <a:r>
              <a:rPr lang="en-US" sz="1300" b="1" dirty="0">
                <a:solidFill>
                  <a:srgbClr val="000000"/>
                </a:solidFill>
                <a:ea typeface="+mn-lt"/>
                <a:cs typeface="+mn-lt"/>
              </a:rPr>
              <a:t>Backbone</a:t>
            </a:r>
            <a:r>
              <a:rPr lang="en-US" sz="1300" dirty="0">
                <a:solidFill>
                  <a:srgbClr val="000000"/>
                </a:solidFill>
                <a:ea typeface="+mn-lt"/>
                <a:cs typeface="+mn-lt"/>
              </a:rPr>
              <a:t>: primary part of the network responsible of producing the feature extraction, essential in CNN, feature hierarchy (layer1:line -&gt; layer </a:t>
            </a:r>
            <a:r>
              <a:rPr lang="en-US" sz="1300" dirty="0" err="1">
                <a:solidFill>
                  <a:srgbClr val="000000"/>
                </a:solidFill>
                <a:ea typeface="+mn-lt"/>
                <a:cs typeface="+mn-lt"/>
              </a:rPr>
              <a:t>n:objects</a:t>
            </a:r>
            <a:r>
              <a:rPr lang="en-US" sz="1300" dirty="0">
                <a:solidFill>
                  <a:srgbClr val="000000"/>
                </a:solidFill>
                <a:ea typeface="+mn-lt"/>
                <a:cs typeface="+mn-lt"/>
              </a:rPr>
              <a:t>)</a:t>
            </a:r>
          </a:p>
          <a:p>
            <a:pPr lvl="1">
              <a:spcBef>
                <a:spcPts val="100"/>
              </a:spcBef>
              <a:buFont typeface="Courier New" panose="020B0604020202020204" pitchFamily="34" charset="0"/>
              <a:buChar char="o"/>
            </a:pPr>
            <a:r>
              <a:rPr lang="en-US" sz="900" b="1" dirty="0" err="1">
                <a:solidFill>
                  <a:srgbClr val="000000"/>
                </a:solidFill>
                <a:ea typeface="+mn-lt"/>
                <a:cs typeface="+mn-lt"/>
              </a:rPr>
              <a:t>ResNet</a:t>
            </a:r>
            <a:r>
              <a:rPr lang="en-US" sz="900" dirty="0">
                <a:solidFill>
                  <a:srgbClr val="000000"/>
                </a:solidFill>
                <a:ea typeface="+mn-lt"/>
                <a:cs typeface="+mn-lt"/>
              </a:rPr>
              <a:t>: </a:t>
            </a:r>
            <a:r>
              <a:rPr lang="en-US" sz="900" dirty="0" err="1">
                <a:solidFill>
                  <a:srgbClr val="000000"/>
                </a:solidFill>
                <a:ea typeface="+mn-lt"/>
                <a:cs typeface="+mn-lt"/>
              </a:rPr>
              <a:t>RESidual</a:t>
            </a:r>
            <a:r>
              <a:rPr lang="en-US" sz="900" dirty="0">
                <a:solidFill>
                  <a:srgbClr val="000000"/>
                </a:solidFill>
                <a:ea typeface="+mn-lt"/>
                <a:cs typeface="+mn-lt"/>
              </a:rPr>
              <a:t> </a:t>
            </a:r>
            <a:r>
              <a:rPr lang="en-US" sz="900" dirty="0" err="1">
                <a:solidFill>
                  <a:srgbClr val="000000"/>
                </a:solidFill>
                <a:ea typeface="+mn-lt"/>
                <a:cs typeface="+mn-lt"/>
              </a:rPr>
              <a:t>NETwork</a:t>
            </a:r>
            <a:endParaRPr lang="en-US" sz="900" dirty="0">
              <a:solidFill>
                <a:srgbClr val="000000"/>
              </a:solidFill>
              <a:ea typeface="+mn-lt"/>
              <a:cs typeface="+mn-lt"/>
            </a:endParaRPr>
          </a:p>
          <a:p>
            <a:pPr lvl="1">
              <a:spcBef>
                <a:spcPts val="100"/>
              </a:spcBef>
              <a:buFont typeface="Courier New" panose="020B0604020202020204" pitchFamily="34" charset="0"/>
              <a:buChar char="o"/>
            </a:pPr>
            <a:r>
              <a:rPr lang="en-US" sz="900" b="1" dirty="0">
                <a:solidFill>
                  <a:srgbClr val="000000"/>
                </a:solidFill>
                <a:ea typeface="+mn-lt"/>
                <a:cs typeface="+mn-lt"/>
              </a:rPr>
              <a:t>VGG16/VGG19</a:t>
            </a:r>
            <a:r>
              <a:rPr lang="en-US" sz="900" dirty="0">
                <a:solidFill>
                  <a:srgbClr val="000000"/>
                </a:solidFill>
                <a:ea typeface="+mn-lt"/>
                <a:cs typeface="+mn-lt"/>
              </a:rPr>
              <a:t>: Visual Geometry Group</a:t>
            </a:r>
          </a:p>
          <a:p>
            <a:pPr lvl="1">
              <a:spcBef>
                <a:spcPts val="100"/>
              </a:spcBef>
              <a:buFont typeface="Courier New" panose="020B0604020202020204" pitchFamily="34" charset="0"/>
              <a:buChar char="o"/>
            </a:pPr>
            <a:r>
              <a:rPr lang="en-US" sz="900" b="1" dirty="0" err="1">
                <a:solidFill>
                  <a:srgbClr val="000000"/>
                </a:solidFill>
                <a:ea typeface="+mn-lt"/>
                <a:cs typeface="+mn-lt"/>
              </a:rPr>
              <a:t>GoogleNet</a:t>
            </a:r>
            <a:endParaRPr lang="en-US" sz="900" b="1">
              <a:solidFill>
                <a:srgbClr val="000000"/>
              </a:solidFill>
              <a:ea typeface="+mn-lt"/>
              <a:cs typeface="+mn-lt"/>
            </a:endParaRPr>
          </a:p>
          <a:p>
            <a:pPr lvl="1">
              <a:spcBef>
                <a:spcPts val="100"/>
              </a:spcBef>
              <a:buFont typeface="Courier New" panose="020B0604020202020204" pitchFamily="34" charset="0"/>
              <a:buChar char="o"/>
            </a:pPr>
            <a:r>
              <a:rPr lang="en-US" sz="900" b="1" dirty="0" err="1">
                <a:solidFill>
                  <a:srgbClr val="000000"/>
                </a:solidFill>
                <a:ea typeface="+mn-lt"/>
                <a:cs typeface="+mn-lt"/>
              </a:rPr>
              <a:t>MobileNet</a:t>
            </a:r>
            <a:r>
              <a:rPr lang="en-US" sz="900" dirty="0">
                <a:solidFill>
                  <a:srgbClr val="000000"/>
                </a:solidFill>
                <a:ea typeface="+mn-lt"/>
                <a:cs typeface="+mn-lt"/>
              </a:rPr>
              <a:t>: </a:t>
            </a:r>
            <a:r>
              <a:rPr lang="en-US" sz="900" dirty="0" err="1">
                <a:solidFill>
                  <a:srgbClr val="000000"/>
                </a:solidFill>
                <a:ea typeface="+mn-lt"/>
                <a:cs typeface="+mn-lt"/>
              </a:rPr>
              <a:t>optimised</a:t>
            </a:r>
            <a:r>
              <a:rPr lang="en-US" sz="900" dirty="0">
                <a:solidFill>
                  <a:srgbClr val="000000"/>
                </a:solidFill>
                <a:ea typeface="+mn-lt"/>
                <a:cs typeface="+mn-lt"/>
              </a:rPr>
              <a:t> for mobile and embedded devices</a:t>
            </a:r>
          </a:p>
          <a:p>
            <a:pPr lvl="1">
              <a:spcBef>
                <a:spcPts val="100"/>
              </a:spcBef>
              <a:buFont typeface="Courier New" panose="020B0604020202020204" pitchFamily="34" charset="0"/>
              <a:buChar char="o"/>
            </a:pPr>
            <a:r>
              <a:rPr lang="en-US" sz="900" b="1" err="1">
                <a:solidFill>
                  <a:srgbClr val="000000"/>
                </a:solidFill>
                <a:ea typeface="+mn-lt"/>
                <a:cs typeface="+mn-lt"/>
              </a:rPr>
              <a:t>EfficientNet</a:t>
            </a:r>
            <a:endParaRPr lang="en-US" sz="900" b="1">
              <a:solidFill>
                <a:srgbClr val="000000"/>
              </a:solidFill>
              <a:ea typeface="+mn-lt"/>
              <a:cs typeface="+mn-lt"/>
            </a:endParaRPr>
          </a:p>
          <a:p>
            <a:pPr lvl="1">
              <a:spcBef>
                <a:spcPts val="100"/>
              </a:spcBef>
              <a:buFont typeface="Courier New" panose="020B0604020202020204" pitchFamily="34" charset="0"/>
              <a:buChar char="o"/>
            </a:pPr>
            <a:r>
              <a:rPr lang="en-US" sz="900" b="1" dirty="0">
                <a:solidFill>
                  <a:srgbClr val="000000"/>
                </a:solidFill>
                <a:ea typeface="+mn-lt"/>
                <a:cs typeface="+mn-lt"/>
              </a:rPr>
              <a:t>FPN</a:t>
            </a:r>
            <a:r>
              <a:rPr lang="en-US" sz="900" dirty="0">
                <a:solidFill>
                  <a:srgbClr val="000000"/>
                </a:solidFill>
                <a:ea typeface="+mn-lt"/>
                <a:cs typeface="+mn-lt"/>
              </a:rPr>
              <a:t>: Feature Pyramid Network</a:t>
            </a:r>
          </a:p>
          <a:p>
            <a:pPr>
              <a:spcBef>
                <a:spcPts val="100"/>
              </a:spcBef>
            </a:pPr>
            <a:r>
              <a:rPr lang="en-US" sz="1300" b="1" dirty="0">
                <a:solidFill>
                  <a:srgbClr val="000000"/>
                </a:solidFill>
                <a:ea typeface="+mn-lt"/>
                <a:cs typeface="+mn-lt"/>
              </a:rPr>
              <a:t>Classifier: </a:t>
            </a:r>
            <a:r>
              <a:rPr lang="en-US" sz="1300" dirty="0">
                <a:solidFill>
                  <a:srgbClr val="000000"/>
                </a:solidFill>
                <a:ea typeface="+mn-lt"/>
                <a:cs typeface="+mn-lt"/>
              </a:rPr>
              <a:t>sorts input data into several predefined classes. Learns patters from labeled training data and then make prediction and categorize</a:t>
            </a:r>
          </a:p>
          <a:p>
            <a:pPr lvl="1">
              <a:spcBef>
                <a:spcPts val="100"/>
              </a:spcBef>
              <a:buFont typeface="Courier New" panose="020B0604020202020204" pitchFamily="34" charset="0"/>
              <a:buChar char="o"/>
            </a:pPr>
            <a:r>
              <a:rPr lang="en-US" sz="900" b="1" dirty="0">
                <a:solidFill>
                  <a:srgbClr val="000000"/>
                </a:solidFill>
                <a:ea typeface="+mn-lt"/>
                <a:cs typeface="+mn-lt"/>
              </a:rPr>
              <a:t>SoftMax Regressor</a:t>
            </a:r>
          </a:p>
          <a:p>
            <a:pPr>
              <a:spcBef>
                <a:spcPts val="100"/>
              </a:spcBef>
            </a:pPr>
            <a:r>
              <a:rPr lang="en-US" sz="1300" b="1" dirty="0">
                <a:solidFill>
                  <a:srgbClr val="000000"/>
                </a:solidFill>
                <a:highlight>
                  <a:srgbClr val="FFFF00"/>
                </a:highlight>
                <a:ea typeface="+mn-lt"/>
                <a:cs typeface="+mn-lt"/>
              </a:rPr>
              <a:t>Transfer learning</a:t>
            </a:r>
            <a:r>
              <a:rPr lang="en-US" sz="1300" dirty="0">
                <a:solidFill>
                  <a:srgbClr val="000000"/>
                </a:solidFill>
                <a:ea typeface="+mn-lt"/>
                <a:cs typeface="+mn-lt"/>
              </a:rPr>
              <a:t>: adapting pre-trained data to a new, smaller dataset</a:t>
            </a:r>
          </a:p>
          <a:p>
            <a:pPr>
              <a:spcBef>
                <a:spcPts val="100"/>
              </a:spcBef>
            </a:pPr>
            <a:r>
              <a:rPr lang="en-US" sz="1300" b="1" dirty="0">
                <a:solidFill>
                  <a:srgbClr val="000000"/>
                </a:solidFill>
                <a:ea typeface="+mn-lt"/>
                <a:cs typeface="+mn-lt"/>
              </a:rPr>
              <a:t>Anchors generators</a:t>
            </a:r>
            <a:r>
              <a:rPr lang="en-US" sz="1300" dirty="0">
                <a:solidFill>
                  <a:srgbClr val="000000"/>
                </a:solidFill>
                <a:ea typeface="+mn-lt"/>
                <a:cs typeface="+mn-lt"/>
              </a:rPr>
              <a:t>: Generate a set of anchor (for instance 15), defined by the author, for each pixel in the </a:t>
            </a:r>
            <a:r>
              <a:rPr lang="en-US" sz="1300" dirty="0" err="1">
                <a:solidFill>
                  <a:srgbClr val="000000"/>
                </a:solidFill>
                <a:ea typeface="+mn-lt"/>
                <a:cs typeface="+mn-lt"/>
              </a:rPr>
              <a:t>img</a:t>
            </a:r>
            <a:endParaRPr lang="en-US" sz="1300" dirty="0">
              <a:solidFill>
                <a:srgbClr val="000000"/>
              </a:solidFill>
              <a:ea typeface="+mn-lt"/>
              <a:cs typeface="+mn-lt"/>
            </a:endParaRPr>
          </a:p>
          <a:p>
            <a:pPr>
              <a:spcBef>
                <a:spcPts val="100"/>
              </a:spcBef>
            </a:pPr>
            <a:r>
              <a:rPr lang="en-US" sz="1300" b="1" dirty="0">
                <a:solidFill>
                  <a:srgbClr val="000000"/>
                </a:solidFill>
                <a:ea typeface="+mn-lt"/>
                <a:cs typeface="+mn-lt"/>
              </a:rPr>
              <a:t>Accelerator</a:t>
            </a:r>
          </a:p>
          <a:p>
            <a:pPr>
              <a:spcBef>
                <a:spcPts val="100"/>
              </a:spcBef>
            </a:pPr>
            <a:r>
              <a:rPr lang="en-US" sz="1300" b="1" dirty="0">
                <a:solidFill>
                  <a:srgbClr val="000000"/>
                </a:solidFill>
                <a:ea typeface="+mn-lt"/>
                <a:cs typeface="+mn-lt"/>
              </a:rPr>
              <a:t>Data loader</a:t>
            </a:r>
            <a:r>
              <a:rPr lang="en-US" sz="1300" dirty="0">
                <a:solidFill>
                  <a:srgbClr val="000000"/>
                </a:solidFill>
                <a:ea typeface="+mn-lt"/>
                <a:cs typeface="+mn-lt"/>
              </a:rPr>
              <a:t>: </a:t>
            </a:r>
            <a:r>
              <a:rPr lang="en-US" sz="1300" dirty="0" err="1">
                <a:solidFill>
                  <a:srgbClr val="000000"/>
                </a:solidFill>
                <a:ea typeface="+mn-lt"/>
                <a:cs typeface="+mn-lt"/>
              </a:rPr>
              <a:t>dataset+sampler</a:t>
            </a:r>
            <a:endParaRPr lang="en-US" sz="1300" dirty="0">
              <a:solidFill>
                <a:srgbClr val="000000"/>
              </a:solidFill>
              <a:ea typeface="+mn-lt"/>
              <a:cs typeface="+mn-lt"/>
            </a:endParaRPr>
          </a:p>
          <a:p>
            <a:pPr>
              <a:spcBef>
                <a:spcPts val="100"/>
              </a:spcBef>
            </a:pPr>
            <a:r>
              <a:rPr lang="en-US" sz="1300" b="1" dirty="0">
                <a:solidFill>
                  <a:srgbClr val="000000"/>
                </a:solidFill>
                <a:ea typeface="+mn-lt"/>
                <a:cs typeface="+mn-lt"/>
              </a:rPr>
              <a:t>Sampler</a:t>
            </a:r>
            <a:r>
              <a:rPr lang="en-US" sz="1300" dirty="0">
                <a:solidFill>
                  <a:srgbClr val="000000"/>
                </a:solidFill>
                <a:ea typeface="+mn-lt"/>
                <a:cs typeface="+mn-lt"/>
              </a:rPr>
              <a:t>: define a strategy to for drawing sample from the dataset</a:t>
            </a:r>
          </a:p>
          <a:p>
            <a:pPr>
              <a:spcBef>
                <a:spcPts val="100"/>
              </a:spcBef>
            </a:pPr>
            <a:r>
              <a:rPr lang="en-US" sz="1300" b="1" dirty="0">
                <a:solidFill>
                  <a:srgbClr val="000000"/>
                </a:solidFill>
                <a:ea typeface="+mn-lt"/>
                <a:cs typeface="+mn-lt"/>
              </a:rPr>
              <a:t>Device</a:t>
            </a:r>
            <a:r>
              <a:rPr lang="en-US" sz="1300" dirty="0">
                <a:solidFill>
                  <a:srgbClr val="000000"/>
                </a:solidFill>
                <a:ea typeface="+mn-lt"/>
                <a:cs typeface="+mn-lt"/>
              </a:rPr>
              <a:t>: specify is CPU RAM or GPU RAM/VRAM is used</a:t>
            </a:r>
          </a:p>
          <a:p>
            <a:pPr>
              <a:spcBef>
                <a:spcPts val="100"/>
              </a:spcBef>
            </a:pPr>
            <a:r>
              <a:rPr lang="en-US" sz="1300" b="1" dirty="0">
                <a:solidFill>
                  <a:srgbClr val="000000"/>
                </a:solidFill>
                <a:ea typeface="+mn-lt"/>
                <a:cs typeface="+mn-lt"/>
              </a:rPr>
              <a:t>Optimizer</a:t>
            </a:r>
            <a:r>
              <a:rPr lang="en-US" sz="1300" dirty="0">
                <a:solidFill>
                  <a:srgbClr val="000000"/>
                </a:solidFill>
                <a:ea typeface="+mn-lt"/>
                <a:cs typeface="+mn-lt"/>
              </a:rPr>
              <a:t>: algorithm that adjust weights and </a:t>
            </a:r>
            <a:r>
              <a:rPr lang="en-US" sz="1300" dirty="0" err="1">
                <a:solidFill>
                  <a:srgbClr val="000000"/>
                </a:solidFill>
                <a:ea typeface="+mn-lt"/>
                <a:cs typeface="+mn-lt"/>
              </a:rPr>
              <a:t>biais</a:t>
            </a:r>
            <a:r>
              <a:rPr lang="en-US" sz="1300" dirty="0">
                <a:solidFill>
                  <a:srgbClr val="000000"/>
                </a:solidFill>
                <a:ea typeface="+mn-lt"/>
                <a:cs typeface="+mn-lt"/>
              </a:rPr>
              <a:t> based on calculated loss. Job is to fin the set of weight that minimizes the loss function.(e.g., SGD)</a:t>
            </a:r>
          </a:p>
          <a:p>
            <a:pPr>
              <a:spcBef>
                <a:spcPts val="100"/>
              </a:spcBef>
            </a:pPr>
            <a:r>
              <a:rPr lang="en-US" sz="1300" b="1" dirty="0">
                <a:solidFill>
                  <a:srgbClr val="000000"/>
                </a:solidFill>
                <a:ea typeface="+mn-lt"/>
                <a:cs typeface="+mn-lt"/>
              </a:rPr>
              <a:t>SGD</a:t>
            </a:r>
            <a:r>
              <a:rPr lang="en-US" sz="1300" dirty="0">
                <a:solidFill>
                  <a:srgbClr val="000000"/>
                </a:solidFill>
                <a:ea typeface="+mn-lt"/>
                <a:cs typeface="+mn-lt"/>
              </a:rPr>
              <a:t>: </a:t>
            </a:r>
            <a:r>
              <a:rPr lang="en-US" sz="1300" dirty="0" err="1">
                <a:solidFill>
                  <a:srgbClr val="000000"/>
                </a:solidFill>
                <a:ea typeface="+mn-lt"/>
                <a:cs typeface="+mn-lt"/>
              </a:rPr>
              <a:t>Stockastic</a:t>
            </a:r>
            <a:r>
              <a:rPr lang="en-US" sz="1300" dirty="0">
                <a:solidFill>
                  <a:srgbClr val="000000"/>
                </a:solidFill>
                <a:ea typeface="+mn-lt"/>
                <a:cs typeface="+mn-lt"/>
              </a:rPr>
              <a:t> Gradient Descent</a:t>
            </a:r>
          </a:p>
          <a:p>
            <a:pPr>
              <a:spcBef>
                <a:spcPts val="100"/>
              </a:spcBef>
            </a:pPr>
            <a:r>
              <a:rPr lang="en-US" sz="1300" b="1" dirty="0">
                <a:solidFill>
                  <a:srgbClr val="000000"/>
                </a:solidFill>
                <a:ea typeface="+mn-lt"/>
                <a:cs typeface="+mn-lt"/>
              </a:rPr>
              <a:t>Learning rate scheduler</a:t>
            </a:r>
            <a:r>
              <a:rPr lang="en-US" sz="1300" dirty="0">
                <a:solidFill>
                  <a:srgbClr val="000000"/>
                </a:solidFill>
                <a:ea typeface="+mn-lt"/>
                <a:cs typeface="+mn-lt"/>
              </a:rPr>
              <a:t>: hyperparameter of the training. Systematically adjust the learning rate to balance performance and stability (e.g., start at 0.005)</a:t>
            </a:r>
          </a:p>
          <a:p>
            <a:pPr>
              <a:spcBef>
                <a:spcPts val="100"/>
              </a:spcBef>
            </a:pPr>
            <a:r>
              <a:rPr lang="en-US" sz="1300" b="1" dirty="0">
                <a:solidFill>
                  <a:srgbClr val="000000"/>
                </a:solidFill>
                <a:ea typeface="+mn-lt"/>
                <a:cs typeface="+mn-lt"/>
              </a:rPr>
              <a:t>Batch</a:t>
            </a:r>
            <a:r>
              <a:rPr lang="en-US" sz="1300" dirty="0">
                <a:solidFill>
                  <a:srgbClr val="000000"/>
                </a:solidFill>
                <a:ea typeface="+mn-lt"/>
                <a:cs typeface="+mn-lt"/>
              </a:rPr>
              <a:t>: when the dataset are too large for RAM, they are split in batches</a:t>
            </a:r>
          </a:p>
          <a:p>
            <a:pPr>
              <a:spcBef>
                <a:spcPts val="100"/>
              </a:spcBef>
            </a:pPr>
            <a:r>
              <a:rPr lang="en-US" sz="1300" b="1" dirty="0">
                <a:solidFill>
                  <a:srgbClr val="000000"/>
                </a:solidFill>
                <a:ea typeface="+mn-lt"/>
                <a:cs typeface="+mn-lt"/>
              </a:rPr>
              <a:t>Epoch</a:t>
            </a:r>
            <a:r>
              <a:rPr lang="en-US" sz="1300" dirty="0">
                <a:solidFill>
                  <a:srgbClr val="000000"/>
                </a:solidFill>
                <a:ea typeface="+mn-lt"/>
                <a:cs typeface="+mn-lt"/>
              </a:rPr>
              <a:t>: training cycle where all the dataset single data point is passed forward and backward through the neural network.</a:t>
            </a:r>
          </a:p>
          <a:p>
            <a:pPr>
              <a:spcBef>
                <a:spcPts val="100"/>
              </a:spcBef>
            </a:pPr>
            <a:r>
              <a:rPr lang="en-US" sz="1300" b="1" dirty="0">
                <a:solidFill>
                  <a:srgbClr val="000000"/>
                </a:solidFill>
                <a:ea typeface="+mn-lt"/>
                <a:cs typeface="+mn-lt"/>
              </a:rPr>
              <a:t>Backward/backpropagation/calculate the gradient</a:t>
            </a:r>
          </a:p>
          <a:p>
            <a:pPr>
              <a:spcBef>
                <a:spcPts val="100"/>
              </a:spcBef>
            </a:pPr>
            <a:r>
              <a:rPr lang="en-US" sz="1300" b="1" dirty="0" err="1">
                <a:solidFill>
                  <a:srgbClr val="000000"/>
                </a:solidFill>
                <a:ea typeface="+mn-lt"/>
                <a:cs typeface="+mn-lt"/>
              </a:rPr>
              <a:t>mAP</a:t>
            </a:r>
            <a:r>
              <a:rPr lang="en-US" sz="1300" dirty="0">
                <a:solidFill>
                  <a:srgbClr val="000000"/>
                </a:solidFill>
                <a:ea typeface="+mn-lt"/>
                <a:cs typeface="+mn-lt"/>
              </a:rPr>
              <a:t>: Mean Average Precision</a:t>
            </a:r>
          </a:p>
          <a:p>
            <a:pPr>
              <a:spcBef>
                <a:spcPts val="100"/>
              </a:spcBef>
            </a:pPr>
            <a:r>
              <a:rPr lang="en-US" sz="1300" b="1" dirty="0">
                <a:solidFill>
                  <a:srgbClr val="000000"/>
                </a:solidFill>
                <a:ea typeface="+mn-lt"/>
                <a:cs typeface="+mn-lt"/>
              </a:rPr>
              <a:t>ImageNet</a:t>
            </a:r>
            <a:r>
              <a:rPr lang="en-US" sz="1300" dirty="0">
                <a:solidFill>
                  <a:srgbClr val="000000"/>
                </a:solidFill>
                <a:ea typeface="+mn-lt"/>
                <a:cs typeface="+mn-lt"/>
              </a:rPr>
              <a:t>: big database used to pre-train CNN</a:t>
            </a:r>
          </a:p>
          <a:p>
            <a:pPr>
              <a:spcBef>
                <a:spcPts val="100"/>
              </a:spcBef>
            </a:pPr>
            <a:r>
              <a:rPr lang="en-US" sz="1200" b="1" err="1">
                <a:solidFill>
                  <a:srgbClr val="000000"/>
                </a:solidFill>
                <a:latin typeface="Roboto"/>
                <a:ea typeface="Roboto"/>
                <a:cs typeface="Roboto"/>
              </a:rPr>
              <a:t>ReLU</a:t>
            </a:r>
            <a:r>
              <a:rPr lang="en-US" sz="1200" dirty="0">
                <a:solidFill>
                  <a:srgbClr val="000000"/>
                </a:solidFill>
                <a:latin typeface="Roboto"/>
                <a:ea typeface="Roboto"/>
                <a:cs typeface="Roboto"/>
              </a:rPr>
              <a:t>: Rectified Linear Unit </a:t>
            </a:r>
            <a:endParaRPr lang="en-US" sz="1300" dirty="0">
              <a:solidFill>
                <a:srgbClr val="000000"/>
              </a:solidFill>
              <a:ea typeface="+mn-lt"/>
              <a:cs typeface="+mn-lt"/>
            </a:endParaRPr>
          </a:p>
          <a:p>
            <a:pPr>
              <a:spcBef>
                <a:spcPts val="100"/>
              </a:spcBef>
            </a:pPr>
            <a:r>
              <a:rPr lang="en-US" sz="1200" b="1" dirty="0">
                <a:solidFill>
                  <a:srgbClr val="000000"/>
                </a:solidFill>
                <a:latin typeface="Roboto"/>
                <a:ea typeface="Roboto"/>
                <a:cs typeface="Roboto"/>
              </a:rPr>
              <a:t>CUDNN</a:t>
            </a:r>
            <a:r>
              <a:rPr lang="en-US" sz="1200" dirty="0">
                <a:solidFill>
                  <a:srgbClr val="000000"/>
                </a:solidFill>
                <a:latin typeface="Roboto"/>
                <a:ea typeface="Roboto"/>
                <a:cs typeface="Roboto"/>
              </a:rPr>
              <a:t>: Cuda Deep NN library</a:t>
            </a:r>
          </a:p>
          <a:p>
            <a:pPr>
              <a:spcBef>
                <a:spcPts val="100"/>
              </a:spcBef>
            </a:pPr>
            <a:r>
              <a:rPr lang="en-US" sz="1200" b="1" dirty="0">
                <a:solidFill>
                  <a:srgbClr val="000000"/>
                </a:solidFill>
                <a:latin typeface="Roboto"/>
                <a:ea typeface="Roboto"/>
                <a:cs typeface="Roboto"/>
              </a:rPr>
              <a:t>Loss</a:t>
            </a:r>
            <a:r>
              <a:rPr lang="en-US" sz="1200" dirty="0">
                <a:solidFill>
                  <a:srgbClr val="000000"/>
                </a:solidFill>
                <a:latin typeface="Roboto"/>
                <a:ea typeface="Roboto"/>
                <a:cs typeface="Roboto"/>
              </a:rPr>
              <a:t>: cost function, error function, </a:t>
            </a:r>
          </a:p>
          <a:p>
            <a:pPr lvl="1">
              <a:spcBef>
                <a:spcPts val="100"/>
              </a:spcBef>
              <a:buFont typeface="Courier New" panose="020B0604020202020204" pitchFamily="34" charset="0"/>
              <a:buChar char="o"/>
            </a:pPr>
            <a:endParaRPr lang="en-US" sz="1300">
              <a:solidFill>
                <a:srgbClr val="000000"/>
              </a:solidFill>
              <a:ea typeface="+mn-lt"/>
              <a:cs typeface="+mn-lt"/>
            </a:endParaRPr>
          </a:p>
          <a:p>
            <a:pPr>
              <a:spcBef>
                <a:spcPts val="100"/>
              </a:spcBef>
            </a:pPr>
            <a:endParaRPr lang="en-US" sz="1300">
              <a:solidFill>
                <a:srgbClr val="000000"/>
              </a:solidFill>
              <a:ea typeface="+mn-lt"/>
              <a:cs typeface="+mn-lt"/>
            </a:endParaRPr>
          </a:p>
        </p:txBody>
      </p:sp>
      <p:sp>
        <p:nvSpPr>
          <p:cNvPr id="2" name="Titre 1">
            <a:extLst>
              <a:ext uri="{FF2B5EF4-FFF2-40B4-BE49-F238E27FC236}">
                <a16:creationId xmlns:a16="http://schemas.microsoft.com/office/drawing/2014/main" id="{5A6952A4-19E6-9E40-17C6-327AB4E295AF}"/>
              </a:ext>
            </a:extLst>
          </p:cNvPr>
          <p:cNvSpPr>
            <a:spLocks noGrp="1"/>
          </p:cNvSpPr>
          <p:nvPr>
            <p:ph type="title"/>
          </p:nvPr>
        </p:nvSpPr>
        <p:spPr>
          <a:xfrm>
            <a:off x="0" y="-251563"/>
            <a:ext cx="10515600" cy="1325563"/>
          </a:xfrm>
        </p:spPr>
        <p:txBody>
          <a:bodyPr/>
          <a:lstStyle/>
          <a:p>
            <a:r>
              <a:rPr lang="fr-FR"/>
              <a:t>Vocab	</a:t>
            </a:r>
            <a:endParaRPr lang="en-US"/>
          </a:p>
        </p:txBody>
      </p:sp>
    </p:spTree>
    <p:extLst>
      <p:ext uri="{BB962C8B-B14F-4D97-AF65-F5344CB8AC3E}">
        <p14:creationId xmlns:p14="http://schemas.microsoft.com/office/powerpoint/2010/main" val="3016267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E161-C038-A9C0-B369-F2432E320026}"/>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EF467DD1-CF17-C140-4E2D-2DD72EE57EA8}"/>
              </a:ext>
            </a:extLst>
          </p:cNvPr>
          <p:cNvSpPr txBox="1">
            <a:spLocks/>
          </p:cNvSpPr>
          <p:nvPr/>
        </p:nvSpPr>
        <p:spPr>
          <a:xfrm>
            <a:off x="193514" y="692366"/>
            <a:ext cx="11899605" cy="60141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en-US" sz="1300" b="1" dirty="0"/>
              <a:t>Fixed feature extractor: </a:t>
            </a:r>
            <a:r>
              <a:rPr lang="en-US" sz="1300" dirty="0"/>
              <a:t>a strategy in</a:t>
            </a:r>
            <a:r>
              <a:rPr lang="en-US" sz="1300" b="1" dirty="0"/>
              <a:t> </a:t>
            </a:r>
            <a:r>
              <a:rPr lang="en-US" sz="1300" dirty="0" err="1"/>
              <a:t>transfert</a:t>
            </a:r>
            <a:r>
              <a:rPr lang="en-US" sz="1300" dirty="0"/>
              <a:t> learning where you freeze most of the layers of the pre-trained deep NN, which prevent weight to change during training on the new task.</a:t>
            </a:r>
          </a:p>
          <a:p>
            <a:pPr>
              <a:spcBef>
                <a:spcPts val="100"/>
              </a:spcBef>
            </a:pPr>
            <a:r>
              <a:rPr lang="en-US" sz="1300" b="1" dirty="0">
                <a:solidFill>
                  <a:srgbClr val="000000"/>
                </a:solidFill>
                <a:latin typeface="Aptos"/>
                <a:ea typeface="Roboto"/>
                <a:cs typeface="Roboto"/>
              </a:rPr>
              <a:t>FGSM</a:t>
            </a:r>
            <a:r>
              <a:rPr lang="en-US" sz="1300" dirty="0">
                <a:solidFill>
                  <a:srgbClr val="000000"/>
                </a:solidFill>
                <a:latin typeface="Aptos"/>
                <a:ea typeface="Roboto"/>
                <a:cs typeface="Roboto"/>
              </a:rPr>
              <a:t>: Fast Gradient Sign  Method attacks</a:t>
            </a:r>
          </a:p>
          <a:p>
            <a:pPr>
              <a:spcBef>
                <a:spcPts val="100"/>
              </a:spcBef>
            </a:pPr>
            <a:r>
              <a:rPr lang="en-US" sz="1300" b="1" dirty="0">
                <a:solidFill>
                  <a:srgbClr val="000000"/>
                </a:solidFill>
                <a:latin typeface="Aptos"/>
                <a:ea typeface="Roboto"/>
                <a:cs typeface="Roboto"/>
              </a:rPr>
              <a:t>Stride</a:t>
            </a:r>
            <a:r>
              <a:rPr lang="en-US" sz="1300" dirty="0">
                <a:solidFill>
                  <a:srgbClr val="000000"/>
                </a:solidFill>
                <a:latin typeface="Aptos"/>
                <a:ea typeface="Roboto"/>
                <a:cs typeface="Roboto"/>
              </a:rPr>
              <a:t>: parameter that defines how many pixels the convolution filter (kernel) shift across the input image (or feature map) at a time.</a:t>
            </a:r>
          </a:p>
          <a:p>
            <a:pPr>
              <a:spcBef>
                <a:spcPts val="100"/>
              </a:spcBef>
            </a:pPr>
            <a:r>
              <a:rPr lang="en-US" sz="1300" b="1" dirty="0">
                <a:solidFill>
                  <a:srgbClr val="000000"/>
                </a:solidFill>
                <a:latin typeface="Aptos"/>
                <a:ea typeface="Roboto"/>
                <a:cs typeface="Roboto"/>
              </a:rPr>
              <a:t>ERF</a:t>
            </a:r>
            <a:r>
              <a:rPr lang="en-US" sz="1300" dirty="0">
                <a:solidFill>
                  <a:srgbClr val="000000"/>
                </a:solidFill>
                <a:latin typeface="Aptos"/>
                <a:ea typeface="Roboto"/>
                <a:cs typeface="Roboto"/>
              </a:rPr>
              <a:t>: Effective receptive field</a:t>
            </a:r>
          </a:p>
          <a:p>
            <a:pPr>
              <a:spcBef>
                <a:spcPts val="100"/>
              </a:spcBef>
            </a:pPr>
            <a:r>
              <a:rPr lang="en-US" sz="1300" b="1" dirty="0">
                <a:solidFill>
                  <a:srgbClr val="000000"/>
                </a:solidFill>
                <a:latin typeface="Aptos"/>
                <a:ea typeface="Roboto"/>
                <a:cs typeface="Roboto"/>
              </a:rPr>
              <a:t>Depth</a:t>
            </a:r>
            <a:r>
              <a:rPr lang="en-US" sz="1300" dirty="0">
                <a:solidFill>
                  <a:srgbClr val="000000"/>
                </a:solidFill>
                <a:latin typeface="Aptos"/>
                <a:ea typeface="Roboto"/>
                <a:cs typeface="Roboto"/>
              </a:rPr>
              <a:t>: Number of layer in the NN</a:t>
            </a:r>
          </a:p>
          <a:p>
            <a:pPr>
              <a:spcBef>
                <a:spcPts val="100"/>
              </a:spcBef>
            </a:pPr>
            <a:r>
              <a:rPr lang="en-US" sz="1300" b="1" dirty="0">
                <a:solidFill>
                  <a:srgbClr val="000000"/>
                </a:solidFill>
                <a:latin typeface="Aptos"/>
                <a:ea typeface="Roboto"/>
                <a:cs typeface="Roboto"/>
              </a:rPr>
              <a:t>Inception module/layer</a:t>
            </a:r>
          </a:p>
          <a:p>
            <a:pPr>
              <a:spcBef>
                <a:spcPts val="100"/>
              </a:spcBef>
            </a:pPr>
            <a:r>
              <a:rPr lang="en-US" sz="1300" b="1" dirty="0" err="1">
                <a:solidFill>
                  <a:srgbClr val="000000"/>
                </a:solidFill>
                <a:latin typeface="Aptos"/>
                <a:ea typeface="Roboto"/>
                <a:cs typeface="Roboto"/>
              </a:rPr>
              <a:t>IoU</a:t>
            </a:r>
            <a:r>
              <a:rPr lang="en-US" sz="1300" dirty="0">
                <a:solidFill>
                  <a:srgbClr val="000000"/>
                </a:solidFill>
                <a:latin typeface="Aptos"/>
                <a:ea typeface="Roboto"/>
                <a:cs typeface="Roboto"/>
              </a:rPr>
              <a:t>: Intersection over Union, compare the predicted box with the ground-truth box</a:t>
            </a:r>
          </a:p>
          <a:p>
            <a:pPr lvl="1">
              <a:spcBef>
                <a:spcPts val="100"/>
              </a:spcBef>
            </a:pPr>
            <a:r>
              <a:rPr lang="en-US" sz="900" dirty="0">
                <a:solidFill>
                  <a:srgbClr val="000000"/>
                </a:solidFill>
                <a:latin typeface="Aptos"/>
                <a:ea typeface="Roboto"/>
                <a:cs typeface="Roboto"/>
              </a:rPr>
              <a:t>MAP@.5: a detection need 50% overlap to be deemed correct</a:t>
            </a:r>
          </a:p>
          <a:p>
            <a:pPr lvl="1">
              <a:spcBef>
                <a:spcPts val="100"/>
              </a:spcBef>
            </a:pPr>
            <a:r>
              <a:rPr lang="en-US" sz="900" dirty="0">
                <a:solidFill>
                  <a:srgbClr val="000000"/>
                </a:solidFill>
                <a:latin typeface="Aptos"/>
                <a:ea typeface="Roboto"/>
                <a:cs typeface="Roboto"/>
              </a:rPr>
              <a:t>COCO</a:t>
            </a:r>
            <a:r>
              <a:rPr lang="en-US" sz="900" dirty="0">
                <a:ea typeface="Roboto"/>
                <a:cs typeface="Roboto"/>
              </a:rPr>
              <a:t> AP (AP .5:.005:.95): </a:t>
            </a:r>
            <a:r>
              <a:rPr lang="en-US" sz="900" dirty="0">
                <a:solidFill>
                  <a:srgbClr val="000000"/>
                </a:solidFill>
                <a:ea typeface="Roboto"/>
                <a:cs typeface="Roboto"/>
              </a:rPr>
              <a:t>starting from 0.50 and stepping up by 0.05 all the way to 0.95. This gives a comprehensive view of the model's performance</a:t>
            </a:r>
            <a:endParaRPr lang="en-US" dirty="0">
              <a:solidFill>
                <a:srgbClr val="000000"/>
              </a:solidFill>
              <a:ea typeface="Roboto"/>
              <a:cs typeface="Roboto"/>
            </a:endParaRPr>
          </a:p>
          <a:p>
            <a:pPr>
              <a:spcBef>
                <a:spcPts val="100"/>
              </a:spcBef>
            </a:pPr>
            <a:r>
              <a:rPr lang="en-US" sz="1300" b="1" dirty="0">
                <a:ea typeface="Roboto"/>
                <a:cs typeface="Roboto"/>
              </a:rPr>
              <a:t>AOI</a:t>
            </a:r>
            <a:r>
              <a:rPr lang="en-US" sz="1300" dirty="0">
                <a:ea typeface="Roboto"/>
                <a:cs typeface="Roboto"/>
              </a:rPr>
              <a:t>: Automated Optical Detection</a:t>
            </a:r>
          </a:p>
          <a:p>
            <a:pPr>
              <a:spcBef>
                <a:spcPts val="100"/>
              </a:spcBef>
            </a:pPr>
            <a:r>
              <a:rPr lang="en-US" sz="1300" b="1" dirty="0">
                <a:ea typeface="Roboto"/>
                <a:cs typeface="Roboto"/>
              </a:rPr>
              <a:t>ASI</a:t>
            </a:r>
            <a:r>
              <a:rPr lang="en-US" sz="1300" dirty="0">
                <a:ea typeface="Roboto"/>
                <a:cs typeface="Roboto"/>
              </a:rPr>
              <a:t>: Automated Surface Inspection</a:t>
            </a:r>
          </a:p>
          <a:p>
            <a:pPr>
              <a:spcBef>
                <a:spcPts val="100"/>
              </a:spcBef>
            </a:pPr>
            <a:r>
              <a:rPr lang="en-US" sz="1300" b="1" dirty="0">
                <a:ea typeface="Roboto"/>
                <a:cs typeface="Roboto"/>
              </a:rPr>
              <a:t>Supervised training</a:t>
            </a:r>
          </a:p>
          <a:p>
            <a:pPr>
              <a:spcBef>
                <a:spcPts val="100"/>
              </a:spcBef>
            </a:pPr>
            <a:r>
              <a:rPr lang="en-US" sz="1300" b="1" dirty="0">
                <a:ea typeface="Roboto"/>
                <a:cs typeface="Roboto"/>
              </a:rPr>
              <a:t>Unsupervised training/</a:t>
            </a:r>
            <a:r>
              <a:rPr lang="en-US" sz="1300" b="1" dirty="0" err="1">
                <a:ea typeface="Roboto"/>
                <a:cs typeface="Roboto"/>
              </a:rPr>
              <a:t>Anomalie</a:t>
            </a:r>
            <a:r>
              <a:rPr lang="en-US" sz="1300" b="1" dirty="0">
                <a:ea typeface="Roboto"/>
                <a:cs typeface="Roboto"/>
              </a:rPr>
              <a:t> detection</a:t>
            </a:r>
          </a:p>
          <a:p>
            <a:pPr>
              <a:spcBef>
                <a:spcPts val="100"/>
              </a:spcBef>
            </a:pPr>
            <a:r>
              <a:rPr lang="en-US" sz="1300" b="1" dirty="0">
                <a:ea typeface="Roboto"/>
                <a:cs typeface="Roboto"/>
              </a:rPr>
              <a:t>Pooling laye</a:t>
            </a:r>
            <a:r>
              <a:rPr lang="en-US" sz="1300" dirty="0">
                <a:ea typeface="Roboto"/>
                <a:cs typeface="Roboto"/>
              </a:rPr>
              <a:t>r: used for image feature extraction</a:t>
            </a:r>
          </a:p>
          <a:p>
            <a:pPr>
              <a:spcBef>
                <a:spcPts val="100"/>
              </a:spcBef>
            </a:pPr>
            <a:r>
              <a:rPr lang="en-US" sz="1300" b="1" dirty="0">
                <a:ea typeface="Roboto"/>
                <a:cs typeface="Roboto"/>
              </a:rPr>
              <a:t>Autoencoder NN/ self-coding NN</a:t>
            </a:r>
          </a:p>
          <a:p>
            <a:pPr>
              <a:spcBef>
                <a:spcPts val="100"/>
              </a:spcBef>
            </a:pPr>
            <a:r>
              <a:rPr lang="en-US" sz="1300" b="1" dirty="0">
                <a:ea typeface="Roboto"/>
                <a:cs typeface="Roboto"/>
              </a:rPr>
              <a:t>Pre-</a:t>
            </a:r>
            <a:r>
              <a:rPr lang="en-US" sz="1300" b="1" dirty="0" err="1">
                <a:ea typeface="Roboto"/>
                <a:cs typeface="Roboto"/>
              </a:rPr>
              <a:t>trqining</a:t>
            </a:r>
            <a:r>
              <a:rPr lang="en-US" sz="1300" b="1" dirty="0">
                <a:ea typeface="Roboto"/>
                <a:cs typeface="Roboto"/>
              </a:rPr>
              <a:t>/Transfer learning</a:t>
            </a:r>
          </a:p>
          <a:p>
            <a:pPr>
              <a:spcBef>
                <a:spcPts val="100"/>
              </a:spcBef>
            </a:pPr>
            <a:r>
              <a:rPr lang="en-US" sz="1300" b="1" dirty="0">
                <a:ea typeface="Roboto"/>
                <a:cs typeface="Roboto"/>
              </a:rPr>
              <a:t>VAE</a:t>
            </a:r>
            <a:r>
              <a:rPr lang="en-US" sz="1300" dirty="0">
                <a:ea typeface="Roboto"/>
                <a:cs typeface="Roboto"/>
              </a:rPr>
              <a:t>: Variational Auto Encoder</a:t>
            </a:r>
          </a:p>
          <a:p>
            <a:pPr>
              <a:spcBef>
                <a:spcPts val="100"/>
              </a:spcBef>
            </a:pPr>
            <a:r>
              <a:rPr lang="en-US" sz="1300" b="1" dirty="0">
                <a:ea typeface="Roboto"/>
                <a:cs typeface="Roboto"/>
              </a:rPr>
              <a:t>GAN</a:t>
            </a:r>
            <a:r>
              <a:rPr lang="en-US" sz="1300" dirty="0">
                <a:ea typeface="Roboto"/>
                <a:cs typeface="Roboto"/>
              </a:rPr>
              <a:t>: Generative Adversarial Networks</a:t>
            </a:r>
          </a:p>
          <a:p>
            <a:pPr>
              <a:spcBef>
                <a:spcPts val="100"/>
              </a:spcBef>
            </a:pPr>
            <a:r>
              <a:rPr lang="en-US" sz="1300" b="1" dirty="0">
                <a:ea typeface="Roboto"/>
                <a:cs typeface="Roboto"/>
              </a:rPr>
              <a:t>DM</a:t>
            </a:r>
            <a:r>
              <a:rPr lang="en-US" sz="1300" dirty="0">
                <a:ea typeface="Roboto"/>
                <a:cs typeface="Roboto"/>
              </a:rPr>
              <a:t>: Diffusion Model</a:t>
            </a:r>
          </a:p>
          <a:p>
            <a:pPr>
              <a:spcBef>
                <a:spcPts val="100"/>
              </a:spcBef>
            </a:pPr>
            <a:r>
              <a:rPr lang="en-US" sz="1300" b="1" dirty="0">
                <a:ea typeface="Roboto"/>
                <a:cs typeface="Roboto"/>
              </a:rPr>
              <a:t>Multi-models</a:t>
            </a:r>
          </a:p>
          <a:p>
            <a:pPr>
              <a:spcBef>
                <a:spcPts val="100"/>
              </a:spcBef>
            </a:pPr>
            <a:r>
              <a:rPr lang="en-US" sz="1300" b="1" dirty="0">
                <a:ea typeface="Roboto"/>
                <a:cs typeface="Roboto"/>
              </a:rPr>
              <a:t>Pattern recognizer -&gt; feature engineering</a:t>
            </a:r>
          </a:p>
          <a:p>
            <a:pPr>
              <a:spcBef>
                <a:spcPts val="100"/>
              </a:spcBef>
            </a:pPr>
            <a:r>
              <a:rPr lang="en-US" sz="1300" b="1" dirty="0">
                <a:ea typeface="Roboto"/>
                <a:cs typeface="Roboto"/>
              </a:rPr>
              <a:t>DL</a:t>
            </a:r>
            <a:r>
              <a:rPr lang="en-US" sz="1300" dirty="0">
                <a:ea typeface="Roboto"/>
                <a:cs typeface="Roboto"/>
              </a:rPr>
              <a:t>: Deep Learning</a:t>
            </a:r>
          </a:p>
          <a:p>
            <a:pPr>
              <a:spcBef>
                <a:spcPts val="100"/>
              </a:spcBef>
            </a:pPr>
            <a:r>
              <a:rPr lang="en-US" sz="1300" b="1" dirty="0">
                <a:ea typeface="Roboto"/>
                <a:cs typeface="Roboto"/>
              </a:rPr>
              <a:t>ML</a:t>
            </a:r>
            <a:r>
              <a:rPr lang="en-US" sz="1300" dirty="0">
                <a:ea typeface="Roboto"/>
                <a:cs typeface="Roboto"/>
              </a:rPr>
              <a:t>: Machine Learning</a:t>
            </a:r>
          </a:p>
          <a:p>
            <a:pPr>
              <a:spcBef>
                <a:spcPts val="100"/>
              </a:spcBef>
            </a:pPr>
            <a:endParaRPr lang="en-US" sz="1300" dirty="0">
              <a:ea typeface="Roboto"/>
              <a:cs typeface="Roboto"/>
            </a:endParaRPr>
          </a:p>
          <a:p>
            <a:pPr>
              <a:spcBef>
                <a:spcPts val="100"/>
              </a:spcBef>
            </a:pPr>
            <a:endParaRPr lang="en-US" sz="1300" dirty="0">
              <a:ea typeface="Roboto"/>
              <a:cs typeface="Roboto"/>
            </a:endParaRPr>
          </a:p>
          <a:p>
            <a:pPr>
              <a:spcBef>
                <a:spcPts val="100"/>
              </a:spcBef>
            </a:pPr>
            <a:endParaRPr lang="en-US" sz="1300" dirty="0">
              <a:ea typeface="Roboto"/>
              <a:cs typeface="Roboto"/>
            </a:endParaRPr>
          </a:p>
        </p:txBody>
      </p:sp>
      <p:sp>
        <p:nvSpPr>
          <p:cNvPr id="2" name="Titre 1">
            <a:extLst>
              <a:ext uri="{FF2B5EF4-FFF2-40B4-BE49-F238E27FC236}">
                <a16:creationId xmlns:a16="http://schemas.microsoft.com/office/drawing/2014/main" id="{BAB2AD9C-56B1-75AC-5F09-93C4F7544262}"/>
              </a:ext>
            </a:extLst>
          </p:cNvPr>
          <p:cNvSpPr>
            <a:spLocks noGrp="1"/>
          </p:cNvSpPr>
          <p:nvPr>
            <p:ph type="title"/>
          </p:nvPr>
        </p:nvSpPr>
        <p:spPr>
          <a:xfrm>
            <a:off x="0" y="-251563"/>
            <a:ext cx="10515600" cy="1325563"/>
          </a:xfrm>
        </p:spPr>
        <p:txBody>
          <a:bodyPr/>
          <a:lstStyle/>
          <a:p>
            <a:r>
              <a:rPr lang="fr-FR"/>
              <a:t>Vocab	</a:t>
            </a:r>
            <a:endParaRPr lang="en-US"/>
          </a:p>
        </p:txBody>
      </p:sp>
      <p:pic>
        <p:nvPicPr>
          <p:cNvPr id="5" name="Picture 4" descr="A graph of a number of layers&#10;&#10;AI-generated content may be incorrect.">
            <a:extLst>
              <a:ext uri="{FF2B5EF4-FFF2-40B4-BE49-F238E27FC236}">
                <a16:creationId xmlns:a16="http://schemas.microsoft.com/office/drawing/2014/main" id="{EED83770-4163-9BBE-17D2-7E761DA32B96}"/>
              </a:ext>
            </a:extLst>
          </p:cNvPr>
          <p:cNvPicPr>
            <a:picLocks noChangeAspect="1"/>
          </p:cNvPicPr>
          <p:nvPr/>
        </p:nvPicPr>
        <p:blipFill>
          <a:blip r:embed="rId2"/>
          <a:stretch>
            <a:fillRect/>
          </a:stretch>
        </p:blipFill>
        <p:spPr>
          <a:xfrm>
            <a:off x="8783466" y="1977981"/>
            <a:ext cx="2986475" cy="1450118"/>
          </a:xfrm>
          <a:prstGeom prst="rect">
            <a:avLst/>
          </a:prstGeom>
        </p:spPr>
      </p:pic>
    </p:spTree>
    <p:extLst>
      <p:ext uri="{BB962C8B-B14F-4D97-AF65-F5344CB8AC3E}">
        <p14:creationId xmlns:p14="http://schemas.microsoft.com/office/powerpoint/2010/main" val="231138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BAC00-BBC2-AB6F-413E-4F06368B83EE}"/>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499CB4BE-6E33-A36C-B4B6-DD79949D6AA9}"/>
              </a:ext>
            </a:extLst>
          </p:cNvPr>
          <p:cNvSpPr txBox="1">
            <a:spLocks/>
          </p:cNvSpPr>
          <p:nvPr/>
        </p:nvSpPr>
        <p:spPr>
          <a:xfrm>
            <a:off x="193514" y="692366"/>
            <a:ext cx="11899605" cy="6014114"/>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endParaRPr lang="en-US" sz="1300" dirty="0">
              <a:ea typeface="Roboto"/>
              <a:cs typeface="Roboto"/>
            </a:endParaRPr>
          </a:p>
          <a:p>
            <a:pPr>
              <a:spcBef>
                <a:spcPts val="100"/>
              </a:spcBef>
            </a:pPr>
            <a:endParaRPr lang="en-US" sz="1300" dirty="0">
              <a:ea typeface="Roboto"/>
              <a:cs typeface="Roboto"/>
            </a:endParaRPr>
          </a:p>
          <a:p>
            <a:pPr marL="0" indent="0">
              <a:spcBef>
                <a:spcPts val="100"/>
              </a:spcBef>
              <a:buNone/>
            </a:pPr>
            <a:r>
              <a:rPr lang="en-US" sz="1300" dirty="0">
                <a:ea typeface="Roboto"/>
                <a:cs typeface="Roboto"/>
              </a:rPr>
              <a:t>-------------------- INDUS</a:t>
            </a:r>
          </a:p>
          <a:p>
            <a:pPr>
              <a:spcBef>
                <a:spcPts val="100"/>
              </a:spcBef>
            </a:pPr>
            <a:r>
              <a:rPr lang="en-US" sz="1300" b="1" dirty="0">
                <a:ea typeface="Roboto"/>
                <a:cs typeface="Roboto"/>
              </a:rPr>
              <a:t>Global shutter</a:t>
            </a:r>
            <a:r>
              <a:rPr lang="en-US" sz="1300" dirty="0">
                <a:ea typeface="Roboto"/>
                <a:cs typeface="Roboto"/>
              </a:rPr>
              <a:t>: Shutter that occult the whole camera at once</a:t>
            </a:r>
          </a:p>
          <a:p>
            <a:pPr>
              <a:spcBef>
                <a:spcPts val="100"/>
              </a:spcBef>
            </a:pPr>
            <a:r>
              <a:rPr lang="en-US" sz="1300" b="1" dirty="0">
                <a:ea typeface="Roboto"/>
                <a:cs typeface="Roboto"/>
              </a:rPr>
              <a:t>IR-cut filter</a:t>
            </a:r>
            <a:r>
              <a:rPr lang="en-US" sz="1300" dirty="0">
                <a:ea typeface="Roboto"/>
                <a:cs typeface="Roboto"/>
              </a:rPr>
              <a:t>: mechanical shutter that blocks IR to ensure the best imaging quality during the day and the dark vision during the night</a:t>
            </a:r>
          </a:p>
          <a:p>
            <a:pPr>
              <a:spcBef>
                <a:spcPts val="100"/>
              </a:spcBef>
            </a:pPr>
            <a:r>
              <a:rPr lang="en-US" sz="1300" b="1" dirty="0">
                <a:ea typeface="Roboto"/>
                <a:cs typeface="Roboto"/>
              </a:rPr>
              <a:t>Visible wavelength</a:t>
            </a:r>
            <a:r>
              <a:rPr lang="en-US" sz="1300" dirty="0">
                <a:ea typeface="Roboto"/>
                <a:cs typeface="Roboto"/>
              </a:rPr>
              <a:t>: 320-760nm</a:t>
            </a:r>
          </a:p>
          <a:p>
            <a:pPr>
              <a:spcBef>
                <a:spcPts val="100"/>
              </a:spcBef>
            </a:pPr>
            <a:r>
              <a:rPr lang="en-US" sz="1300" b="1" dirty="0">
                <a:ea typeface="Roboto"/>
                <a:cs typeface="Roboto"/>
              </a:rPr>
              <a:t>IR wavelength</a:t>
            </a:r>
            <a:r>
              <a:rPr lang="en-US" sz="1300" dirty="0">
                <a:ea typeface="Roboto"/>
                <a:cs typeface="Roboto"/>
              </a:rPr>
              <a:t>: 780nm-1mm</a:t>
            </a:r>
          </a:p>
          <a:p>
            <a:pPr>
              <a:spcBef>
                <a:spcPts val="100"/>
              </a:spcBef>
            </a:pPr>
            <a:r>
              <a:rPr lang="en-US" sz="1300" b="1" dirty="0">
                <a:ea typeface="Roboto"/>
                <a:cs typeface="Roboto"/>
              </a:rPr>
              <a:t>NIR wavelength</a:t>
            </a:r>
            <a:r>
              <a:rPr lang="en-US" sz="1300" dirty="0">
                <a:ea typeface="Roboto"/>
                <a:cs typeface="Roboto"/>
              </a:rPr>
              <a:t>: 780-2500nm</a:t>
            </a:r>
            <a:endParaRPr lang="en-US" dirty="0"/>
          </a:p>
          <a:p>
            <a:pPr>
              <a:spcBef>
                <a:spcPts val="100"/>
              </a:spcBef>
            </a:pPr>
            <a:r>
              <a:rPr lang="en-US" sz="1300" b="1" dirty="0">
                <a:ea typeface="Roboto"/>
                <a:cs typeface="Roboto"/>
              </a:rPr>
              <a:t>NIR camera</a:t>
            </a:r>
            <a:r>
              <a:rPr lang="en-US" sz="1300" dirty="0">
                <a:ea typeface="Roboto"/>
                <a:cs typeface="Roboto"/>
              </a:rPr>
              <a:t>: Near-InfraRed</a:t>
            </a:r>
          </a:p>
          <a:p>
            <a:pPr>
              <a:spcBef>
                <a:spcPts val="100"/>
              </a:spcBef>
            </a:pPr>
            <a:r>
              <a:rPr lang="en-US" sz="1300" b="1" dirty="0">
                <a:ea typeface="Roboto"/>
                <a:cs typeface="Roboto"/>
              </a:rPr>
              <a:t>Black light</a:t>
            </a:r>
            <a:r>
              <a:rPr lang="en-US" sz="1300" dirty="0">
                <a:ea typeface="Roboto"/>
                <a:cs typeface="Roboto"/>
              </a:rPr>
              <a:t>: light that emit UV to make some substance shine</a:t>
            </a:r>
          </a:p>
          <a:p>
            <a:pPr>
              <a:spcBef>
                <a:spcPts val="100"/>
              </a:spcBef>
            </a:pPr>
            <a:r>
              <a:rPr lang="en-US" sz="1300" b="1" dirty="0">
                <a:ea typeface="Roboto"/>
                <a:cs typeface="Roboto"/>
              </a:rPr>
              <a:t>OD</a:t>
            </a:r>
            <a:r>
              <a:rPr lang="en-US" sz="1300" dirty="0">
                <a:ea typeface="Roboto"/>
                <a:cs typeface="Roboto"/>
              </a:rPr>
              <a:t>: Optic Density</a:t>
            </a:r>
          </a:p>
          <a:p>
            <a:pPr>
              <a:spcBef>
                <a:spcPts val="100"/>
              </a:spcBef>
            </a:pPr>
            <a:r>
              <a:rPr lang="en-US" sz="1300" b="1" dirty="0">
                <a:ea typeface="Roboto"/>
                <a:cs typeface="Roboto"/>
              </a:rPr>
              <a:t>SNR</a:t>
            </a:r>
            <a:r>
              <a:rPr lang="en-US" sz="1300" dirty="0">
                <a:ea typeface="Roboto"/>
                <a:cs typeface="Roboto"/>
              </a:rPr>
              <a:t>: Signal to Noise Ratio</a:t>
            </a:r>
          </a:p>
          <a:p>
            <a:pPr>
              <a:spcBef>
                <a:spcPts val="100"/>
              </a:spcBef>
            </a:pPr>
            <a:r>
              <a:rPr lang="en-US" sz="1300" b="1" dirty="0">
                <a:ea typeface="Roboto"/>
                <a:cs typeface="Roboto"/>
              </a:rPr>
              <a:t>Specular surface</a:t>
            </a:r>
            <a:r>
              <a:rPr lang="en-US" sz="1300" dirty="0">
                <a:ea typeface="Roboto"/>
                <a:cs typeface="Roboto"/>
              </a:rPr>
              <a:t>: surface that behave like a mirror even if irregular</a:t>
            </a:r>
          </a:p>
          <a:p>
            <a:pPr>
              <a:spcBef>
                <a:spcPts val="100"/>
              </a:spcBef>
            </a:pPr>
            <a:r>
              <a:rPr lang="en-US" sz="1300" b="1" dirty="0">
                <a:solidFill>
                  <a:srgbClr val="000000"/>
                </a:solidFill>
                <a:ea typeface="Roboto"/>
                <a:cs typeface="Roboto"/>
              </a:rPr>
              <a:t>Dynamic range</a:t>
            </a:r>
            <a:r>
              <a:rPr lang="en-US" sz="1300" dirty="0">
                <a:solidFill>
                  <a:srgbClr val="000000"/>
                </a:solidFill>
                <a:ea typeface="Roboto"/>
                <a:cs typeface="Roboto"/>
              </a:rPr>
              <a:t>: ratio between the maximum and minimum measurable values of a signal or quantity</a:t>
            </a:r>
          </a:p>
          <a:p>
            <a:pPr>
              <a:spcBef>
                <a:spcPts val="100"/>
              </a:spcBef>
            </a:pPr>
            <a:r>
              <a:rPr lang="en-US" sz="1300" b="1" dirty="0">
                <a:ea typeface="Roboto"/>
                <a:cs typeface="Roboto"/>
              </a:rPr>
              <a:t>Chromatic lens distortion</a:t>
            </a:r>
            <a:r>
              <a:rPr lang="en-US" sz="1300" dirty="0">
                <a:ea typeface="Roboto"/>
                <a:cs typeface="Roboto"/>
              </a:rPr>
              <a:t>: Distortion created by the refraction and reflection of light beams or same direction but different wavelength =&gt; reduce contrast</a:t>
            </a:r>
          </a:p>
          <a:p>
            <a:pPr>
              <a:spcBef>
                <a:spcPts val="100"/>
              </a:spcBef>
            </a:pPr>
            <a:r>
              <a:rPr lang="en-US" sz="1300" dirty="0">
                <a:ea typeface="Roboto"/>
                <a:cs typeface="Roboto"/>
              </a:rPr>
              <a:t>Exposure</a:t>
            </a:r>
          </a:p>
          <a:p>
            <a:pPr>
              <a:spcBef>
                <a:spcPts val="100"/>
              </a:spcBef>
            </a:pPr>
            <a:r>
              <a:rPr lang="en-US" sz="1300" dirty="0" err="1">
                <a:ea typeface="Roboto"/>
                <a:cs typeface="Roboto"/>
              </a:rPr>
              <a:t>Apperture</a:t>
            </a:r>
            <a:r>
              <a:rPr lang="en-US" sz="1300" dirty="0">
                <a:ea typeface="Roboto"/>
                <a:cs typeface="Roboto"/>
              </a:rPr>
              <a:t>/f-stop:</a:t>
            </a:r>
          </a:p>
          <a:p>
            <a:pPr>
              <a:spcBef>
                <a:spcPts val="100"/>
              </a:spcBef>
            </a:pPr>
            <a:r>
              <a:rPr lang="en-US" sz="1300" dirty="0">
                <a:ea typeface="Roboto"/>
                <a:cs typeface="Roboto"/>
              </a:rPr>
              <a:t>Focal depth/focal range</a:t>
            </a:r>
          </a:p>
          <a:p>
            <a:pPr>
              <a:spcBef>
                <a:spcPts val="100"/>
              </a:spcBef>
            </a:pPr>
            <a:r>
              <a:rPr lang="en-US" sz="1300" dirty="0">
                <a:ea typeface="Roboto"/>
                <a:cs typeface="Roboto"/>
              </a:rPr>
              <a:t>(artificial) gain</a:t>
            </a:r>
          </a:p>
          <a:p>
            <a:pPr>
              <a:spcBef>
                <a:spcPts val="100"/>
              </a:spcBef>
            </a:pPr>
            <a:r>
              <a:rPr lang="en-US" sz="1300" dirty="0">
                <a:ea typeface="Roboto"/>
                <a:cs typeface="Roboto"/>
              </a:rPr>
              <a:t>Diffusion</a:t>
            </a:r>
          </a:p>
          <a:p>
            <a:pPr>
              <a:spcBef>
                <a:spcPts val="100"/>
              </a:spcBef>
            </a:pPr>
            <a:r>
              <a:rPr lang="en-US" sz="1300" dirty="0">
                <a:ea typeface="Roboto"/>
                <a:cs typeface="Roboto"/>
              </a:rPr>
              <a:t>reflection</a:t>
            </a:r>
          </a:p>
          <a:p>
            <a:pPr>
              <a:spcBef>
                <a:spcPts val="100"/>
              </a:spcBef>
            </a:pPr>
            <a:r>
              <a:rPr lang="en-US" sz="1300" dirty="0" err="1">
                <a:ea typeface="Roboto"/>
                <a:cs typeface="Roboto"/>
              </a:rPr>
              <a:t>polarisation</a:t>
            </a:r>
            <a:endParaRPr lang="en-US" sz="1300" dirty="0">
              <a:ea typeface="Roboto"/>
              <a:cs typeface="Roboto"/>
            </a:endParaRPr>
          </a:p>
          <a:p>
            <a:pPr>
              <a:spcBef>
                <a:spcPts val="100"/>
              </a:spcBef>
            </a:pPr>
            <a:r>
              <a:rPr lang="en-US" sz="1300" dirty="0">
                <a:ea typeface="Roboto"/>
                <a:cs typeface="Roboto"/>
              </a:rPr>
              <a:t> </a:t>
            </a:r>
          </a:p>
          <a:p>
            <a:pPr>
              <a:spcBef>
                <a:spcPts val="100"/>
              </a:spcBef>
            </a:pPr>
            <a:endParaRPr lang="en-US" sz="1300" dirty="0">
              <a:ea typeface="Roboto"/>
              <a:cs typeface="Roboto"/>
            </a:endParaRPr>
          </a:p>
          <a:p>
            <a:pPr>
              <a:spcBef>
                <a:spcPts val="100"/>
              </a:spcBef>
            </a:pPr>
            <a:endParaRPr lang="en-US" sz="1300" dirty="0">
              <a:ea typeface="Roboto"/>
              <a:cs typeface="Roboto"/>
            </a:endParaRPr>
          </a:p>
          <a:p>
            <a:pPr>
              <a:spcBef>
                <a:spcPts val="100"/>
              </a:spcBef>
            </a:pPr>
            <a:r>
              <a:rPr lang="en-US" sz="1300" dirty="0">
                <a:ea typeface="Roboto"/>
                <a:cs typeface="Roboto"/>
              </a:rPr>
              <a:t>Dataset from scratch </a:t>
            </a:r>
          </a:p>
          <a:p>
            <a:pPr>
              <a:spcBef>
                <a:spcPts val="100"/>
              </a:spcBef>
            </a:pPr>
            <a:r>
              <a:rPr lang="en-US" sz="1300" dirty="0">
                <a:ea typeface="Roboto"/>
                <a:cs typeface="Roboto"/>
              </a:rPr>
              <a:t>Dataset pre train =&gt; </a:t>
            </a:r>
            <a:r>
              <a:rPr lang="en-US" sz="1300" dirty="0" err="1">
                <a:ea typeface="Roboto"/>
                <a:cs typeface="Roboto"/>
              </a:rPr>
              <a:t>besoin</a:t>
            </a:r>
            <a:r>
              <a:rPr lang="en-US" sz="1300" dirty="0">
                <a:ea typeface="Roboto"/>
                <a:cs typeface="Roboto"/>
              </a:rPr>
              <a:t> de train again</a:t>
            </a:r>
          </a:p>
          <a:p>
            <a:pPr lvl="1">
              <a:spcBef>
                <a:spcPts val="100"/>
              </a:spcBef>
            </a:pPr>
            <a:r>
              <a:rPr lang="en-US" sz="900" dirty="0">
                <a:ea typeface="Roboto"/>
                <a:cs typeface="Roboto"/>
              </a:rPr>
              <a:t>A tester sur </a:t>
            </a:r>
            <a:r>
              <a:rPr lang="en-US" sz="900" dirty="0" err="1">
                <a:ea typeface="Roboto"/>
                <a:cs typeface="Roboto"/>
              </a:rPr>
              <a:t>alexnet</a:t>
            </a:r>
            <a:r>
              <a:rPr lang="en-US" sz="900" dirty="0">
                <a:ea typeface="Roboto"/>
                <a:cs typeface="Roboto"/>
              </a:rPr>
              <a:t> + </a:t>
            </a:r>
            <a:r>
              <a:rPr lang="en-US" sz="900" dirty="0" err="1">
                <a:ea typeface="Roboto"/>
                <a:cs typeface="Roboto"/>
              </a:rPr>
              <a:t>une</a:t>
            </a:r>
            <a:r>
              <a:rPr lang="en-US" sz="900" dirty="0">
                <a:ea typeface="Roboto"/>
                <a:cs typeface="Roboto"/>
              </a:rPr>
              <a:t> question de temps de </a:t>
            </a:r>
            <a:r>
              <a:rPr lang="en-US" sz="900" dirty="0" err="1">
                <a:ea typeface="Roboto"/>
                <a:cs typeface="Roboto"/>
              </a:rPr>
              <a:t>calcul</a:t>
            </a:r>
            <a:r>
              <a:rPr lang="en-US" sz="900" dirty="0">
                <a:ea typeface="Roboto"/>
                <a:cs typeface="Roboto"/>
              </a:rPr>
              <a:t>  =&gt;  GTX 1650 </a:t>
            </a:r>
            <a:r>
              <a:rPr lang="en-US" sz="900" dirty="0" err="1">
                <a:ea typeface="Roboto"/>
                <a:cs typeface="Roboto"/>
              </a:rPr>
              <a:t>ordre</a:t>
            </a:r>
            <a:r>
              <a:rPr lang="en-US" sz="900" dirty="0">
                <a:ea typeface="Roboto"/>
                <a:cs typeface="Roboto"/>
              </a:rPr>
              <a:t> de la </a:t>
            </a:r>
            <a:r>
              <a:rPr lang="en-US" sz="900" dirty="0" err="1">
                <a:ea typeface="Roboto"/>
                <a:cs typeface="Roboto"/>
              </a:rPr>
              <a:t>seconde</a:t>
            </a:r>
            <a:endParaRPr lang="en-US" sz="900" dirty="0">
              <a:ea typeface="Roboto"/>
              <a:cs typeface="Roboto"/>
            </a:endParaRPr>
          </a:p>
          <a:p>
            <a:pPr lvl="1">
              <a:spcBef>
                <a:spcPts val="100"/>
              </a:spcBef>
            </a:pPr>
            <a:r>
              <a:rPr lang="en-US" sz="900" dirty="0">
                <a:ea typeface="Roboto"/>
                <a:cs typeface="Roboto"/>
              </a:rPr>
              <a:t>Mais </a:t>
            </a:r>
            <a:r>
              <a:rPr lang="en-US" sz="900" dirty="0" err="1">
                <a:ea typeface="Roboto"/>
                <a:cs typeface="Roboto"/>
              </a:rPr>
              <a:t>aussi</a:t>
            </a:r>
            <a:r>
              <a:rPr lang="en-US" sz="900" dirty="0">
                <a:ea typeface="Roboto"/>
                <a:cs typeface="Roboto"/>
              </a:rPr>
              <a:t> faire un petit CNN -&gt; </a:t>
            </a:r>
            <a:r>
              <a:rPr lang="en-US" sz="900" dirty="0" err="1">
                <a:ea typeface="Roboto"/>
                <a:cs typeface="Roboto"/>
              </a:rPr>
              <a:t>autant</a:t>
            </a:r>
            <a:r>
              <a:rPr lang="en-US" sz="900" dirty="0">
                <a:ea typeface="Roboto"/>
                <a:cs typeface="Roboto"/>
              </a:rPr>
              <a:t> de couche </a:t>
            </a:r>
            <a:r>
              <a:rPr lang="en-US" sz="900" dirty="0" err="1">
                <a:ea typeface="Roboto"/>
                <a:cs typeface="Roboto"/>
              </a:rPr>
              <a:t>que</a:t>
            </a:r>
            <a:r>
              <a:rPr lang="en-US" sz="900" dirty="0">
                <a:ea typeface="Roboto"/>
                <a:cs typeface="Roboto"/>
              </a:rPr>
              <a:t> de feature</a:t>
            </a:r>
          </a:p>
          <a:p>
            <a:pPr lvl="2">
              <a:spcBef>
                <a:spcPts val="100"/>
              </a:spcBef>
            </a:pPr>
            <a:r>
              <a:rPr lang="en-US" sz="500" dirty="0" err="1">
                <a:ea typeface="Roboto"/>
                <a:cs typeface="Roboto"/>
              </a:rPr>
              <a:t>C’est</a:t>
            </a:r>
            <a:r>
              <a:rPr lang="en-US" sz="500" dirty="0">
                <a:ea typeface="Roboto"/>
                <a:cs typeface="Roboto"/>
              </a:rPr>
              <a:t> la </a:t>
            </a:r>
            <a:r>
              <a:rPr lang="en-US" sz="500" dirty="0" err="1">
                <a:ea typeface="Roboto"/>
                <a:cs typeface="Roboto"/>
              </a:rPr>
              <a:t>partie</a:t>
            </a:r>
            <a:r>
              <a:rPr lang="en-US" sz="500" dirty="0">
                <a:ea typeface="Roboto"/>
                <a:cs typeface="Roboto"/>
              </a:rPr>
              <a:t> </a:t>
            </a:r>
            <a:r>
              <a:rPr lang="en-US" sz="500" dirty="0" err="1">
                <a:ea typeface="Roboto"/>
                <a:cs typeface="Roboto"/>
              </a:rPr>
              <a:t>robustesse</a:t>
            </a:r>
            <a:r>
              <a:rPr lang="en-US" sz="500" dirty="0">
                <a:ea typeface="Roboto"/>
                <a:cs typeface="Roboto"/>
              </a:rPr>
              <a:t> du CNC qui </a:t>
            </a:r>
            <a:r>
              <a:rPr lang="en-US" sz="500" dirty="0" err="1">
                <a:ea typeface="Roboto"/>
                <a:cs typeface="Roboto"/>
              </a:rPr>
              <a:t>va</a:t>
            </a:r>
            <a:r>
              <a:rPr lang="en-US" sz="500" dirty="0">
                <a:ea typeface="Roboto"/>
                <a:cs typeface="Roboto"/>
              </a:rPr>
              <a:t> prendre du temps</a:t>
            </a:r>
          </a:p>
          <a:p>
            <a:pPr lvl="1">
              <a:spcBef>
                <a:spcPts val="100"/>
              </a:spcBef>
            </a:pPr>
            <a:r>
              <a:rPr lang="en-US" sz="900" dirty="0">
                <a:ea typeface="Roboto"/>
                <a:cs typeface="Roboto"/>
              </a:rPr>
              <a:t>Tester avec </a:t>
            </a:r>
            <a:r>
              <a:rPr lang="en-US" sz="900" dirty="0" err="1">
                <a:ea typeface="Roboto"/>
                <a:cs typeface="Roboto"/>
              </a:rPr>
              <a:t>chatGPT</a:t>
            </a:r>
            <a:endParaRPr lang="en-US" sz="900" dirty="0">
              <a:ea typeface="Roboto"/>
              <a:cs typeface="Roboto"/>
            </a:endParaRPr>
          </a:p>
          <a:p>
            <a:pPr>
              <a:spcBef>
                <a:spcPts val="100"/>
              </a:spcBef>
            </a:pPr>
            <a:r>
              <a:rPr lang="en-US" sz="1300" dirty="0">
                <a:ea typeface="Roboto"/>
                <a:cs typeface="Roboto"/>
              </a:rPr>
              <a:t>Qu base de </a:t>
            </a:r>
            <a:r>
              <a:rPr lang="en-US" sz="1300" dirty="0" err="1">
                <a:ea typeface="Roboto"/>
                <a:cs typeface="Roboto"/>
              </a:rPr>
              <a:t>donnee</a:t>
            </a:r>
            <a:r>
              <a:rPr lang="en-US" sz="1300" dirty="0">
                <a:ea typeface="Roboto"/>
                <a:cs typeface="Roboto"/>
              </a:rPr>
              <a:t> non open source</a:t>
            </a:r>
          </a:p>
          <a:p>
            <a:pPr>
              <a:spcBef>
                <a:spcPts val="100"/>
              </a:spcBef>
            </a:pPr>
            <a:r>
              <a:rPr lang="en-US" sz="1300" dirty="0">
                <a:ea typeface="Roboto"/>
                <a:cs typeface="Roboto"/>
              </a:rPr>
              <a:t>Qu quid des timing</a:t>
            </a:r>
          </a:p>
          <a:p>
            <a:pPr>
              <a:spcBef>
                <a:spcPts val="100"/>
              </a:spcBef>
            </a:pPr>
            <a:r>
              <a:rPr lang="en-US" sz="1300" dirty="0">
                <a:ea typeface="Roboto"/>
                <a:cs typeface="Roboto"/>
              </a:rPr>
              <a:t>Isaac Sim </a:t>
            </a:r>
            <a:r>
              <a:rPr lang="en-US" sz="1300" dirty="0" err="1">
                <a:ea typeface="Roboto"/>
                <a:cs typeface="Roboto"/>
              </a:rPr>
              <a:t>ou</a:t>
            </a:r>
            <a:r>
              <a:rPr lang="en-US" sz="1300" dirty="0">
                <a:ea typeface="Roboto"/>
                <a:cs typeface="Roboto"/>
              </a:rPr>
              <a:t> Blender pour le dataset</a:t>
            </a:r>
          </a:p>
          <a:p>
            <a:pPr>
              <a:spcBef>
                <a:spcPts val="100"/>
              </a:spcBef>
            </a:pPr>
            <a:endParaRPr lang="en-US" sz="1300" dirty="0">
              <a:ea typeface="Roboto"/>
              <a:cs typeface="Roboto"/>
            </a:endParaRPr>
          </a:p>
          <a:p>
            <a:pPr>
              <a:spcBef>
                <a:spcPts val="100"/>
              </a:spcBef>
            </a:pPr>
            <a:endParaRPr lang="en-US" sz="1300" dirty="0">
              <a:ea typeface="Roboto"/>
              <a:cs typeface="Roboto"/>
            </a:endParaRPr>
          </a:p>
          <a:p>
            <a:pPr>
              <a:spcBef>
                <a:spcPts val="100"/>
              </a:spcBef>
            </a:pPr>
            <a:endParaRPr lang="en-US" sz="1300" dirty="0">
              <a:ea typeface="Roboto"/>
              <a:cs typeface="Roboto"/>
            </a:endParaRPr>
          </a:p>
        </p:txBody>
      </p:sp>
      <p:sp>
        <p:nvSpPr>
          <p:cNvPr id="2" name="Titre 1">
            <a:extLst>
              <a:ext uri="{FF2B5EF4-FFF2-40B4-BE49-F238E27FC236}">
                <a16:creationId xmlns:a16="http://schemas.microsoft.com/office/drawing/2014/main" id="{3E46941E-7753-46AD-EFA8-18A5ED180C3A}"/>
              </a:ext>
            </a:extLst>
          </p:cNvPr>
          <p:cNvSpPr>
            <a:spLocks noGrp="1"/>
          </p:cNvSpPr>
          <p:nvPr>
            <p:ph type="title"/>
          </p:nvPr>
        </p:nvSpPr>
        <p:spPr>
          <a:xfrm>
            <a:off x="0" y="-251563"/>
            <a:ext cx="10515600" cy="1325563"/>
          </a:xfrm>
        </p:spPr>
        <p:txBody>
          <a:bodyPr/>
          <a:lstStyle/>
          <a:p>
            <a:r>
              <a:rPr lang="fr-FR"/>
              <a:t>Vocab	</a:t>
            </a:r>
            <a:endParaRPr lang="en-US"/>
          </a:p>
        </p:txBody>
      </p:sp>
    </p:spTree>
    <p:extLst>
      <p:ext uri="{BB962C8B-B14F-4D97-AF65-F5344CB8AC3E}">
        <p14:creationId xmlns:p14="http://schemas.microsoft.com/office/powerpoint/2010/main" val="34684036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4724</Words>
  <Application>Microsoft Office PowerPoint</Application>
  <PresentationFormat>Grand écran</PresentationFormat>
  <Paragraphs>445</Paragraphs>
  <Slides>18</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Aptos</vt:lpstr>
      <vt:lpstr>Aptos Display</vt:lpstr>
      <vt:lpstr>Arial</vt:lpstr>
      <vt:lpstr>Courier New</vt:lpstr>
      <vt:lpstr>Courier New,monospace</vt:lpstr>
      <vt:lpstr>Roboto</vt:lpstr>
      <vt:lpstr>Thème Office</vt:lpstr>
      <vt:lpstr>Abreviations.md</vt:lpstr>
      <vt:lpstr>Vocab  </vt:lpstr>
      <vt:lpstr>Vocab  </vt:lpstr>
      <vt:lpstr>Vocab </vt:lpstr>
      <vt:lpstr>Vocab  </vt:lpstr>
      <vt:lpstr>Vocab  </vt:lpstr>
      <vt:lpstr>Vocab  </vt:lpstr>
      <vt:lpstr>Vocab  </vt:lpstr>
      <vt:lpstr>Vocab  </vt:lpstr>
      <vt:lpstr>Vocab  </vt:lpstr>
      <vt:lpstr>Vocab </vt:lpstr>
      <vt:lpstr>Vocab </vt:lpstr>
      <vt:lpstr>Vocab </vt:lpstr>
      <vt:lpstr>Vocab </vt:lpstr>
      <vt:lpstr>Vocab </vt:lpstr>
      <vt:lpstr>Vocab </vt:lpstr>
      <vt:lpstr>Vocab </vt:lpstr>
      <vt:lpstr>Vocab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BINON Stepane</dc:creator>
  <cp:lastModifiedBy>BINON Stepane</cp:lastModifiedBy>
  <cp:revision>1</cp:revision>
  <dcterms:created xsi:type="dcterms:W3CDTF">2026-01-13T09:52:07Z</dcterms:created>
  <dcterms:modified xsi:type="dcterms:W3CDTF">2026-01-13T09:53:33Z</dcterms:modified>
</cp:coreProperties>
</file>